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la Entrega 2. Pregunta guía: ¿qué tan estable es la agenda temática de la prensa colombiana entre 1980 y 2011 y cuándo se producen cambios significativos? Agenda = prevalencia de tópicos por año. Orden de la charla: primero entender el corpus, después detectar cambios con métodos cada vez más costosos, y solo al final contrastar con la historia.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guía define agenda como la prevalencia de tópicos por año. El enfoque va de lo barato a lo costoso: primero entender el corpus (EDA, léxico), luego representar, modelar tópicos, medir estabilidad contra un modelo nulo y detectar cambios. El contraste con la historia es el último paso, para no interpretar antes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tradiciones se combinan. La lectura cuantitativa de textos a gran escala (culturomics): Michel et al. 2011 y el estudio previo de Caicedo, Gaviria y Moreno 2012, que usa más de dos millones de artículos de los mismos tres medios. La teoría de la agenda como equilibrio puntuado (Baumgartner y Jones), que es lo que contrastamos: largos periodos estables y cambios abruptos. Y los modelos de tópicos: NMF (base), LDA, dinámicos, STM y BERTopic. Respecto al artículo de referencia, el cambio de enfoque es pasar de series de frecuencia de palabras a prevalencia de tópicos con un modelo nulo que descuenta el ruido de muestreo y la composición por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herramientas auxiliares: TF‑IDF y Sentence‑BERT para representar; Kleinberg y PELT para detectar cambios en flujos de texto (Kleinberg se usó en el experimento exploratorio y se sustituyó); Monroe et al. para términos distintivos, Bouma para colocaciones con NPMI y Covington y McFall para MATTR. PELT queda como mejora para resolución trimestral.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 la Entrega 1 y esta entrega se hizo un experimento exploratorio con TF‑IDF, divergencia léxica y ráfagas (cuaderno 04), después del EDA de agenda (cuaderno 03). El cuaderno 03 mostró cobertura desigual por fuente, tres resoluciones posibles (31 años; 125 trimestres con 5 vacíos; 373 meses con 17 vacíos), horas de publicación sin información, vocabulario que no se satura (305.904 tipos) y un 1 % de casi duplicados. El 04 usó periodos adaptativos (5 bienios en 1980–89 y trimestres desde 1990: 93 periodos) y tres señales: JS sobre los 5.000 términos más frecuentes, coseno sobre TF‑IDF agregado y ráfagas de Kleinberg. La regla de dos de tres señales en el cuartil superior marcó 22 de 93 periodos, el 23,7 %: casi lo que produce por construcción. Fue un ejercicio exploratorio, no un modelo, y sirvió para saber qué corregir.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defecto del experimento se tradujo en una decisión de diseño. La pregunta va primero: se mide estabilidad de la agenda, no distancia entre vocabularios. Un modelo nulo por permutación reemplaza la regla del cuartil y el umbral sale de los datos. Resolución anual única con N controlado por año, todo por fuente con permutaciones estratificadas, TF‑IDF como entrada de NMF y eventos históricos al final con una lista congelada.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corrección importante: la fuente está confundida con el tiempo. En los años 80 solo hay Semana, con entre 31 y 166 documentos por año y ningún dato de 1981; El Tiempo entra en 1990 y domina el corpus hasta 2011; Dinero aparece en 1993 y crece mucho entre 2005 y 2007. Por eso todo se reporta por fuente y las pruebas se estratifican por fuente. La deduplicación normalizada (minúsculas y espacios) quitó 164 documentos de 91 749. Hay 31,9 millones de tokens y 15,5 millones de contenido; el 42,3 % de los 266 562 tipos son hapax.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del preprocesamiento. La deduplicación usa el texto normalizado (minúsculas, espacios colapsados) y quita 164 documentos. La normalización reconstruye cifras y horas que la tokenización de origen separó con espacios. Se tokeniza con expresión regular sobre letras, minúsculas y sin números; los tokens de contenido excluyen stopwords y palabras de menos de 3 letras. Las entidades se estiman por mayúscula inicial a mitad de oración y suman el 22 % de los tokens de contenido (12–15 % en los 80 y 17–20 % desde 1990). No se lematiza por costo de cómputo. Para ajustar TF‑IDF y NMF se usa una muestra balanceada de hasta 1.000 documentos por año; después se proyectan todos los artículos.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TTR simple (tipos/tokens) baja cuando el texto crece, así que un año con más artículos parecería menos diverso. Por eso se compara con muestras de igual tamaño: para cada año y fuente se eligen artículos al azar hasta reunir 30.000 tokens de contenido. MATTR desliza una ventana de 500 palabras y promedia la razón tipos/tokens. Yule's K mide concentración y casi no depende de la longitud. Hallazgos: MATTR baja de aproximadamente 0,80 en los años 80–90 a 0,75 en los 2000; cae a la vez en las tres fuentes hacia 2001 y 2004–05, lo que sugiere un cambio de formato o de secciones en el archivo digital y no un cambio de estilo de los periodistas. Yule's K es ~3–3,5 en El Tiempo, 3,3–4,6 en Semana y 4,3–5,5 en Dinero: el léxico financiero es el más repetitivo.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ley de Heaps ajusta el tamaño del vocabulario como V = k·N^β en escala logarítmica. β ≈ 0,46 global y en El Tiempo, 0,50 en Semana y 0,51 en Dinero: el vocabulario sigue abriéndose con cada texto nuevo porque entran nombres propios, cifras y neologismos. Por eso el TF‑IDF filtra por frecuencia (min_df 15, max_df 0,4, 25.000 términos máximo). El proxy de entidades (mayúscula inicial a mitad de oración) pesa 22 % de los tokens de contenido en promedio; en los años 80 es 12–15 % y desde 1990 pasa a 17–20 %. El salto coincide exactamente con el cambio de fuente de Semana a El Tiempo, de modo que es otra evidencia de que 1989–1990 es un cambio de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NPMI mide qué tan asociadas están dos palabras adyacentes: ln(p(a,b)/(p(a)p(b))) dividido por −ln p(a,b). Vale 1 si solo aparecen juntas y 0 si aparecen juntas lo esperado por azar. Se calculó sobre pares de palabras de contenido con frecuencia al menos 30 (12.205 bigramas) y los trigramas se construyeron uniendo dos colocaciones con NPMI de al menos 0,4. Los bigramas más asociados son nombres extranjeros y expresiones fijas; los trigramas más frecuentes son políticos (Juan Manuel Santos 1.292, presidente Álvaro Uribe 1.152, y 595 más sin tilde) y económicos (producto interno bruto, Fondo Monetario Internacional). Por época se ve la historia política: Betancur y la Unión Soviética en los 80, Samper en los 90, Uribe en los 2000. Un modelo de unigramas parte estas expresiones; los bigramas quedan como mejora.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época: 1980–89 Reagan, Betancur, Barco, soviéticos, acupuntura y telenovela, además de la ortografía de la época (sólo, habia); 1990–99 Samper, Gaviria, Clinton, la Constituyente, Bosnia; 2000–11 Uribe, FARC, Chávez, Santos, paramilitares, víctimas, referendo, TLC, internet, y artefactos de formato (foto, www, com, efe). Por fuente: El Tiempo tiene la agenda local (calle, alcalde, municipio, barrio, Cali); Semana la agenda nacional y del conflicto (guerra, FARC, Uribe, paramilitares, política); Dinero la economía (crecimiento, empresas, mercado, exportaciones, inversión). Conclusión para el modelo: buena parte de lo que parece cambio temático en el léxico es cambio de nombres propios y de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cada término semilla y época se calcula la información mutua puntual positiva a nivel de documento y se listan los diez vecinos más asociados. Guerrilla pasa de subversión, insurgentes y Tirofijo en los 90 a secretariado, Caguán, EPL y Jojoy en los 2000. Salud pasa de los términos del nuevo sistema de aseguramiento (contributivo, Sisbén, subsidiado, EPS, IPS) a Fosyga, dengue y promotoras. Economía pasa de desaceleración, PIB y recesión a Greenspan, Bernanke y la Fed. Empleo pasa de desocupación y microempresa a subempleo e informalidad. En los 80 los vecinos de corrupción, empleo y fútbol son ruido y no deben interpretarse.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acceso garantizado a recursos descargables en Colab, se construyó un léxico temático propio de 13 macro‑categorías inspirado en el Comparative Agendas Project y en EuroVoc. Cada categoría es una lista de prefijos o raíces que se expande contra el vocabulario del corpus. Cubre 2.319 palabras y el 6,8 % de los tokens. Sirve para tres cosas: categoría inicial por documento (la categoría con más aciertos, con al menos 2), medida de agenda model‑free y validación externa de los tópicos del NMF.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de calor: cada fila es una categoría del léxico temático y cada columna un año. El color es la prevalencia (tokens de la categoría por mil tokens) dividida por el promedio de esa categoría en todos los años; blanco es el promedio, rojo está por encima y azul por debajo. Se ve el narcotráfico concentrado en 1987–89, el conflicto armado con máximos en 2001–02, economía y empleo entre 1999 y 2002, justicia y crimen en alza desde 2005, deporte hacia 2009–11 y cultura en 1985–86. Son medidas independientes del modelo de tópicos y sirven como referencia externa.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del EDA: cada hallazgo se tradujo en una decisión de diseño del modelo. El más importante es la confusión entre fuente y tiempo, que lleva a usar El Tiempo 1990–2011 como serie principal y a permutar dentro de cada fuente. El filtro de frecuencia responde a que el vocabulario no se cierra. La variante sin entidades responde al peso de los nombres propios. La caída simultánea de MATTR en tres fuentes sugiere cambios de formato del archivo y pide cautela con cambios cercanos a 2001 y 2006.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dataset medido es el entregable de datos. Cada fila es un documento con identificación, texto limpio, tokens de contenido (sin stopwords y longitud mínima 3), medidas de longitud y diversidad (n_chars, n_palabras, n_tokens, n_types, ttr), proxy de entidades (n_entidades, frac_entidades) y categoría inicial del léxico temático con el número de aciertos. Se exporta a Parquet, con una muestra en CSV y un resumen en JSON. En promedio un documento tiene 348 palabras, 170 tokens de contenido y 129 tipos distintos, con TTR 0,82. No se lematizó porque el lematizador de spaCy sobre 32 millones de tokens es muy lento en Colab gratis; queda como mejora.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Representar un artículo es convertirlo en un vector. BoW cuenta palabras; TF‑IDF pondera cada conteo por la rareza de la palabra en el corpus; SVD comprime el TF‑IDF a 128 dimensiones densas; los embeddings los produce una red preentrenada (MiniLM multilingüe) sobre los primeros 700 caracteres. La fórmula es la de scikit‑learn con escala sublineal y suavizado. En el ejemplo con N = 10.000, la palabra farc (en 800 artículos) pesa 7,4 y gobierno (en 3.000) pesa 4,6 con la misma frecuencia en el artículo. El ejemplo es ilustrativo: los números no salen del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decidir qué representación conserva más información útil usamos una vara común: dar solo el vector de un artículo a un clasificador y pedirle que adivine el periodo (cuatro clases) o la fuente (tres clases). La evaluación es con validación cruzada estratificada de cinco particiones sobre una muestra de hasta 150 artículos por año. La métrica es el macro‑F1: se calcula el F1 de cada clase (media armónica de precisión y recall) y se promedian sin ponderar por tamaño. Se usa macro y no exactitud porque El Tiempo es el 89 % del corpus: responder siempre El Tiempo da 89 % de exactitud pero macro‑F1 de 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ilustrativo con 100 artículos de la tarea fuente. Matriz de confusión: de 60 artículos de El Tiempo, 54 se clasificaron bien; de 25 de Semana, 15; de 15 de Dinero, 10. Precisión de El Tiempo 54 de 65 etiquetados como El Tiempo igual 0,83; recall 54 de 60 igual 0,90; F1 0,86. Semana tiene F1 0,65 y Dinero 0,69. El macro‑F1 es el promedio simple, 0,73, mientras la exactitud sería 0,79. El azar da un macro‑F1 cercano a 0,25 con cuatro clases y 0,33 con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del macro‑F1: TF‑IDF disperso 0,558 en periodo y 0,527 en fuente; TF‑IDF más SVD 0,448 y 0,495; embeddings MiniLM 0,390 y 0,439. El orden se mantiene en ambas tareas. Reservas: los clasificadores no son idénticos (LinearSVC frente a regresión logística), la muestra es pequeña y no hay intervalos de confianza, y la tarea mide separabilidad léxica, no calidad semántica. Por eso se agregó una celda de control en el cuaderno 06 (misma regresión logística para las tres representaciones, línea base aleatoria y F1 por clase) que todavía no se ha corrido y cuyas cifras no están en el informe. La decisión se apoya además en costo e interpretabilidad.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avanza de lo barato a lo costoso. Se prepara el texto y se construye TF‑IDF; se ajusta NMF y se elige K con coherencia NPMI y estabilidad entre semillas (húngaro); la agenda de cada año es la media de la proporción normalizada de cada tópico; la estabilidad se mide con divergencia JS entre años consecutivos frente a un nulo de permutaciones estratificado por fuente (1 000 permutaciones, corrección de Benjamini‑Hochberg) y con una curva de decaimiento por rezago; los cambios se detectan con segmentación binaria ponderada sobre la raíz cuadrada de la prevalencia y se validan con variantes (K, semilla, sin entidades, otras fuentes). El contraste con eventos históricos se hace al final con una lista congelada. Para comparar modelos usamos coherencia, estabilidad, macro‑F1, acuerdo en los puntos de cambio y costo de cómputo.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NMF aproxima la matriz TF‑IDF como el producto de dos matrices no negativas: W (cuánto de cada tópico hay en cada artículo) y H (qué palabras definen cada tópico). Se ajusta solo con la muestra balanceada y luego cada artículo del corpus se proyecta y se normaliza a una composición que suma uno. La prevalencia de un tópico en un año es el promedio de esa composición. Para elegir K se probaron 15, 20, 30 y 40 con dos semillas, midiendo la coherencia NPMI de las diez palabras principales y la estabilidad entre semillas con asignación húngara. La coherencia sube con K sin alcanzar un máximo y la estabilidad es 0,79 a 0,83; se eligió K =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divergencia de Jensen‑Shannon compara dos distribuciones de prevalencia con logaritmo base 2, así que va de cero a uno. Para saber cuánto de esa distancia es solo ruido muestral se juntan los artículos de dos años consecutivos, se barajan las etiquetas de año dentro de cada fuente (para conservar la mezcla de fuentes de cada año) y se recalcula el JS mil veces. El p‑valor es la fracción de JS nulos al menos tan grandes como el observado. Como se prueban 21 pares a la vez se aplica Benjamini‑Hochberg. Con tantos documentos el nulo es muy estrecho, por eso importa la magnitud frente a la distancia entre fuentes.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segmentación binaria busca el año de corte que más reduce el error cuadrático al reemplazar cada tramo por su promedio, con cada año ponderado por su número de artículos. Un corte solo se acepta si su ganancia supera el percentil 95 de la mejor ganancia obtenida al barajar el orden de los años doscientas veces; luego se repite dentro de cada tramo, con mínimo de dos años. La robustez se evalúa en seis variantes de El Tiempo y un cambio es de consenso si aparece a más o menos un año en al menos la mitad. Como las variantes no son independientes se agregan Semana, Dinero y una serie estandarizada. El eta cuadrado compara cuánta variación de la composición de tópicos explican el año y la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modelo candidato se juzga con los mismos criterios: coherencia NPMI, estabilidad entre semillas, interpretabilidad, costo en Colab gratis, sensibilidad a fuente y entidades, y acuerdo con los cambios de consenso. El macro‑F1 solo sirve para elegir la representación de entrada. La regla de decisión prefiere el modelo que mantiene coherencia y estabilidad al menos iguales a las del modelo base, reproduce o explica los cambios de consenso y sigue siendo interpretable. TF‑IDF más NMF es el modelo base implementado; embeddings con clustering o BERTopic y el modelo con covariables están propuestos y por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NMF con K igual a 40 produce tópicos temáticos legibles (conflicto, paz y derechos humanos, justicia, Congreso, elecciones, fútbol, cine, salud, educación, internet, banca, Venezuela y Estados Unidos) y también tópicos que no son temáticos: T00 de estilo de opinión, T18 de nombres de pila, T31 de avisos de eventos, T37 de expresiones de calendario, y varios de mercados (bolsa, café, petróleo, oro, Nueva York) que fragmentan la sección económica. Son tópicos de sección o de género, entran en la agenda medida y es una limitación declarada; la primera mejora propuesta es excluirlos o reagruparlos antes de medir 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panel izquierdo mezcla fuentes y por eso muestra un pico enorme en 1990: es el cambio de Semana a El Tiempo, no un cambio de agenda. Por eso la serie principal es El Tiempo 1990–2011. Allí el JS entre años consecutivos es 0,0029, con un piso de ruido cercano a 0,0008, y equivale a cerca del 6 % de la distancia entre El Tiempo y Semana en el mismo año (0,0497). Casi todas las transiciones (20 de 21) superan el nulo: con unos 4.000 documentos por año casi cualquier cambio es significativo, así que importa la magnitud. Los saltos mayores son 2005→2006, 1990→1991 (afectado porque 1990 tiene solo 807 documentos), 1994→1995, 2008→2009 y 2001→2002. En los años 80 ninguna transición es significativa por falta de documentos.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Tiempo la divergencia entre años separados por L años crece de 0,0029 con L igual a 1 a 0,0105 con L igual a 5 y 0,0158 con L igual a 10, y se queda en torno a 0,016 desde L cercano a 8. La agenda se aleja gradualmente hasta cierto punto y luego no sigue alejándose: la variación está acotada. En Semana la curva sigue subiendo (0,038 a 15 años) y en Dinero llega a 0,08, aunque con pocos años y con crecimiento fuerte del volumen. La línea de piso de ruido del gráfico es el promedio de la serie pooled, inflado por los años 80 con pocos documentos.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 El Tiempo y Semana en el mismo año el JS es 0,0497, 17 veces el cambio anual de El Tiempo y 3 veces la deriva máxima de diez años. Incluso a nivel de documento la fuente explica más varianza de la composición de tópicos (0,58 %) que el año (0,41 %). Entre Dinero y El Tiempo la distancia es 0,129 y entre Dinero y Semana 0,163. Esto confirma que comparar años sin controlar la fuente confunde cambio de agenda con cambio de fuente: el salto 1989 a 1990 del conjunto mezclado, con JS 0,062, es simplemente la llegada de El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segmentación binaria, con umbral calibrado por permutaciones, marca tres cambios de consenso en El Tiempo: 1995, 1999–2000 y 2006. En el mapa de calor, rojo es un tópico por encima de su media y azul por debajo; las líneas negras son los cambios. El de 2006 es el mayor, con JS 0,0078. Hay que leerlo con cautela porque coincide con la caída del archivo de El Tiempo y el auge de Dinero.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cada cambio se compara la prevalencia media de cada tópico antes y después. En 1995 el cambio es moderado: ningún tópico se mueve más de 1,2 puntos porcentuales; bajan EE. UU., policía, torneos, presidente‑gobierno y elecciones, y suben internet, empresas y avisos de eventos. En 1999 bajan el tópico regional Cali‑Valle‑Medellín y los avisos de eventos y suben indicadores económicos, FARC‑ejército, comercio e internet; El Tiempo cae a 2.231 documentos, la mitad que en 1998. En 2006, el salto más fuerte, bajan empresas, pago e impuestos, bancos y comercio, y suben casa y familia, regional, justicia, policía y fútbol, justo cuando Dinero crece de 167 a 560 documentos.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cambios de 1995, 1999–2000 y 2006 aparecen en las seis variantes de El Tiempo (K igual a 15, 20, 30 y 40, otra semilla y sin nombres propios); 1992 y 2002 aparecen en una sola, por lo que no se consideran. Las variantes comparten vectorizador y muestra, así que no son independientes; el contraste con series distintas es más exigente. Semana marca 1994, 1998 y 2006 entre otros; Dinero marca 2007; la serie estandarizada de El Tiempo y Semana con pesos fijos marca 1995, 1999, 2002 y 2006.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de nueve eventos se congeló antes de mirar resultados. Los tres cambios de consenso caen a más o menos un año de algún evento: 1995 con 1996 (Proceso 8000), 1999 con 1998 (Pastrana y Caguán) y 2006 con la reelección de Uribe. Pero al sortear tres años al azar entre los años válidos se esperan 2,5 aciertos de 3, y la probabilidad de 3 de 3 por azar es 0,58: la coincidencia no es evidencia. Los eventos más politizados (1991, 1993, 2002) no producen un cambio de consenso, y los de 1995 y 2006 son económicos, regionales y de orden público. A resolución anual y con 40 tópicos, la agenda parece responder más a la estructura editorial que a las coyunturas.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a la pregunta guía. La agenda temática de El Tiempo entre 1990 y 2011 es muy estable a corto plazo: la diferencia entre años consecutivos es mínima aunque estadísticamente distinguible del ruido. La distancia crece con el rezago y se estabiliza hacia los ocho años, lo que describe una deriva acotada. Hay tres reacomodos robustos: 1995, 1999–2000 y 2006, presentes en todas las variantes de El Tiempo y replicados en Semana y Dinero. El contraste con eventos históricos no mejora el azar. 1999 y 2006 coinciden con la caída del archivo de El Tiempo (2.231 documentos en 1999) y con el crecimiento de Dinero. La fuente pesa más que el tiempo, y para los años 80 el corpus no permite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mayor limitación es del corpus: una sola fuente continua (El Tiempo) y solo desde 1990 impiden separar agenda de cobertura. Cobertura temporal desigual, fuente y tiempo confundidos, volumen y composición variables entre años, prevalencia en vez de importancia, sesgos de selección (tres medios, sede en Bogotá), texto ya tokenizado y con ruido, resolución temporal de un año por falta de documentos y ausencia de etiquetas humanas.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Limitaciones de las técnicas: NMF sobre unigramas sin lematizar; tópicos de sección y de estilo; elección de K y semilla; proxy de entidades por mayúscula imperfecto; prevalencia por promedio de composición; nulo por permutación que supone documentos intercambiables; segmentación binaria voraz; robustez limitada porque las variantes comparten vectorizador; embeddings evaluados con un modelo pequeño y pocos caracteres; y contraste histórico con ventana tan ancha que el azar ya acierta 2,5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mejoras que más cambiarían las conclusiones son las que separan agenda de cobertura: controlar por sección y por fuente y quitar los tópicos de estilo. Ordenadas por impacto esperado y esfuerzo: excluir o reagrupar tópicos de estilo, verificar 1999 y 2006 contra el archivo, modelo con covariables, lematización y bigramas, BERTopic, resolución trimestral con PELT, bootstrap, validación externa con codificación manual, deduplicación y más fuentes para los años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se reproduce en Colab gratis ejecutando el cuaderno 05 y luego el 06; cada uno tarda unos cinco minutos con GPU T4. El corpus se descarga con verificación SHA‑256 desde la release corpus-v1 del repositorio y los cuadernos escriben sus resultados en la carpeta results. Se versionan cuadernos, utils, CSV y figuras y el informe; no se versionan el parquet del corpus ni el dataset medido, que se publica como asset de una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3E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26" y="711150"/>
            <a:ext cx="10566549" cy="391046"/>
          </a:xfrm>
          <a:prstGeom prst="rect">
            <a:avLst/>
          </a:prstGeom>
          <a:noFill/>
          <a:ln/>
        </p:spPr>
        <p:txBody>
          <a:bodyPr wrap="square" lIns="0" tIns="0" rIns="0" bIns="0" rtlCol="0" anchor="t"/>
          <a:lstStyle>
            <a:lvl1pPr algn="l" indent="0" marL="0">
              <a:lnSpc>
                <a:spcPct val="115000"/>
              </a:lnSpc>
              <a:buNone/>
              <a:defRPr lang="en-US" sz="2800" dirty="0">
                <a:solidFill>
                  <a:srgbClr val="1B2430"/>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26" y="1406996"/>
            <a:ext cx="10566474" cy="4638204"/>
          </a:xfrm>
          <a:prstGeom prst="rect">
            <a:avLst/>
          </a:prstGeom>
          <a:noFill/>
          <a:ln/>
        </p:spPr>
        <p:txBody>
          <a:bodyPr wrap="square" lIns="0" tIns="0" rIns="0" bIns="0" rtlCol="0" anchor="t"/>
          <a:lstStyle>
            <a:lvl1pPr algn="l" indent="0" marL="0">
              <a:lnSpc>
                <a:spcPct val="140000"/>
              </a:lnSpc>
              <a:buNone/>
              <a:defRPr lang="en-US" sz="1600" dirty="0">
                <a:solidFill>
                  <a:srgbClr val="1B243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3E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26" y="711150"/>
            <a:ext cx="10566549" cy="391046"/>
          </a:xfrm>
          <a:prstGeom prst="rect">
            <a:avLst/>
          </a:prstGeom>
          <a:noFill/>
          <a:ln/>
        </p:spPr>
        <p:txBody>
          <a:bodyPr wrap="square" lIns="0" tIns="0" rIns="0" bIns="0" rtlCol="0" anchor="t"/>
          <a:lstStyle>
            <a:lvl1pPr algn="l" indent="0" marL="0">
              <a:lnSpc>
                <a:spcPct val="115000"/>
              </a:lnSpc>
              <a:buNone/>
              <a:defRPr lang="en-US" sz="2800" dirty="0">
                <a:solidFill>
                  <a:srgbClr val="1B2430"/>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726" y="1406996"/>
            <a:ext cx="10566474" cy="4638204"/>
          </a:xfrm>
          <a:prstGeom prst="rect">
            <a:avLst/>
          </a:prstGeom>
          <a:noFill/>
          <a:ln/>
        </p:spPr>
        <p:txBody>
          <a:bodyPr wrap="square" lIns="0" tIns="0" rIns="0" bIns="0" rtlCol="0" anchor="t"/>
          <a:lstStyle>
            <a:lvl1pPr algn="l" indent="0" marL="0">
              <a:lnSpc>
                <a:spcPct val="140000"/>
              </a:lnSpc>
              <a:buNone/>
              <a:defRPr lang="en-US" sz="1600" dirty="0">
                <a:solidFill>
                  <a:srgbClr val="1B243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p:nvPr/>
        </p:nvSpPr>
        <p:spPr>
          <a:xfrm>
            <a:off x="812726" y="711150"/>
            <a:ext cx="10883545" cy="256456"/>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E0A43A"/>
                </a:solidFill>
                <a:latin typeface="Inter" pitchFamily="34" charset="0"/>
                <a:ea typeface="Inter" pitchFamily="34" charset="-122"/>
                <a:cs typeface="Inter" pitchFamily="34" charset="-120"/>
              </a:rPr>
              <a:t>PROCESAMIENTO DE LENGUAJE NATURAL · PONTIFICIA UNIVERSIDAD JAVERIANA · ENTREGA 2</a:t>
            </a:r>
            <a:endParaRPr lang="en-US" sz="1300" dirty="0"/>
          </a:p>
        </p:txBody>
      </p:sp>
      <p:sp>
        <p:nvSpPr>
          <p:cNvPr id="3" name="Text 1"/>
          <p:cNvSpPr/>
          <p:nvPr>
            <p:ph type="title"/>
          </p:nvPr>
        </p:nvSpPr>
        <p:spPr>
          <a:xfrm>
            <a:off x="812726" y="2335361"/>
            <a:ext cx="10883545" cy="1286966"/>
          </a:xfrm>
          <a:prstGeom prst="rect">
            <a:avLst/>
          </a:prstGeom>
          <a:noFill/>
          <a:ln/>
        </p:spPr>
        <p:txBody>
          <a:bodyPr wrap="square" lIns="0" tIns="0" rIns="0" bIns="0" rtlCol="0" anchor="t">
            <a:normAutofit/>
          </a:bodyPr>
          <a:lstStyle/>
          <a:p>
            <a:pPr algn="l" indent="0" marL="0">
              <a:lnSpc>
                <a:spcPts val="4968"/>
              </a:lnSpc>
              <a:buNone/>
            </a:pPr>
            <a:r>
              <a:rPr lang="en-US" sz="4600" b="1" i="0" dirty="0">
                <a:solidFill>
                  <a:srgbClr val="F6F3EC"/>
                </a:solidFill>
                <a:latin typeface="Source Serif 4" pitchFamily="18" charset="0"/>
                <a:ea typeface="Source Serif 4" pitchFamily="18" charset="-122"/>
                <a:cs typeface="Source Serif 4" pitchFamily="18" charset="-120"/>
              </a:rPr>
              <a:t>La agenda temática de la prensa colombiana, 1980–2011</a:t>
            </a:r>
            <a:endParaRPr lang="en-US" sz="4600" dirty="0"/>
          </a:p>
        </p:txBody>
      </p:sp>
      <p:sp>
        <p:nvSpPr>
          <p:cNvPr id="4" name="Text 2"/>
          <p:cNvSpPr/>
          <p:nvPr/>
        </p:nvSpPr>
        <p:spPr>
          <a:xfrm>
            <a:off x="812726" y="3825503"/>
            <a:ext cx="9810750" cy="372046"/>
          </a:xfrm>
          <a:prstGeom prst="rect">
            <a:avLst/>
          </a:prstGeom>
          <a:noFill/>
          <a:ln/>
        </p:spPr>
        <p:txBody>
          <a:bodyPr wrap="square" lIns="0" tIns="0" rIns="0" bIns="0" rtlCol="0" anchor="t">
            <a:normAutofit/>
          </a:bodyPr>
          <a:lstStyle/>
          <a:p>
            <a:pPr algn="l" indent="0" marL="0">
              <a:lnSpc>
                <a:spcPts val="2730"/>
              </a:lnSpc>
              <a:buNone/>
            </a:pPr>
            <a:r>
              <a:rPr lang="en-US" sz="2100" i="1" dirty="0">
                <a:solidFill>
                  <a:srgbClr val="D9D4C7"/>
                </a:solidFill>
                <a:latin typeface="Source Serif 4" pitchFamily="18" charset="0"/>
                <a:ea typeface="Source Serif 4" pitchFamily="18" charset="-122"/>
                <a:cs typeface="Source Serif 4" pitchFamily="18" charset="-120"/>
              </a:rPr>
              <a:t>¿Qué tan estable es la agenda y cuándo se producen cambios significativos?</a:t>
            </a:r>
            <a:endParaRPr lang="en-US" sz="2100" dirty="0"/>
          </a:p>
        </p:txBody>
      </p:sp>
      <p:sp>
        <p:nvSpPr>
          <p:cNvPr id="5" name="Text 3"/>
          <p:cNvSpPr/>
          <p:nvPr/>
        </p:nvSpPr>
        <p:spPr>
          <a:xfrm>
            <a:off x="812726" y="5565304"/>
            <a:ext cx="10883545" cy="274315"/>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3EC"/>
                </a:solidFill>
                <a:latin typeface="Inter" pitchFamily="34" charset="0"/>
                <a:ea typeface="Inter" pitchFamily="34" charset="-122"/>
                <a:cs typeface="Inter" pitchFamily="34" charset="-120"/>
              </a:rPr>
              <a:t>José Miguel Bejarano · Massimo Maimone · Mauricio Morales · Juan Felipe Guzmán · David Castañeda</a:t>
            </a:r>
            <a:endParaRPr lang="en-US" sz="1400" dirty="0"/>
          </a:p>
        </p:txBody>
      </p:sp>
      <p:sp>
        <p:nvSpPr>
          <p:cNvPr id="6" name="Text 4"/>
          <p:cNvSpPr/>
          <p:nvPr/>
        </p:nvSpPr>
        <p:spPr>
          <a:xfrm>
            <a:off x="812726" y="5915794"/>
            <a:ext cx="10883545" cy="25645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B4A7"/>
                </a:solidFill>
                <a:latin typeface="Inter" pitchFamily="34" charset="0"/>
                <a:ea typeface="Inter" pitchFamily="34" charset="-122"/>
                <a:cs typeface="Inter" pitchFamily="34" charset="-120"/>
              </a:rPr>
              <a:t>EDA avanzado, representación y propuesta metodológica · Profesor Luis Gabriel Moreno Sandoval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4447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B2430"/>
                </a:solidFill>
                <a:latin typeface="Source Serif 4" pitchFamily="18" charset="0"/>
                <a:ea typeface="Source Serif 4" pitchFamily="18" charset="-122"/>
                <a:cs typeface="Source Serif 4" pitchFamily="18" charset="-120"/>
              </a:rPr>
              <a:t>Pregunta y enfoque</a:t>
            </a:r>
            <a:endParaRPr lang="en-US" sz="3000" dirty="0"/>
          </a:p>
        </p:txBody>
      </p:sp>
      <p:sp>
        <p:nvSpPr>
          <p:cNvPr id="3" name="Shape 1"/>
          <p:cNvSpPr/>
          <p:nvPr/>
        </p:nvSpPr>
        <p:spPr>
          <a:xfrm>
            <a:off x="812726" y="1409526"/>
            <a:ext cx="4445000" cy="3422303"/>
          </a:xfrm>
          <a:prstGeom prst="roundRect">
            <a:avLst>
              <a:gd name="adj" fmla="val 3711"/>
            </a:avLst>
          </a:prstGeom>
          <a:solidFill>
            <a:srgbClr val="1B2430"/>
          </a:solidFill>
          <a:ln/>
        </p:spPr>
      </p:sp>
      <p:sp>
        <p:nvSpPr>
          <p:cNvPr id="4" name="Text 2"/>
          <p:cNvSpPr/>
          <p:nvPr/>
        </p:nvSpPr>
        <p:spPr>
          <a:xfrm>
            <a:off x="1117451" y="1714252"/>
            <a:ext cx="395061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0A43A"/>
                </a:solidFill>
                <a:latin typeface="Inter" pitchFamily="34" charset="0"/>
                <a:ea typeface="Inter" pitchFamily="34" charset="-122"/>
                <a:cs typeface="Inter" pitchFamily="34" charset="-120"/>
              </a:rPr>
              <a:t>PREGUNTA GUÍA</a:t>
            </a:r>
            <a:endParaRPr lang="en-US" sz="1200" dirty="0"/>
          </a:p>
        </p:txBody>
      </p:sp>
      <p:sp>
        <p:nvSpPr>
          <p:cNvPr id="5" name="Text 3"/>
          <p:cNvSpPr/>
          <p:nvPr/>
        </p:nvSpPr>
        <p:spPr>
          <a:xfrm>
            <a:off x="1117451" y="2105298"/>
            <a:ext cx="3950615" cy="1771650"/>
          </a:xfrm>
          <a:prstGeom prst="rect">
            <a:avLst/>
          </a:prstGeom>
          <a:noFill/>
          <a:ln/>
        </p:spPr>
        <p:txBody>
          <a:bodyPr wrap="square" lIns="0" tIns="0" rIns="0" bIns="0" rtlCol="0" anchor="t">
            <a:normAutofit/>
          </a:bodyPr>
          <a:lstStyle/>
          <a:p>
            <a:pPr algn="l" indent="0" marL="0">
              <a:lnSpc>
                <a:spcPts val="2750"/>
              </a:lnSpc>
              <a:buNone/>
            </a:pPr>
            <a:r>
              <a:rPr lang="en-US" sz="2200" i="1" dirty="0">
                <a:solidFill>
                  <a:srgbClr val="F6F3EC"/>
                </a:solidFill>
                <a:latin typeface="Source Serif 4" pitchFamily="18" charset="0"/>
                <a:ea typeface="Source Serif 4" pitchFamily="18" charset="-122"/>
                <a:cs typeface="Source Serif 4" pitchFamily="18" charset="-120"/>
              </a:rPr>
              <a:t>¿Qué tan estable es la agenda temática de la prensa colombiana entre 1980 y 2011, y cuándo cambia de forma significativa?</a:t>
            </a:r>
            <a:endParaRPr lang="en-US" sz="2200" dirty="0"/>
          </a:p>
        </p:txBody>
      </p:sp>
      <p:sp>
        <p:nvSpPr>
          <p:cNvPr id="6" name="Text 4"/>
          <p:cNvSpPr/>
          <p:nvPr/>
        </p:nvSpPr>
        <p:spPr>
          <a:xfrm>
            <a:off x="1117451" y="4029273"/>
            <a:ext cx="3950615" cy="52323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3EC"/>
                </a:solidFill>
                <a:latin typeface="Inter" pitchFamily="34" charset="0"/>
                <a:ea typeface="Inter" pitchFamily="34" charset="-122"/>
                <a:cs typeface="Inter" pitchFamily="34" charset="-120"/>
              </a:rPr>
              <a:t>Agenda</a:t>
            </a:r>
            <a:r>
              <a:rPr lang="en-US" sz="1400" dirty="0">
                <a:solidFill>
                  <a:srgbClr val="D9D4C7"/>
                </a:solidFill>
                <a:latin typeface="Inter" pitchFamily="34" charset="0"/>
                <a:ea typeface="Inter" pitchFamily="34" charset="-122"/>
                <a:cs typeface="Inter" pitchFamily="34" charset="-120"/>
              </a:rPr>
              <a:t> = prevalencia de cada tópico en cada año.</a:t>
            </a:r>
            <a:endParaRPr lang="en-US" sz="1400" dirty="0"/>
          </a:p>
        </p:txBody>
      </p:sp>
      <p:sp>
        <p:nvSpPr>
          <p:cNvPr id="7" name="Text 5"/>
          <p:cNvSpPr/>
          <p:nvPr/>
        </p:nvSpPr>
        <p:spPr>
          <a:xfrm>
            <a:off x="5562451" y="1465337"/>
            <a:ext cx="355575" cy="355575"/>
          </a:xfrm>
          <a:prstGeom prst="roundRect">
            <a:avLst>
              <a:gd name="adj" fmla="val 50000"/>
            </a:avLst>
          </a:prstGeom>
          <a:solidFill>
            <a:srgbClr val="2A6F97"/>
          </a:solidFill>
          <a:ln/>
        </p:spPr>
        <p:txBody>
          <a:bodyPr wrap="square" lIns="0" tIns="0" rIns="0" bIns="0" rtlCol="0" anchor="ctr">
            <a:normAutofit/>
          </a:bodyPr>
          <a:lstStyle/>
          <a:p>
            <a:pPr algn="ctr" indent="0" marL="0">
              <a:lnSpc>
                <a:spcPts val="1960"/>
              </a:lnSpc>
              <a:buNone/>
            </a:pPr>
            <a:r>
              <a:rPr lang="en-US" sz="1400" b="1" dirty="0">
                <a:solidFill>
                  <a:srgbClr val="FBFAF6"/>
                </a:solidFill>
                <a:latin typeface="Inter" pitchFamily="34" charset="0"/>
                <a:ea typeface="Inter" pitchFamily="34" charset="-122"/>
                <a:cs typeface="Inter" pitchFamily="34" charset="-120"/>
              </a:rPr>
              <a:t>1</a:t>
            </a:r>
            <a:endParaRPr lang="en-US" sz="1400" dirty="0"/>
          </a:p>
        </p:txBody>
      </p:sp>
      <p:sp>
        <p:nvSpPr>
          <p:cNvPr id="8" name="Text 6"/>
          <p:cNvSpPr/>
          <p:nvPr/>
        </p:nvSpPr>
        <p:spPr>
          <a:xfrm>
            <a:off x="6070327" y="1409526"/>
            <a:ext cx="5468216" cy="253975"/>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430"/>
                </a:solidFill>
                <a:latin typeface="Inter" pitchFamily="34" charset="0"/>
                <a:ea typeface="Inter" pitchFamily="34" charset="-122"/>
                <a:cs typeface="Inter" pitchFamily="34" charset="-120"/>
              </a:rPr>
              <a:t>Entender el corpus</a:t>
            </a:r>
            <a:endParaRPr lang="en-US" sz="1500" dirty="0"/>
          </a:p>
        </p:txBody>
      </p:sp>
      <p:sp>
        <p:nvSpPr>
          <p:cNvPr id="9" name="Text 7"/>
          <p:cNvSpPr/>
          <p:nvPr/>
        </p:nvSpPr>
        <p:spPr>
          <a:xfrm>
            <a:off x="6070327" y="1663402"/>
            <a:ext cx="54682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EDA avanzado, recursos léxicos y dataset medido</a:t>
            </a:r>
            <a:endParaRPr lang="en-US" sz="1200" dirty="0"/>
          </a:p>
        </p:txBody>
      </p:sp>
      <p:sp>
        <p:nvSpPr>
          <p:cNvPr id="10" name="Text 8"/>
          <p:cNvSpPr/>
          <p:nvPr/>
        </p:nvSpPr>
        <p:spPr>
          <a:xfrm>
            <a:off x="5562451" y="2072184"/>
            <a:ext cx="355575" cy="355575"/>
          </a:xfrm>
          <a:prstGeom prst="roundRect">
            <a:avLst>
              <a:gd name="adj" fmla="val 50000"/>
            </a:avLst>
          </a:prstGeom>
          <a:solidFill>
            <a:srgbClr val="2A6F97"/>
          </a:solidFill>
          <a:ln/>
        </p:spPr>
        <p:txBody>
          <a:bodyPr wrap="square" lIns="0" tIns="0" rIns="0" bIns="0" rtlCol="0" anchor="ctr">
            <a:normAutofit/>
          </a:bodyPr>
          <a:lstStyle/>
          <a:p>
            <a:pPr algn="ctr" indent="0" marL="0">
              <a:lnSpc>
                <a:spcPts val="1960"/>
              </a:lnSpc>
              <a:buNone/>
            </a:pPr>
            <a:r>
              <a:rPr lang="en-US" sz="1400" b="1" dirty="0">
                <a:solidFill>
                  <a:srgbClr val="FBFAF6"/>
                </a:solidFill>
                <a:latin typeface="Inter" pitchFamily="34" charset="0"/>
                <a:ea typeface="Inter" pitchFamily="34" charset="-122"/>
                <a:cs typeface="Inter" pitchFamily="34" charset="-120"/>
              </a:rPr>
              <a:t>2</a:t>
            </a:r>
            <a:endParaRPr lang="en-US" sz="1400" dirty="0"/>
          </a:p>
        </p:txBody>
      </p:sp>
      <p:sp>
        <p:nvSpPr>
          <p:cNvPr id="11" name="Text 9"/>
          <p:cNvSpPr/>
          <p:nvPr/>
        </p:nvSpPr>
        <p:spPr>
          <a:xfrm>
            <a:off x="6070327" y="2016373"/>
            <a:ext cx="5468216" cy="253975"/>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430"/>
                </a:solidFill>
                <a:latin typeface="Inter" pitchFamily="34" charset="0"/>
                <a:ea typeface="Inter" pitchFamily="34" charset="-122"/>
                <a:cs typeface="Inter" pitchFamily="34" charset="-120"/>
              </a:rPr>
              <a:t>Representar</a:t>
            </a:r>
            <a:endParaRPr lang="en-US" sz="1500" dirty="0"/>
          </a:p>
        </p:txBody>
      </p:sp>
      <p:sp>
        <p:nvSpPr>
          <p:cNvPr id="12" name="Text 10"/>
          <p:cNvSpPr/>
          <p:nvPr/>
        </p:nvSpPr>
        <p:spPr>
          <a:xfrm>
            <a:off x="6070327" y="2270249"/>
            <a:ext cx="54682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TF‑IDF, SVD y embeddings, comparados con una tarea medible</a:t>
            </a:r>
            <a:endParaRPr lang="en-US" sz="1200" dirty="0"/>
          </a:p>
        </p:txBody>
      </p:sp>
      <p:sp>
        <p:nvSpPr>
          <p:cNvPr id="13" name="Text 11"/>
          <p:cNvSpPr/>
          <p:nvPr/>
        </p:nvSpPr>
        <p:spPr>
          <a:xfrm>
            <a:off x="5562451" y="2679030"/>
            <a:ext cx="355575" cy="355575"/>
          </a:xfrm>
          <a:prstGeom prst="roundRect">
            <a:avLst>
              <a:gd name="adj" fmla="val 50000"/>
            </a:avLst>
          </a:prstGeom>
          <a:solidFill>
            <a:srgbClr val="2A6F97"/>
          </a:solidFill>
          <a:ln/>
        </p:spPr>
        <p:txBody>
          <a:bodyPr wrap="square" lIns="0" tIns="0" rIns="0" bIns="0" rtlCol="0" anchor="ctr">
            <a:normAutofit/>
          </a:bodyPr>
          <a:lstStyle/>
          <a:p>
            <a:pPr algn="ctr" indent="0" marL="0">
              <a:lnSpc>
                <a:spcPts val="1960"/>
              </a:lnSpc>
              <a:buNone/>
            </a:pPr>
            <a:r>
              <a:rPr lang="en-US" sz="1400" b="1" dirty="0">
                <a:solidFill>
                  <a:srgbClr val="FBFAF6"/>
                </a:solidFill>
                <a:latin typeface="Inter" pitchFamily="34" charset="0"/>
                <a:ea typeface="Inter" pitchFamily="34" charset="-122"/>
                <a:cs typeface="Inter" pitchFamily="34" charset="-120"/>
              </a:rPr>
              <a:t>3</a:t>
            </a:r>
            <a:endParaRPr lang="en-US" sz="1400" dirty="0"/>
          </a:p>
        </p:txBody>
      </p:sp>
      <p:sp>
        <p:nvSpPr>
          <p:cNvPr id="14" name="Text 12"/>
          <p:cNvSpPr/>
          <p:nvPr/>
        </p:nvSpPr>
        <p:spPr>
          <a:xfrm>
            <a:off x="6070327" y="2623220"/>
            <a:ext cx="5468216" cy="253975"/>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430"/>
                </a:solidFill>
                <a:latin typeface="Inter" pitchFamily="34" charset="0"/>
                <a:ea typeface="Inter" pitchFamily="34" charset="-122"/>
                <a:cs typeface="Inter" pitchFamily="34" charset="-120"/>
              </a:rPr>
              <a:t>Modelar la agenda</a:t>
            </a:r>
            <a:endParaRPr lang="en-US" sz="1500" dirty="0"/>
          </a:p>
        </p:txBody>
      </p:sp>
      <p:sp>
        <p:nvSpPr>
          <p:cNvPr id="15" name="Text 13"/>
          <p:cNvSpPr/>
          <p:nvPr/>
        </p:nvSpPr>
        <p:spPr>
          <a:xfrm>
            <a:off x="6070327" y="2877096"/>
            <a:ext cx="54682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NMF con K = 40 y prevalencia por año</a:t>
            </a:r>
            <a:endParaRPr lang="en-US" sz="1200" dirty="0"/>
          </a:p>
        </p:txBody>
      </p:sp>
      <p:sp>
        <p:nvSpPr>
          <p:cNvPr id="16" name="Text 14"/>
          <p:cNvSpPr/>
          <p:nvPr/>
        </p:nvSpPr>
        <p:spPr>
          <a:xfrm>
            <a:off x="5562451" y="3285877"/>
            <a:ext cx="355575" cy="355575"/>
          </a:xfrm>
          <a:prstGeom prst="roundRect">
            <a:avLst>
              <a:gd name="adj" fmla="val 50000"/>
            </a:avLst>
          </a:prstGeom>
          <a:solidFill>
            <a:srgbClr val="2A6F97"/>
          </a:solidFill>
          <a:ln/>
        </p:spPr>
        <p:txBody>
          <a:bodyPr wrap="square" lIns="0" tIns="0" rIns="0" bIns="0" rtlCol="0" anchor="ctr">
            <a:normAutofit/>
          </a:bodyPr>
          <a:lstStyle/>
          <a:p>
            <a:pPr algn="ctr" indent="0" marL="0">
              <a:lnSpc>
                <a:spcPts val="1960"/>
              </a:lnSpc>
              <a:buNone/>
            </a:pPr>
            <a:r>
              <a:rPr lang="en-US" sz="1400" b="1" dirty="0">
                <a:solidFill>
                  <a:srgbClr val="FBFAF6"/>
                </a:solidFill>
                <a:latin typeface="Inter" pitchFamily="34" charset="0"/>
                <a:ea typeface="Inter" pitchFamily="34" charset="-122"/>
                <a:cs typeface="Inter" pitchFamily="34" charset="-120"/>
              </a:rPr>
              <a:t>4</a:t>
            </a:r>
            <a:endParaRPr lang="en-US" sz="1400" dirty="0"/>
          </a:p>
        </p:txBody>
      </p:sp>
      <p:sp>
        <p:nvSpPr>
          <p:cNvPr id="17" name="Text 15"/>
          <p:cNvSpPr/>
          <p:nvPr/>
        </p:nvSpPr>
        <p:spPr>
          <a:xfrm>
            <a:off x="6070327" y="3230066"/>
            <a:ext cx="5468216" cy="253975"/>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430"/>
                </a:solidFill>
                <a:latin typeface="Inter" pitchFamily="34" charset="0"/>
                <a:ea typeface="Inter" pitchFamily="34" charset="-122"/>
                <a:cs typeface="Inter" pitchFamily="34" charset="-120"/>
              </a:rPr>
              <a:t>Medir la estabilidad</a:t>
            </a:r>
            <a:endParaRPr lang="en-US" sz="1500" dirty="0"/>
          </a:p>
        </p:txBody>
      </p:sp>
      <p:sp>
        <p:nvSpPr>
          <p:cNvPr id="18" name="Text 16"/>
          <p:cNvSpPr/>
          <p:nvPr/>
        </p:nvSpPr>
        <p:spPr>
          <a:xfrm>
            <a:off x="6070327" y="3483942"/>
            <a:ext cx="54682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Divergencia JS frente a un nulo de permutaciones</a:t>
            </a:r>
            <a:endParaRPr lang="en-US" sz="1200" dirty="0"/>
          </a:p>
        </p:txBody>
      </p:sp>
      <p:sp>
        <p:nvSpPr>
          <p:cNvPr id="19" name="Text 17"/>
          <p:cNvSpPr/>
          <p:nvPr/>
        </p:nvSpPr>
        <p:spPr>
          <a:xfrm>
            <a:off x="5562451" y="3892724"/>
            <a:ext cx="355575" cy="355575"/>
          </a:xfrm>
          <a:prstGeom prst="roundRect">
            <a:avLst>
              <a:gd name="adj" fmla="val 50000"/>
            </a:avLst>
          </a:prstGeom>
          <a:solidFill>
            <a:srgbClr val="A8402B"/>
          </a:solidFill>
          <a:ln/>
        </p:spPr>
        <p:txBody>
          <a:bodyPr wrap="square" lIns="0" tIns="0" rIns="0" bIns="0" rtlCol="0" anchor="ctr">
            <a:normAutofit/>
          </a:bodyPr>
          <a:lstStyle/>
          <a:p>
            <a:pPr algn="ctr" indent="0" marL="0">
              <a:lnSpc>
                <a:spcPts val="1960"/>
              </a:lnSpc>
              <a:buNone/>
            </a:pPr>
            <a:r>
              <a:rPr lang="en-US" sz="1400" b="1" dirty="0">
                <a:solidFill>
                  <a:srgbClr val="FBFAF6"/>
                </a:solidFill>
                <a:latin typeface="Inter" pitchFamily="34" charset="0"/>
                <a:ea typeface="Inter" pitchFamily="34" charset="-122"/>
                <a:cs typeface="Inter" pitchFamily="34" charset="-120"/>
              </a:rPr>
              <a:t>5</a:t>
            </a:r>
            <a:endParaRPr lang="en-US" sz="1400" dirty="0"/>
          </a:p>
        </p:txBody>
      </p:sp>
      <p:sp>
        <p:nvSpPr>
          <p:cNvPr id="20" name="Text 18"/>
          <p:cNvSpPr/>
          <p:nvPr/>
        </p:nvSpPr>
        <p:spPr>
          <a:xfrm>
            <a:off x="6070327" y="3836913"/>
            <a:ext cx="5468216" cy="253975"/>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430"/>
                </a:solidFill>
                <a:latin typeface="Inter" pitchFamily="34" charset="0"/>
                <a:ea typeface="Inter" pitchFamily="34" charset="-122"/>
                <a:cs typeface="Inter" pitchFamily="34" charset="-120"/>
              </a:rPr>
              <a:t>Detectar cambios y contrastar con la historia</a:t>
            </a:r>
            <a:endParaRPr lang="en-US" sz="1500" dirty="0"/>
          </a:p>
        </p:txBody>
      </p:sp>
      <p:sp>
        <p:nvSpPr>
          <p:cNvPr id="21" name="Text 19"/>
          <p:cNvSpPr/>
          <p:nvPr/>
        </p:nvSpPr>
        <p:spPr>
          <a:xfrm>
            <a:off x="6070327" y="4090789"/>
            <a:ext cx="54682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Del método más barato al más costoso; la historia entra al final</a:t>
            </a:r>
            <a:endParaRPr lang="en-US" sz="1200" dirty="0"/>
          </a:p>
        </p:txBody>
      </p:sp>
      <p:sp>
        <p:nvSpPr>
          <p:cNvPr id="22" name="Text 20"/>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Corpus NoticiasColombia · 91 585 documentos · El Tiempo, Semana, Dinero</a:t>
            </a:r>
            <a:endParaRPr lang="en-US" sz="1200" dirty="0"/>
          </a:p>
        </p:txBody>
      </p:sp>
      <p:sp>
        <p:nvSpPr>
          <p:cNvPr id="23" name="Text 21"/>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Estado del arte (1/2): léxico, agenda y tópicos</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300634"/>
          <a:ext cx="10558611" cy="4505399"/>
        </p:xfrm>
        <a:graphic>
          <a:graphicData uri="http://schemas.openxmlformats.org/drawingml/2006/table">
            <a:tbl>
              <a:tblPr/>
              <a:tblGrid>
                <a:gridCol w="2639653"/>
                <a:gridCol w="2639653"/>
                <a:gridCol w="2639653"/>
                <a:gridCol w="2639653"/>
              </a:tblGrid>
              <a:tr h="383604">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Línea</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Trabajos</a:t>
                      </a:r>
                      <a:endParaRPr lang="en-US" sz="1200" dirty="0">
                        <a:latin typeface="Inter" charset="0"/>
                        <a:ea typeface="Inter" charset="0"/>
                        <a:cs typeface="Inter" charset="0"/>
                      </a:endParaRPr>
                    </a:p>
                  </a:txBody>
                  <a:tcPr marL="101600" marR="101600" marT="88900" marB="889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Qué aportan</a:t>
                      </a:r>
                      <a:endParaRPr lang="en-US" sz="1200" dirty="0">
                        <a:latin typeface="Inter" charset="0"/>
                        <a:ea typeface="Inter" charset="0"/>
                        <a:cs typeface="Inter" charset="0"/>
                      </a:endParaRPr>
                    </a:p>
                  </a:txBody>
                  <a:tcPr marL="101600" marR="101600" marT="88900" marB="889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Uso en este proyecto</a:t>
                      </a:r>
                      <a:endParaRPr lang="en-US" sz="1200" dirty="0">
                        <a:latin typeface="Inter" charset="0"/>
                        <a:ea typeface="Inter" charset="0"/>
                        <a:cs typeface="Inter" charset="0"/>
                      </a:endParaRPr>
                    </a:p>
                  </a:txBody>
                  <a:tcPr marL="101600" marR="101600" marT="88900" marB="889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1571997">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Culturomics y frecuencia de palabras</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Michel et al. (2011), Science. Caicedo, Gaviria y Moreno (2012), Hechos y palabras</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Frecuencia de palabras normalizada como indicador social. Caicedo et al. usan más de 2 M de artículos (~600 M de palabras) de El Tiempo, Semana y Dinero y los validan con desempleo, recesión y El Niño</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nuestro es un subconjunto de 91.585 artículos. Se adopta la normalización por total de tokens, pero se mide la prevalencia de tópicos y su estabilidad</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1175866">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Agenda y cambio</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McCombs y Shaw (1972). Baumgartner y Jones (1993), equilibrio puntuado. Comparative Agendas Project</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La agenda pública alterna largos periodos estables con cambios abruptos; códigos temáticos comparables entre países y épocas</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Marco conceptual: estabilidad más saltos es lo que se contrasta. Las 13 categorías del léxico se inspiran en los major topics de CAP</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1373932">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Modelos de tópicos</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Lee y Seung (1999), NMF. Blei, Ng y Jordan (2003), LDA. Quinn et al. (2010). Blei y Lafferty (2006), dinámicos. Roberts et al. (2014), STM. Grootendorst (2022), BERTopic</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Medir la atención como una mezcla de tópicos por periodo; incorporar covariables (fuente, tiempo); tópicos sobre embeddings</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NMF sobre TF‑IDF como modelo base; STM y BERTopic como mejoras</a:t>
                      </a:r>
                      <a:endParaRPr lang="en-US" sz="1200"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Referencias completas en el anexo</a:t>
            </a:r>
            <a:endParaRPr lang="en-US" sz="1200" dirty="0"/>
          </a:p>
        </p:txBody>
      </p:sp>
      <p:sp>
        <p:nvSpPr>
          <p:cNvPr id="5" name="Text 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1379274" cy="741139"/>
          </a:xfrm>
          <a:prstGeom prst="rect">
            <a:avLst/>
          </a:prstGeom>
          <a:noFill/>
          <a:ln/>
        </p:spPr>
        <p:txBody>
          <a:bodyPr wrap="square" lIns="0" tIns="0" rIns="0" bIns="0" rtlCol="0" anchor="t">
            <a:normAutofit/>
          </a:bodyPr>
          <a:lstStyle/>
          <a:p>
            <a:pPr algn="l" indent="0" marL="0">
              <a:lnSpc>
                <a:spcPts val="2907"/>
              </a:lnSpc>
              <a:buNone/>
            </a:pPr>
            <a:r>
              <a:rPr lang="en-US" sz="2643" b="1" i="0" dirty="0">
                <a:solidFill>
                  <a:srgbClr val="1B2430"/>
                </a:solidFill>
                <a:latin typeface="Source Serif 4" pitchFamily="18" charset="0"/>
                <a:ea typeface="Source Serif 4" pitchFamily="18" charset="-122"/>
                <a:cs typeface="Source Serif 4" pitchFamily="18" charset="-120"/>
              </a:rPr>
              <a:t>Estado del arte (2/2): representación, cambio y estadística textual</a:t>
            </a:r>
            <a:endParaRPr lang="en-US" sz="2643"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625327"/>
          <a:ext cx="10558611" cy="3036218"/>
        </p:xfrm>
        <a:graphic>
          <a:graphicData uri="http://schemas.openxmlformats.org/drawingml/2006/table">
            <a:tbl>
              <a:tblPr/>
              <a:tblGrid>
                <a:gridCol w="2639653"/>
                <a:gridCol w="2639653"/>
                <a:gridCol w="2639653"/>
                <a:gridCol w="2639653"/>
              </a:tblGrid>
              <a:tr h="377775">
                <a:tc>
                  <a:txBody>
                    <a:bodyPr/>
                    <a:lstStyle/>
                    <a:p>
                      <a:pPr indent="0" marL="0">
                        <a:lnSpc>
                          <a:spcPts val="1617"/>
                        </a:lnSpc>
                        <a:buNone/>
                      </a:pPr>
                      <a:r>
                        <a:rPr lang="en-US" sz="1155" b="1" dirty="0">
                          <a:solidFill>
                            <a:srgbClr val="F6F3EC"/>
                          </a:solidFill>
                          <a:latin typeface="Inter" pitchFamily="34" charset="0"/>
                          <a:ea typeface="Inter" pitchFamily="34" charset="-122"/>
                          <a:cs typeface="Inter" pitchFamily="34" charset="-120"/>
                        </a:rPr>
                        <a:t>Línea</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17"/>
                        </a:lnSpc>
                        <a:buNone/>
                      </a:pPr>
                      <a:r>
                        <a:rPr lang="en-US" sz="1155" b="1" dirty="0">
                          <a:solidFill>
                            <a:srgbClr val="F6F3EC"/>
                          </a:solidFill>
                          <a:latin typeface="Inter" pitchFamily="34" charset="0"/>
                          <a:ea typeface="Inter" pitchFamily="34" charset="-122"/>
                          <a:cs typeface="Inter" pitchFamily="34" charset="-120"/>
                        </a:rPr>
                        <a:t>Trabajos</a:t>
                      </a:r>
                      <a:endParaRPr lang="en-US" sz="1155" dirty="0">
                        <a:latin typeface="Inter" charset="0"/>
                        <a:ea typeface="Inter" charset="0"/>
                        <a:cs typeface="Inter" charset="0"/>
                      </a:endParaRPr>
                    </a:p>
                  </a:txBody>
                  <a:tcPr marL="101600" marR="101600" marT="88900" marB="889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17"/>
                        </a:lnSpc>
                        <a:buNone/>
                      </a:pPr>
                      <a:r>
                        <a:rPr lang="en-US" sz="1155" b="1" dirty="0">
                          <a:solidFill>
                            <a:srgbClr val="F6F3EC"/>
                          </a:solidFill>
                          <a:latin typeface="Inter" pitchFamily="34" charset="0"/>
                          <a:ea typeface="Inter" pitchFamily="34" charset="-122"/>
                          <a:cs typeface="Inter" pitchFamily="34" charset="-120"/>
                        </a:rPr>
                        <a:t>Qué aportan</a:t>
                      </a:r>
                      <a:endParaRPr lang="en-US" sz="1155" dirty="0">
                        <a:latin typeface="Inter" charset="0"/>
                        <a:ea typeface="Inter" charset="0"/>
                        <a:cs typeface="Inter" charset="0"/>
                      </a:endParaRPr>
                    </a:p>
                  </a:txBody>
                  <a:tcPr marL="101600" marR="101600" marT="88900" marB="889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17"/>
                        </a:lnSpc>
                        <a:buNone/>
                      </a:pPr>
                      <a:r>
                        <a:rPr lang="en-US" sz="1155" b="1" dirty="0">
                          <a:solidFill>
                            <a:srgbClr val="F6F3EC"/>
                          </a:solidFill>
                          <a:latin typeface="Inter" pitchFamily="34" charset="0"/>
                          <a:ea typeface="Inter" pitchFamily="34" charset="-122"/>
                          <a:cs typeface="Inter" pitchFamily="34" charset="-120"/>
                        </a:rPr>
                        <a:t>Uso en este proyecto</a:t>
                      </a:r>
                      <a:endParaRPr lang="en-US" sz="1155" dirty="0">
                        <a:latin typeface="Inter" charset="0"/>
                        <a:ea typeface="Inter" charset="0"/>
                        <a:cs typeface="Inter" charset="0"/>
                      </a:endParaRPr>
                    </a:p>
                  </a:txBody>
                  <a:tcPr marL="101600" marR="101600" marT="88900" marB="889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759023">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Representación del texto</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Salton y Buckley (1988), TF‑IDF. Reimers y Gurevych (2019), Sentence‑BERT</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Ponderación dispersa e interpretable frente a embeddings densos de oración</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Comparación empírica con macro‑F1 de periodo y fuente</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1140271">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Ráfagas y puntos de cambio</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Kleinberg (2002). Killick, Fearnhead y Eckley (2012), PELT. Truong, Oudre y Vayatis (2020), revisión</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Detectar cuándo cambia un flujo de texto o una serie temporal</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Kleinberg se probó en el cuaderno 04 y se sustituyó por segmentación binaria con nulo por permutación; PELT queda como mejora</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759147">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Estadística textual</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Monroe, Colaresi y Quinn (2008), log‑odds. Bouma (2009), NPMI. Covington y McFall (2010), MATTR</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Términos distintivos, colocaciones y diversidad léxica robustos al tamaño de la muestra</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17"/>
                        </a:lnSpc>
                        <a:buNone/>
                      </a:pPr>
                      <a:r>
                        <a:rPr lang="en-US" sz="1155" dirty="0">
                          <a:solidFill>
                            <a:srgbClr val="1B2430"/>
                          </a:solidFill>
                          <a:latin typeface="Inter" pitchFamily="34" charset="0"/>
                          <a:ea typeface="Inter" pitchFamily="34" charset="-122"/>
                          <a:cs typeface="Inter" pitchFamily="34" charset="-120"/>
                        </a:rPr>
                        <a:t>EDA avanzado (cuaderno 05)</a:t>
                      </a:r>
                      <a:endParaRPr lang="en-US" sz="1155" dirty="0">
                        <a:latin typeface="Inter" charset="0"/>
                        <a:ea typeface="Inter" charset="0"/>
                        <a:cs typeface="Inter" charset="0"/>
                      </a:endParaRPr>
                    </a:p>
                  </a:txBody>
                  <a:tcPr marL="101600" marR="101600" marT="88900" marB="889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Shape 1"/>
          <p:cNvSpPr/>
          <p:nvPr/>
        </p:nvSpPr>
        <p:spPr>
          <a:xfrm>
            <a:off x="812726" y="4852045"/>
            <a:ext cx="10566549" cy="989955"/>
          </a:xfrm>
          <a:prstGeom prst="roundRect">
            <a:avLst>
              <a:gd name="adj" fmla="val 10263"/>
            </a:avLst>
          </a:prstGeom>
          <a:solidFill>
            <a:srgbClr val="1B2430"/>
          </a:solidFill>
          <a:ln/>
        </p:spPr>
      </p:sp>
      <p:sp>
        <p:nvSpPr>
          <p:cNvPr id="5" name="Text 2"/>
          <p:cNvSpPr/>
          <p:nvPr/>
        </p:nvSpPr>
        <p:spPr>
          <a:xfrm>
            <a:off x="1041301" y="5133702"/>
            <a:ext cx="1447800" cy="452041"/>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0A43A"/>
                </a:solidFill>
                <a:latin typeface="Inter" pitchFamily="34" charset="0"/>
                <a:ea typeface="Inter" pitchFamily="34" charset="-122"/>
                <a:cs typeface="Inter" pitchFamily="34" charset="-120"/>
              </a:rPr>
              <a:t>QUÉ AÑADIMOS</a:t>
            </a:r>
            <a:endParaRPr lang="en-US" sz="1200" dirty="0"/>
          </a:p>
        </p:txBody>
      </p:sp>
      <p:sp>
        <p:nvSpPr>
          <p:cNvPr id="6" name="Text 3"/>
          <p:cNvSpPr/>
          <p:nvPr/>
        </p:nvSpPr>
        <p:spPr>
          <a:xfrm>
            <a:off x="2616026" y="5000501"/>
            <a:ext cx="8790713" cy="71856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3EC"/>
                </a:solidFill>
                <a:latin typeface="Inter" pitchFamily="34" charset="0"/>
                <a:ea typeface="Inter" pitchFamily="34" charset="-122"/>
                <a:cs typeface="Inter" pitchFamily="34" charset="-120"/>
              </a:rPr>
              <a:t>Frente al artículo de referencia, pasamos de series de frecuencia de palabras a la prevalencia de tópicos y cuantificamos cuánto cambia con un modelo nulo que descuenta el ruido de muestreo y la composición por fuente. Frente a la literatura de agenda, usamos tres medios colombianos de 1980 a 2011.</a:t>
            </a:r>
            <a:endParaRPr lang="en-US" sz="1300" dirty="0"/>
          </a:p>
        </p:txBody>
      </p:sp>
      <p:sp>
        <p:nvSpPr>
          <p:cNvPr id="7" name="Text 4"/>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Referencias completas en el anexo</a:t>
            </a:r>
            <a:endParaRPr lang="en-US" sz="1200" dirty="0"/>
          </a:p>
        </p:txBody>
      </p:sp>
      <p:sp>
        <p:nvSpPr>
          <p:cNvPr id="8" name="Text 5"/>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Punto de partida: cuadernos 03 y 04</a:t>
            </a:r>
            <a:endParaRPr lang="en-US" sz="2800" dirty="0"/>
          </a:p>
        </p:txBody>
      </p:sp>
      <p:sp>
        <p:nvSpPr>
          <p:cNvPr id="3" name="Shape 1"/>
          <p:cNvSpPr/>
          <p:nvPr/>
        </p:nvSpPr>
        <p:spPr>
          <a:xfrm>
            <a:off x="815901" y="1295871"/>
            <a:ext cx="3549650" cy="3503513"/>
          </a:xfrm>
          <a:prstGeom prst="roundRect">
            <a:avLst>
              <a:gd name="adj" fmla="val 2809"/>
            </a:avLst>
          </a:prstGeom>
          <a:solidFill>
            <a:srgbClr val="FFFDF8"/>
          </a:solidFill>
          <a:ln w="6350">
            <a:solidFill>
              <a:srgbClr val="DDD7C8"/>
            </a:solidFill>
            <a:prstDash val="solid"/>
          </a:ln>
        </p:spPr>
      </p:sp>
      <p:sp>
        <p:nvSpPr>
          <p:cNvPr id="4" name="Text 2"/>
          <p:cNvSpPr/>
          <p:nvPr/>
        </p:nvSpPr>
        <p:spPr>
          <a:xfrm>
            <a:off x="998389" y="1478359"/>
            <a:ext cx="328021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8402B"/>
                </a:solidFill>
                <a:latin typeface="Inter" pitchFamily="34" charset="0"/>
                <a:ea typeface="Inter" pitchFamily="34" charset="-122"/>
                <a:cs typeface="Inter" pitchFamily="34" charset="-120"/>
              </a:rPr>
              <a:t>CUADERNO 03 · EDA DE AGENDA</a:t>
            </a:r>
            <a:endParaRPr lang="en-US" sz="1200" dirty="0"/>
          </a:p>
        </p:txBody>
      </p:sp>
      <p:sp>
        <p:nvSpPr>
          <p:cNvPr id="5" name="Text 3"/>
          <p:cNvSpPr/>
          <p:nvPr/>
        </p:nvSpPr>
        <p:spPr>
          <a:xfrm>
            <a:off x="1103545" y="1767830"/>
            <a:ext cx="3167438" cy="2204120"/>
          </a:xfrm>
          <a:prstGeom prst="rect">
            <a:avLst/>
          </a:prstGeom>
          <a:noFill/>
          <a:ln/>
        </p:spPr>
        <p:txBody>
          <a:bodyPr wrap="square" lIns="0" tIns="0" rIns="0" bIns="0" rtlCol="0" anchor="t">
            <a:normAutofit/>
          </a:bodyPr>
          <a:lstStyle/>
          <a:p>
            <a:pPr algn="l" marL="148844" indent="-148844">
              <a:lnSpc>
                <a:spcPts val="1560"/>
              </a:lnSpc>
              <a:buSzPct val="100000"/>
              <a:buChar char="•"/>
            </a:pPr>
            <a:r>
              <a:rPr lang="en-US" sz="1200" dirty="0">
                <a:solidFill>
                  <a:srgbClr val="1B2430"/>
                </a:solidFill>
                <a:latin typeface="Inter" pitchFamily="34" charset="0"/>
                <a:ea typeface="Inter" pitchFamily="34" charset="-122"/>
                <a:cs typeface="Inter" pitchFamily="34" charset="-120"/>
              </a:rPr>
              <a:t>Cobertura desigual por fuente y por año.</a:t>
            </a:r>
            <a:endParaRPr lang="en-US" sz="1200" dirty="0"/>
          </a:p>
          <a:p>
            <a:pPr algn="l" marL="148844" indent="-148844">
              <a:lnSpc>
                <a:spcPts val="1560"/>
              </a:lnSpc>
              <a:buSzPct val="100000"/>
              <a:buChar char="•"/>
            </a:pPr>
            <a:r>
              <a:rPr lang="en-US" sz="1200" dirty="0">
                <a:solidFill>
                  <a:srgbClr val="1B2430"/>
                </a:solidFill>
                <a:latin typeface="Inter" pitchFamily="34" charset="0"/>
                <a:ea typeface="Inter" pitchFamily="34" charset="-122"/>
                <a:cs typeface="Inter" pitchFamily="34" charset="-120"/>
              </a:rPr>
              <a:t>Tres resoluciones posibles: 31 años; 125 trimestres con 5 vacíos; 373 meses con 17 vacíos.</a:t>
            </a:r>
            <a:endParaRPr lang="en-US" sz="1200" dirty="0"/>
          </a:p>
          <a:p>
            <a:pPr algn="l" marL="148844" indent="-148844">
              <a:lnSpc>
                <a:spcPts val="1560"/>
              </a:lnSpc>
              <a:buSzPct val="100000"/>
              <a:buChar char="•"/>
            </a:pPr>
            <a:r>
              <a:rPr lang="en-US" sz="1200" dirty="0">
                <a:solidFill>
                  <a:srgbClr val="1B2430"/>
                </a:solidFill>
                <a:latin typeface="Inter" pitchFamily="34" charset="0"/>
                <a:ea typeface="Inter" pitchFamily="34" charset="-122"/>
                <a:cs typeface="Inter" pitchFamily="34" charset="-120"/>
              </a:rPr>
              <a:t>La hora de publicación no tiene información.</a:t>
            </a:r>
            <a:endParaRPr lang="en-US" sz="1200" dirty="0"/>
          </a:p>
          <a:p>
            <a:pPr algn="l" marL="148844" indent="-148844">
              <a:lnSpc>
                <a:spcPts val="1560"/>
              </a:lnSpc>
              <a:buSzPct val="100000"/>
              <a:buChar char="•"/>
            </a:pPr>
            <a:r>
              <a:rPr lang="en-US" sz="1200" dirty="0">
                <a:solidFill>
                  <a:srgbClr val="1B2430"/>
                </a:solidFill>
                <a:latin typeface="Inter" pitchFamily="34" charset="0"/>
                <a:ea typeface="Inter" pitchFamily="34" charset="-122"/>
                <a:cs typeface="Inter" pitchFamily="34" charset="-120"/>
              </a:rPr>
              <a:t>El vocabulario no se satura: 305.904 tipos.</a:t>
            </a:r>
            <a:endParaRPr lang="en-US" sz="1200" dirty="0"/>
          </a:p>
          <a:p>
            <a:pPr algn="l" marL="148844" indent="-148844">
              <a:lnSpc>
                <a:spcPts val="1560"/>
              </a:lnSpc>
              <a:buSzPct val="100000"/>
              <a:buChar char="•"/>
            </a:pPr>
            <a:r>
              <a:rPr lang="en-US" sz="1200" dirty="0">
                <a:solidFill>
                  <a:srgbClr val="1B2430"/>
                </a:solidFill>
                <a:latin typeface="Inter" pitchFamily="34" charset="0"/>
                <a:ea typeface="Inter" pitchFamily="34" charset="-122"/>
                <a:cs typeface="Inter" pitchFamily="34" charset="-120"/>
              </a:rPr>
              <a:t>~1 % de casi‑duplicados: 408 grupos, 919 documentos.</a:t>
            </a:r>
            <a:endParaRPr lang="en-US" sz="1200" dirty="0"/>
          </a:p>
        </p:txBody>
      </p:sp>
      <p:sp>
        <p:nvSpPr>
          <p:cNvPr id="6" name="Text 4"/>
          <p:cNvSpPr/>
          <p:nvPr/>
        </p:nvSpPr>
        <p:spPr>
          <a:xfrm>
            <a:off x="998389" y="4022700"/>
            <a:ext cx="3280214"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361"/>
                </a:solidFill>
                <a:latin typeface="Inter" pitchFamily="34" charset="0"/>
                <a:ea typeface="Inter" pitchFamily="34" charset="-122"/>
                <a:cs typeface="Inter" pitchFamily="34" charset="-120"/>
              </a:rPr>
              <a:t>Con eso se fijaron las condiciones del cuaderno 04: bienios hasta 1989 y trimestres desde 1990 (93 periodos).</a:t>
            </a:r>
            <a:endParaRPr lang="en-US" sz="1200" dirty="0"/>
          </a:p>
        </p:txBody>
      </p:sp>
      <p:sp>
        <p:nvSpPr>
          <p:cNvPr id="7" name="Text 5"/>
          <p:cNvSpPr/>
          <p:nvPr/>
        </p:nvSpPr>
        <p:spPr>
          <a:xfrm>
            <a:off x="4571876" y="1292696"/>
            <a:ext cx="701162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8402B"/>
                </a:solidFill>
                <a:latin typeface="Inter" pitchFamily="34" charset="0"/>
                <a:ea typeface="Inter" pitchFamily="34" charset="-122"/>
                <a:cs typeface="Inter" pitchFamily="34" charset="-120"/>
              </a:rPr>
              <a:t>CUADERNO 04 · TRES SEÑALES</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9813" y="1564680"/>
          <a:ext cx="6799461" cy="3114601"/>
        </p:xfrm>
        <a:graphic>
          <a:graphicData uri="http://schemas.openxmlformats.org/drawingml/2006/table">
            <a:tbl>
              <a:tblPr/>
              <a:tblGrid>
                <a:gridCol w="2266487"/>
                <a:gridCol w="2266487"/>
                <a:gridCol w="2266487"/>
              </a:tblGrid>
              <a:tr h="333003">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Señal</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Qué se calculó</a:t>
                      </a:r>
                      <a:endParaRPr lang="en-US" sz="1200" dirty="0">
                        <a:latin typeface="Inter" charset="0"/>
                        <a:ea typeface="Inter" charset="0"/>
                        <a:cs typeface="Inter" charset="0"/>
                      </a:endParaRPr>
                    </a:p>
                  </a:txBody>
                  <a:tcPr marL="88900" marR="88900" marT="63500" marB="635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Qué aprendimos</a:t>
                      </a:r>
                      <a:endParaRPr lang="en-US" sz="1200" dirty="0">
                        <a:latin typeface="Inter" charset="0"/>
                        <a:ea typeface="Inter" charset="0"/>
                        <a:cs typeface="Inter" charset="0"/>
                      </a:endParaRPr>
                    </a:p>
                  </a:txBody>
                  <a:tcPr marL="88900" marR="88900" marT="63500" marB="635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92719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Jensen‑Shannon</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Distribución de los 5.000 términos más frecuentes (70,9 % de los tokens), periodo contra el anterior</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Con pocos documentos parece haber más cambio solo por ruido</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92719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TF‑IDF y coseno</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TF‑IDF de 88.542 términos, promediado por periodo; coseno entre periodos consecutivos</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Lo distintivo son nombres propios y no hay referencia de qué distancia es grande</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92719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Kleinberg (2002)</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Ráfagas de dos estados en los 150 términos más frecuentes; cuántos están en ráfaga por periodo</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Supone periodos homogéneos y aquí se mezclaban bienios y trimestres</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9" name="Shape 6"/>
          <p:cNvSpPr/>
          <p:nvPr/>
        </p:nvSpPr>
        <p:spPr>
          <a:xfrm>
            <a:off x="812726" y="4993060"/>
            <a:ext cx="10566549" cy="750094"/>
          </a:xfrm>
          <a:prstGeom prst="roundRect">
            <a:avLst>
              <a:gd name="adj" fmla="val 13545"/>
            </a:avLst>
          </a:prstGeom>
          <a:solidFill>
            <a:srgbClr val="1B2430"/>
          </a:solidFill>
          <a:ln/>
        </p:spPr>
      </p:sp>
      <p:sp>
        <p:nvSpPr>
          <p:cNvPr id="10" name="Text 7"/>
          <p:cNvSpPr/>
          <p:nvPr/>
        </p:nvSpPr>
        <p:spPr>
          <a:xfrm>
            <a:off x="1041301" y="5154786"/>
            <a:ext cx="1701800" cy="452041"/>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REGLA COMBINADA</a:t>
            </a:r>
            <a:endParaRPr lang="en-US" sz="1200" dirty="0"/>
          </a:p>
        </p:txBody>
      </p:sp>
      <p:sp>
        <p:nvSpPr>
          <p:cNvPr id="11" name="Text 8"/>
          <p:cNvSpPr/>
          <p:nvPr/>
        </p:nvSpPr>
        <p:spPr>
          <a:xfrm>
            <a:off x="2870026" y="5145360"/>
            <a:ext cx="8529093" cy="47089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6F3EC"/>
                </a:solidFill>
                <a:latin typeface="Inter" pitchFamily="34" charset="0"/>
                <a:ea typeface="Inter" pitchFamily="34" charset="-122"/>
                <a:cs typeface="Inter" pitchFamily="34" charset="-120"/>
              </a:rPr>
              <a:t>Periodo candidato si al menos 2 de las 3 señales están en el cuartil superior: marcó </a:t>
            </a:r>
            <a:r>
              <a:rPr lang="en-US" sz="1300" b="1" dirty="0">
                <a:solidFill>
                  <a:srgbClr val="F6F3EC"/>
                </a:solidFill>
                <a:latin typeface="Inter" pitchFamily="34" charset="0"/>
                <a:ea typeface="Inter" pitchFamily="34" charset="-122"/>
                <a:cs typeface="Inter" pitchFamily="34" charset="-120"/>
              </a:rPr>
              <a:t>22 de 93 periodos (23,7 %)</a:t>
            </a:r>
            <a:r>
              <a:rPr lang="en-US" sz="1300" dirty="0">
                <a:solidFill>
                  <a:srgbClr val="F6F3EC"/>
                </a:solidFill>
                <a:latin typeface="Inter" pitchFamily="34" charset="0"/>
                <a:ea typeface="Inter" pitchFamily="34" charset="-122"/>
                <a:cs typeface="Inter" pitchFamily="34" charset="-120"/>
              </a:rPr>
              <a:t>, casi el 25 % que la regla produce por construcción.</a:t>
            </a:r>
            <a:endParaRPr lang="en-US" sz="1300" dirty="0"/>
          </a:p>
        </p:txBody>
      </p:sp>
      <p:sp>
        <p:nvSpPr>
          <p:cNvPr id="12" name="Text 9"/>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TF‑IDF como diagnóstico, no como modelo: sus defectos definieron el diseño de la Entrega 2</a:t>
            </a:r>
            <a:endParaRPr lang="en-US" sz="1200" dirty="0"/>
          </a:p>
        </p:txBody>
      </p:sp>
      <p:sp>
        <p:nvSpPr>
          <p:cNvPr id="13" name="Text 10"/>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Correcciones respecto a la Entrega 1 y al experimento</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300634"/>
          <a:ext cx="10558611" cy="3852416"/>
        </p:xfrm>
        <a:graphic>
          <a:graphicData uri="http://schemas.openxmlformats.org/drawingml/2006/table">
            <a:tbl>
              <a:tblPr/>
              <a:tblGrid>
                <a:gridCol w="3519537"/>
                <a:gridCol w="3519537"/>
                <a:gridCol w="3519537"/>
              </a:tblGrid>
              <a:tr h="333003">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Problema detectado</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Por qué es un problema</a:t>
                      </a:r>
                      <a:endParaRPr lang="en-US" sz="1200" dirty="0">
                        <a:latin typeface="Inter" charset="0"/>
                        <a:ea typeface="Inter" charset="0"/>
                        <a:cs typeface="Inter" charset="0"/>
                      </a:endParaRPr>
                    </a:p>
                  </a:txBody>
                  <a:tcPr marL="101600" marR="101600" marT="63500" marB="635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Qué se hace ahora</a:t>
                      </a:r>
                      <a:endParaRPr lang="en-US" sz="1200" dirty="0">
                        <a:latin typeface="Inter" charset="0"/>
                        <a:ea typeface="Inter" charset="0"/>
                        <a:cs typeface="Inter" charset="0"/>
                      </a:endParaRPr>
                    </a:p>
                  </a:txBody>
                  <a:tcPr marL="101600" marR="101600" marT="63500" marB="635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531068">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Regla de 2 de 3 señales en el cuartil superior</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Marca ~25 % de los periodos por construcción, haya cambio o no</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 descarta; el umbral sale de permutaciones (modelo nulo)</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31068">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Periodos mixtos: bienio hasta 1989, trimestre desde 1990</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La resolución cambia a mitad de la serie</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Resolución anual homogénea</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31068">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JS y coseno sin control del tamaño de muestra</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Con pocos documentos la divergencia es alta solo por ruido</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Piso de ruido calculado con permutaciones al mismo N</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31068">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Vocabulario top‑5.000 dominado por nombres propios</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Los cambios pueden ser de personajes, no de temas</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 mide el peso de las entidades y se repite el análisis sin ellas</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31068">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Fuente confundida con el tiempo</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Un cambio de fuente parece un cambio de agenda</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Todo por fuente; permutaciones estratificadas por fuente</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31068">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Kleinberg sobre 150 términos con periodos heterogéneos</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Supone periodos homogéneos y es muy sensible a los términos elegidos</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Prevalencia de tópicos más segmentación binaria</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333003">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Deduplicación min‑hash ruidosa</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Los casi‑duplicados inflan frecuencias</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 reporta (~1 %) y se deja como limitación</a:t>
                      </a:r>
                      <a:endParaRPr lang="en-US" sz="1200" dirty="0">
                        <a:latin typeface="Inter" charset="0"/>
                        <a:ea typeface="Inter" charset="0"/>
                        <a:cs typeface="Inter" charset="0"/>
                      </a:endParaRPr>
                    </a:p>
                  </a:txBody>
                  <a:tcPr marL="101600" marR="1016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2726" y="6025059"/>
            <a:ext cx="91567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TF‑IDF se mantiene, pero como entrada de un modelo de tópicos y no como distancia directa entre periodos · informe, sección 3</a:t>
            </a:r>
            <a:endParaRPr lang="en-US" sz="1200" dirty="0"/>
          </a:p>
        </p:txBody>
      </p:sp>
      <p:sp>
        <p:nvSpPr>
          <p:cNvPr id="5" name="Text 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4447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B2430"/>
                </a:solidFill>
                <a:latin typeface="Source Serif 4" pitchFamily="18" charset="0"/>
                <a:ea typeface="Source Serif 4" pitchFamily="18" charset="-122"/>
                <a:cs typeface="Source Serif 4" pitchFamily="18" charset="-120"/>
              </a:rPr>
              <a:t>El corpus</a:t>
            </a:r>
            <a:endParaRPr lang="en-US" sz="3000" dirty="0"/>
          </a:p>
        </p:txBody>
      </p:sp>
      <p:sp>
        <p:nvSpPr>
          <p:cNvPr id="3" name="Shape 1"/>
          <p:cNvSpPr/>
          <p:nvPr/>
        </p:nvSpPr>
        <p:spPr>
          <a:xfrm>
            <a:off x="815901" y="1361976"/>
            <a:ext cx="6915150" cy="3898032"/>
          </a:xfrm>
          <a:prstGeom prst="roundRect">
            <a:avLst>
              <a:gd name="adj" fmla="val 2525"/>
            </a:avLst>
          </a:prstGeom>
          <a:solidFill>
            <a:srgbClr val="FFFDF8"/>
          </a:solidFill>
          <a:ln w="6350">
            <a:solidFill>
              <a:srgbClr val="DDD7C8"/>
            </a:solidFill>
            <a:prstDash val="solid"/>
          </a:ln>
        </p:spPr>
      </p:sp>
      <p:sp>
        <p:nvSpPr>
          <p:cNvPr id="4" name="Text 2"/>
          <p:cNvSpPr/>
          <p:nvPr/>
        </p:nvSpPr>
        <p:spPr>
          <a:xfrm>
            <a:off x="998389" y="1544464"/>
            <a:ext cx="6746679" cy="256456"/>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0"/>
                </a:solidFill>
                <a:latin typeface="Inter" pitchFamily="34" charset="0"/>
                <a:ea typeface="Inter" pitchFamily="34" charset="-122"/>
                <a:cs typeface="Inter" pitchFamily="34" charset="-120"/>
              </a:rPr>
              <a:t>Documentos por año y fuente</a:t>
            </a:r>
            <a:endParaRPr lang="en-US" sz="1300" dirty="0"/>
          </a:p>
        </p:txBody>
      </p:sp>
      <p:pic>
        <p:nvPicPr>
          <p:cNvPr id="5" name="Image 0" descr="Documentos por año y fuente, 1980 a 2011">    </p:cNvPr>
          <p:cNvPicPr>
            <a:picLocks noChangeAspect="1"/>
          </p:cNvPicPr>
          <p:nvPr/>
        </p:nvPicPr>
        <p:blipFill>
          <a:blip r:embed="rId1"/>
          <a:srcRect l="-31" r="-31" t="0" b="0"/>
          <a:stretch/>
        </p:blipFill>
        <p:spPr>
          <a:xfrm>
            <a:off x="998389" y="1877095"/>
            <a:ext cx="6540500" cy="2425650"/>
          </a:xfrm>
          <a:prstGeom prst="rect">
            <a:avLst/>
          </a:prstGeom>
        </p:spPr>
      </p:pic>
      <p:sp>
        <p:nvSpPr>
          <p:cNvPr id="6" name="Text 3"/>
          <p:cNvSpPr/>
          <p:nvPr/>
        </p:nvSpPr>
        <p:spPr>
          <a:xfrm>
            <a:off x="998389" y="4404320"/>
            <a:ext cx="20633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A6F97"/>
                </a:solidFill>
                <a:latin typeface="Inter" pitchFamily="34" charset="0"/>
                <a:ea typeface="Inter" pitchFamily="34" charset="-122"/>
                <a:cs typeface="Inter" pitchFamily="34" charset="-120"/>
              </a:rPr>
              <a:t>■ El Tiempo (desde 1990)</a:t>
            </a:r>
            <a:endParaRPr lang="en-US" sz="1200" dirty="0"/>
          </a:p>
        </p:txBody>
      </p:sp>
      <p:sp>
        <p:nvSpPr>
          <p:cNvPr id="7" name="Text 4"/>
          <p:cNvSpPr/>
          <p:nvPr/>
        </p:nvSpPr>
        <p:spPr>
          <a:xfrm>
            <a:off x="3061767" y="4404320"/>
            <a:ext cx="87019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02B"/>
                </a:solidFill>
                <a:latin typeface="Inter" pitchFamily="34" charset="0"/>
                <a:ea typeface="Inter" pitchFamily="34" charset="-122"/>
                <a:cs typeface="Inter" pitchFamily="34" charset="-120"/>
              </a:rPr>
              <a:t>■ Semana</a:t>
            </a:r>
            <a:endParaRPr lang="en-US" sz="1200" dirty="0"/>
          </a:p>
        </p:txBody>
      </p:sp>
      <p:sp>
        <p:nvSpPr>
          <p:cNvPr id="8" name="Text 5"/>
          <p:cNvSpPr/>
          <p:nvPr/>
        </p:nvSpPr>
        <p:spPr>
          <a:xfrm>
            <a:off x="3990082" y="4404320"/>
            <a:ext cx="193640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8A6414"/>
                </a:solidFill>
                <a:latin typeface="Inter" pitchFamily="34" charset="0"/>
                <a:ea typeface="Inter" pitchFamily="34" charset="-122"/>
                <a:cs typeface="Inter" pitchFamily="34" charset="-120"/>
              </a:rPr>
              <a:t>■ Dinero (desde 1993)</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046889" y="1366738"/>
          <a:ext cx="3332386" cy="1580555"/>
        </p:xfrm>
        <a:graphic>
          <a:graphicData uri="http://schemas.openxmlformats.org/drawingml/2006/table">
            <a:tbl>
              <a:tblPr/>
              <a:tblGrid>
                <a:gridCol w="1110795"/>
                <a:gridCol w="1110795"/>
                <a:gridCol w="1110795"/>
              </a:tblGrid>
              <a:tr h="299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Fuente</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Docs</a:t>
                      </a:r>
                      <a:endParaRPr lang="en-US" sz="1200" dirty="0">
                        <a:latin typeface="Inter" charset="0"/>
                        <a:ea typeface="Inter" charset="0"/>
                        <a:cs typeface="Inter" charset="0"/>
                      </a:endParaRPr>
                    </a:p>
                  </a:txBody>
                  <a:tcPr marL="76200" marR="762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Años</a:t>
                      </a:r>
                      <a:endParaRPr lang="en-US" sz="1200" dirty="0">
                        <a:latin typeface="Inter" charset="0"/>
                        <a:ea typeface="Inter" charset="0"/>
                        <a:cs typeface="Inter" charset="0"/>
                      </a:endParaRPr>
                    </a:p>
                  </a:txBody>
                  <a:tcPr marL="76200" marR="762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Tiempo</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81.539</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1990–2011</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Semana</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6.620</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1980–2011, sin 1981</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Dinero</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3.426</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1993–2011, sin 1996</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10" name="Text 6"/>
          <p:cNvSpPr/>
          <p:nvPr/>
        </p:nvSpPr>
        <p:spPr>
          <a:xfrm>
            <a:off x="8038951" y="3048868"/>
            <a:ext cx="1657400" cy="34538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F5A7E"/>
                </a:solidFill>
                <a:latin typeface="Source Serif 4" pitchFamily="18" charset="0"/>
                <a:ea typeface="Source Serif 4" pitchFamily="18" charset="-122"/>
                <a:cs typeface="Source Serif 4" pitchFamily="18" charset="-120"/>
              </a:rPr>
              <a:t>91.585</a:t>
            </a:r>
            <a:endParaRPr lang="en-US" sz="2400" dirty="0"/>
          </a:p>
        </p:txBody>
      </p:sp>
      <p:sp>
        <p:nvSpPr>
          <p:cNvPr id="11" name="Text 7"/>
          <p:cNvSpPr/>
          <p:nvPr/>
        </p:nvSpPr>
        <p:spPr>
          <a:xfrm>
            <a:off x="8038951" y="3381499"/>
            <a:ext cx="165740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361"/>
                </a:solidFill>
                <a:latin typeface="Inter" pitchFamily="34" charset="0"/>
                <a:ea typeface="Inter" pitchFamily="34" charset="-122"/>
                <a:cs typeface="Inter" pitchFamily="34" charset="-120"/>
              </a:rPr>
              <a:t>documentos únicos</a:t>
            </a:r>
            <a:endParaRPr lang="en-US" sz="1200" dirty="0"/>
          </a:p>
        </p:txBody>
      </p:sp>
      <p:sp>
        <p:nvSpPr>
          <p:cNvPr id="12" name="Text 8"/>
          <p:cNvSpPr/>
          <p:nvPr/>
        </p:nvSpPr>
        <p:spPr>
          <a:xfrm>
            <a:off x="9772551" y="3048868"/>
            <a:ext cx="1657524" cy="345380"/>
          </a:xfrm>
          <a:prstGeom prst="rect">
            <a:avLst/>
          </a:prstGeom>
          <a:noFill/>
          <a:ln/>
        </p:spPr>
        <p:txBody>
          <a:bodyPr wrap="square" lIns="0" tIns="0" rIns="0" bIns="0" rtlCol="0" anchor="t">
            <a:normAutofit/>
          </a:bodyPr>
          <a:lstStyle/>
          <a:p>
            <a:pPr algn="l" indent="0" marL="0">
              <a:lnSpc>
                <a:spcPts val="2520"/>
              </a:lnSpc>
              <a:buNone/>
            </a:pPr>
            <a:r>
              <a:rPr lang="en-US" sz="2400" b="1" dirty="0">
                <a:solidFill>
                  <a:srgbClr val="1F5A7E"/>
                </a:solidFill>
                <a:latin typeface="Source Serif 4" pitchFamily="18" charset="0"/>
                <a:ea typeface="Source Serif 4" pitchFamily="18" charset="-122"/>
                <a:cs typeface="Source Serif 4" pitchFamily="18" charset="-120"/>
              </a:rPr>
              <a:t>15,5 M</a:t>
            </a:r>
            <a:endParaRPr lang="en-US" sz="2400" dirty="0"/>
          </a:p>
        </p:txBody>
      </p:sp>
      <p:sp>
        <p:nvSpPr>
          <p:cNvPr id="13" name="Text 9"/>
          <p:cNvSpPr/>
          <p:nvPr/>
        </p:nvSpPr>
        <p:spPr>
          <a:xfrm>
            <a:off x="9772551" y="3381499"/>
            <a:ext cx="165752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361"/>
                </a:solidFill>
                <a:latin typeface="Inter" pitchFamily="34" charset="0"/>
                <a:ea typeface="Inter" pitchFamily="34" charset="-122"/>
                <a:cs typeface="Inter" pitchFamily="34" charset="-120"/>
              </a:rPr>
              <a:t>tokens de contenido</a:t>
            </a:r>
            <a:endParaRPr lang="en-US" sz="1200" dirty="0"/>
          </a:p>
        </p:txBody>
      </p:sp>
      <p:sp>
        <p:nvSpPr>
          <p:cNvPr id="14" name="Text 10"/>
          <p:cNvSpPr/>
          <p:nvPr/>
        </p:nvSpPr>
        <p:spPr>
          <a:xfrm>
            <a:off x="8038951" y="3673574"/>
            <a:ext cx="3440533"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361"/>
                </a:solidFill>
                <a:latin typeface="Inter" pitchFamily="34" charset="0"/>
                <a:ea typeface="Inter" pitchFamily="34" charset="-122"/>
                <a:cs typeface="Inter" pitchFamily="34" charset="-120"/>
              </a:rPr>
              <a:t>El Tiempo: 807 documentos en 1990 y caídas a 2.231 (1999) y 2.358 (2006) frente a 4–5 mil en años vecinos.</a:t>
            </a:r>
            <a:endParaRPr lang="en-US" sz="1200" dirty="0"/>
          </a:p>
        </p:txBody>
      </p:sp>
      <p:sp>
        <p:nvSpPr>
          <p:cNvPr id="15" name="Text 11"/>
          <p:cNvSpPr/>
          <p:nvPr/>
        </p:nvSpPr>
        <p:spPr>
          <a:xfrm>
            <a:off x="8038951" y="4369346"/>
            <a:ext cx="3440533"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361"/>
                </a:solidFill>
                <a:latin typeface="Inter" pitchFamily="34" charset="0"/>
                <a:ea typeface="Inter" pitchFamily="34" charset="-122"/>
                <a:cs typeface="Inter" pitchFamily="34" charset="-120"/>
              </a:rPr>
              <a:t>Dinero: menos de 100 por año hasta 2004; 532–668 entre 2007 y 2010.</a:t>
            </a:r>
            <a:endParaRPr lang="en-US" sz="1200" dirty="0"/>
          </a:p>
        </p:txBody>
      </p:sp>
      <p:sp>
        <p:nvSpPr>
          <p:cNvPr id="16" name="Text 12"/>
          <p:cNvSpPr/>
          <p:nvPr/>
        </p:nvSpPr>
        <p:spPr>
          <a:xfrm>
            <a:off x="8038951" y="4867052"/>
            <a:ext cx="3440533" cy="421531"/>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A8402B"/>
                </a:solidFill>
                <a:latin typeface="Inter" pitchFamily="34" charset="0"/>
                <a:ea typeface="Inter" pitchFamily="34" charset="-122"/>
                <a:cs typeface="Inter" pitchFamily="34" charset="-120"/>
              </a:rPr>
              <a:t>1980–89: solo Semana, 31–166 documentos por año.</a:t>
            </a:r>
            <a:endParaRPr lang="en-US" sz="1200" dirty="0"/>
          </a:p>
        </p:txBody>
      </p:sp>
      <p:sp>
        <p:nvSpPr>
          <p:cNvPr id="17" name="Text 13"/>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Fuente: NoticiasColombia (Hugging Face, yabramuvdi) · cuadernos 01 y 05</a:t>
            </a:r>
            <a:endParaRPr lang="en-US" sz="1200" dirty="0"/>
          </a:p>
        </p:txBody>
      </p:sp>
      <p:sp>
        <p:nvSpPr>
          <p:cNvPr id="18" name="Text 14"/>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Preprocesamiento paso a paso</a:t>
            </a:r>
            <a:endParaRPr lang="en-US" sz="2800" dirty="0"/>
          </a:p>
        </p:txBody>
      </p:sp>
      <p:sp>
        <p:nvSpPr>
          <p:cNvPr id="3" name="Shape 1"/>
          <p:cNvSpPr/>
          <p:nvPr/>
        </p:nvSpPr>
        <p:spPr>
          <a:xfrm>
            <a:off x="815901" y="1295871"/>
            <a:ext cx="3422650" cy="1172369"/>
          </a:xfrm>
          <a:prstGeom prst="roundRect">
            <a:avLst>
              <a:gd name="adj" fmla="val 8395"/>
            </a:avLst>
          </a:prstGeom>
          <a:solidFill>
            <a:srgbClr val="FFFDF8"/>
          </a:solidFill>
          <a:ln w="6350">
            <a:solidFill>
              <a:srgbClr val="DDD7C8"/>
            </a:solidFill>
            <a:prstDash val="solid"/>
          </a:ln>
        </p:spPr>
      </p:sp>
      <p:sp>
        <p:nvSpPr>
          <p:cNvPr id="4" name="Text 2"/>
          <p:cNvSpPr/>
          <p:nvPr/>
        </p:nvSpPr>
        <p:spPr>
          <a:xfrm>
            <a:off x="972964" y="1452935"/>
            <a:ext cx="320177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1 · Deduplicar</a:t>
            </a:r>
            <a:endParaRPr lang="en-US" sz="1200" dirty="0"/>
          </a:p>
        </p:txBody>
      </p:sp>
      <p:sp>
        <p:nvSpPr>
          <p:cNvPr id="5" name="Text 3"/>
          <p:cNvSpPr/>
          <p:nvPr/>
        </p:nvSpPr>
        <p:spPr>
          <a:xfrm>
            <a:off x="972964" y="1716980"/>
            <a:ext cx="3201779"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Texto en minúsculas y con espacios colapsados. 91.749 → 91.585 documentos: 164 duplicados (123 exactos).</a:t>
            </a:r>
            <a:endParaRPr lang="en-US" sz="1200" dirty="0"/>
          </a:p>
        </p:txBody>
      </p:sp>
      <p:sp>
        <p:nvSpPr>
          <p:cNvPr id="6" name="Shape 4"/>
          <p:cNvSpPr/>
          <p:nvPr/>
        </p:nvSpPr>
        <p:spPr>
          <a:xfrm>
            <a:off x="4384551" y="1295871"/>
            <a:ext cx="3422774" cy="1172369"/>
          </a:xfrm>
          <a:prstGeom prst="roundRect">
            <a:avLst>
              <a:gd name="adj" fmla="val 8395"/>
            </a:avLst>
          </a:prstGeom>
          <a:solidFill>
            <a:srgbClr val="FFFDF8"/>
          </a:solidFill>
          <a:ln w="6350">
            <a:solidFill>
              <a:srgbClr val="DDD7C8"/>
            </a:solidFill>
            <a:prstDash val="solid"/>
          </a:ln>
        </p:spPr>
      </p:sp>
      <p:sp>
        <p:nvSpPr>
          <p:cNvPr id="7" name="Text 5"/>
          <p:cNvSpPr/>
          <p:nvPr/>
        </p:nvSpPr>
        <p:spPr>
          <a:xfrm>
            <a:off x="4541614" y="1452935"/>
            <a:ext cx="320190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2 · Normalizar</a:t>
            </a:r>
            <a:endParaRPr lang="en-US" sz="1200" dirty="0"/>
          </a:p>
        </p:txBody>
      </p:sp>
      <p:sp>
        <p:nvSpPr>
          <p:cNvPr id="8" name="Text 6"/>
          <p:cNvSpPr/>
          <p:nvPr/>
        </p:nvSpPr>
        <p:spPr>
          <a:xfrm>
            <a:off x="4541614" y="1716980"/>
            <a:ext cx="3201907"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Se reúnen cifras y horas que la tokenización de origen partió con espacios y se quitan caracteres de control.</a:t>
            </a:r>
            <a:endParaRPr lang="en-US" sz="1200" dirty="0"/>
          </a:p>
        </p:txBody>
      </p:sp>
      <p:sp>
        <p:nvSpPr>
          <p:cNvPr id="9" name="Shape 7"/>
          <p:cNvSpPr/>
          <p:nvPr/>
        </p:nvSpPr>
        <p:spPr>
          <a:xfrm>
            <a:off x="7953325" y="1295871"/>
            <a:ext cx="3422650" cy="1172369"/>
          </a:xfrm>
          <a:prstGeom prst="roundRect">
            <a:avLst>
              <a:gd name="adj" fmla="val 8395"/>
            </a:avLst>
          </a:prstGeom>
          <a:solidFill>
            <a:srgbClr val="FFFDF8"/>
          </a:solidFill>
          <a:ln w="6350">
            <a:solidFill>
              <a:srgbClr val="DDD7C8"/>
            </a:solidFill>
            <a:prstDash val="solid"/>
          </a:ln>
        </p:spPr>
      </p:sp>
      <p:sp>
        <p:nvSpPr>
          <p:cNvPr id="10" name="Text 8"/>
          <p:cNvSpPr/>
          <p:nvPr/>
        </p:nvSpPr>
        <p:spPr>
          <a:xfrm>
            <a:off x="8110389" y="1452935"/>
            <a:ext cx="320177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3 · Tokenizar</a:t>
            </a:r>
            <a:endParaRPr lang="en-US" sz="1200" dirty="0"/>
          </a:p>
        </p:txBody>
      </p:sp>
      <p:sp>
        <p:nvSpPr>
          <p:cNvPr id="11" name="Text 9"/>
          <p:cNvSpPr/>
          <p:nvPr/>
        </p:nvSpPr>
        <p:spPr>
          <a:xfrm>
            <a:off x="8110389" y="1716980"/>
            <a:ext cx="3201779"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Expresión regular sobre letras (con tilde y ñ), minúsculas, sin números. 31,9 M de tokens.</a:t>
            </a:r>
            <a:endParaRPr lang="en-US" sz="1200" dirty="0"/>
          </a:p>
        </p:txBody>
      </p:sp>
      <p:sp>
        <p:nvSpPr>
          <p:cNvPr id="12" name="Shape 10"/>
          <p:cNvSpPr/>
          <p:nvPr/>
        </p:nvSpPr>
        <p:spPr>
          <a:xfrm>
            <a:off x="815901" y="2614240"/>
            <a:ext cx="3422650" cy="1172369"/>
          </a:xfrm>
          <a:prstGeom prst="roundRect">
            <a:avLst>
              <a:gd name="adj" fmla="val 8395"/>
            </a:avLst>
          </a:prstGeom>
          <a:solidFill>
            <a:srgbClr val="FFFDF8"/>
          </a:solidFill>
          <a:ln w="6350">
            <a:solidFill>
              <a:srgbClr val="DDD7C8"/>
            </a:solidFill>
            <a:prstDash val="solid"/>
          </a:ln>
        </p:spPr>
      </p:sp>
      <p:sp>
        <p:nvSpPr>
          <p:cNvPr id="13" name="Text 11"/>
          <p:cNvSpPr/>
          <p:nvPr/>
        </p:nvSpPr>
        <p:spPr>
          <a:xfrm>
            <a:off x="972964" y="2771304"/>
            <a:ext cx="320177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4 · Tokens de contenido</a:t>
            </a:r>
            <a:endParaRPr lang="en-US" sz="1200" dirty="0"/>
          </a:p>
        </p:txBody>
      </p:sp>
      <p:sp>
        <p:nvSpPr>
          <p:cNvPr id="14" name="Text 12"/>
          <p:cNvSpPr/>
          <p:nvPr/>
        </p:nvSpPr>
        <p:spPr>
          <a:xfrm>
            <a:off x="972964" y="3035350"/>
            <a:ext cx="3201779"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Sin stopwords (NLTK español más lista corta de prensa: dijo, año, según, ayer) y longitud ≥ 3. 15,5 M de tokens.</a:t>
            </a:r>
            <a:endParaRPr lang="en-US" sz="1200" dirty="0"/>
          </a:p>
        </p:txBody>
      </p:sp>
      <p:sp>
        <p:nvSpPr>
          <p:cNvPr id="15" name="Shape 13"/>
          <p:cNvSpPr/>
          <p:nvPr/>
        </p:nvSpPr>
        <p:spPr>
          <a:xfrm>
            <a:off x="4384551" y="2614240"/>
            <a:ext cx="3422774" cy="1172369"/>
          </a:xfrm>
          <a:prstGeom prst="roundRect">
            <a:avLst>
              <a:gd name="adj" fmla="val 8395"/>
            </a:avLst>
          </a:prstGeom>
          <a:solidFill>
            <a:srgbClr val="FFFDF8"/>
          </a:solidFill>
          <a:ln w="6350">
            <a:solidFill>
              <a:srgbClr val="DDD7C8"/>
            </a:solidFill>
            <a:prstDash val="solid"/>
          </a:ln>
        </p:spPr>
      </p:sp>
      <p:sp>
        <p:nvSpPr>
          <p:cNvPr id="16" name="Text 14"/>
          <p:cNvSpPr/>
          <p:nvPr/>
        </p:nvSpPr>
        <p:spPr>
          <a:xfrm>
            <a:off x="4541614" y="2771304"/>
            <a:ext cx="320190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5 · Entidades (proxy)</a:t>
            </a:r>
            <a:endParaRPr lang="en-US" sz="1200" dirty="0"/>
          </a:p>
        </p:txBody>
      </p:sp>
      <p:sp>
        <p:nvSpPr>
          <p:cNvPr id="17" name="Text 15"/>
          <p:cNvSpPr/>
          <p:nvPr/>
        </p:nvSpPr>
        <p:spPr>
          <a:xfrm>
            <a:off x="4541614" y="3035350"/>
            <a:ext cx="3201907"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Mayúscula inicial a mitad de oración y no todo en mayúsculas. Son el 22 % de los tokens de contenido.</a:t>
            </a:r>
            <a:endParaRPr lang="en-US" sz="1200" dirty="0"/>
          </a:p>
        </p:txBody>
      </p:sp>
      <p:sp>
        <p:nvSpPr>
          <p:cNvPr id="18" name="Shape 16"/>
          <p:cNvSpPr/>
          <p:nvPr/>
        </p:nvSpPr>
        <p:spPr>
          <a:xfrm>
            <a:off x="7953325" y="2614240"/>
            <a:ext cx="3422650" cy="1172369"/>
          </a:xfrm>
          <a:prstGeom prst="roundRect">
            <a:avLst>
              <a:gd name="adj" fmla="val 8395"/>
            </a:avLst>
          </a:prstGeom>
          <a:solidFill>
            <a:srgbClr val="FFFDF8"/>
          </a:solidFill>
          <a:ln w="6350">
            <a:solidFill>
              <a:srgbClr val="DDD7C8"/>
            </a:solidFill>
            <a:prstDash val="solid"/>
          </a:ln>
        </p:spPr>
      </p:sp>
      <p:sp>
        <p:nvSpPr>
          <p:cNvPr id="19" name="Text 17"/>
          <p:cNvSpPr/>
          <p:nvPr/>
        </p:nvSpPr>
        <p:spPr>
          <a:xfrm>
            <a:off x="8110389" y="2771304"/>
            <a:ext cx="320177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02B"/>
                </a:solidFill>
                <a:latin typeface="Inter" pitchFamily="34" charset="0"/>
                <a:ea typeface="Inter" pitchFamily="34" charset="-122"/>
                <a:cs typeface="Inter" pitchFamily="34" charset="-120"/>
              </a:rPr>
              <a:t>6 · Sin lematizar</a:t>
            </a:r>
            <a:endParaRPr lang="en-US" sz="1200" dirty="0"/>
          </a:p>
        </p:txBody>
      </p:sp>
      <p:sp>
        <p:nvSpPr>
          <p:cNvPr id="20" name="Text 18"/>
          <p:cNvSpPr/>
          <p:nvPr/>
        </p:nvSpPr>
        <p:spPr>
          <a:xfrm>
            <a:off x="8110389" y="3035350"/>
            <a:ext cx="3201779"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spaCy sobre 32 M de tokens es demasiado lento en Colab gratis. Queda como limitación y mejora.</a:t>
            </a:r>
            <a:endParaRPr lang="en-US" sz="1200" dirty="0"/>
          </a:p>
        </p:txBody>
      </p:sp>
      <p:sp>
        <p:nvSpPr>
          <p:cNvPr id="21" name="Shape 19"/>
          <p:cNvSpPr/>
          <p:nvPr/>
        </p:nvSpPr>
        <p:spPr>
          <a:xfrm>
            <a:off x="812726" y="3980284"/>
            <a:ext cx="3429000" cy="1322958"/>
          </a:xfrm>
          <a:prstGeom prst="roundRect">
            <a:avLst>
              <a:gd name="adj" fmla="val 7680"/>
            </a:avLst>
          </a:prstGeom>
          <a:solidFill>
            <a:srgbClr val="1B2430"/>
          </a:solidFill>
          <a:ln/>
        </p:spPr>
      </p:sp>
      <p:sp>
        <p:nvSpPr>
          <p:cNvPr id="22" name="Text 20"/>
          <p:cNvSpPr/>
          <p:nvPr/>
        </p:nvSpPr>
        <p:spPr>
          <a:xfrm>
            <a:off x="990451" y="4119935"/>
            <a:ext cx="316575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0A43A"/>
                </a:solidFill>
                <a:latin typeface="Inter" pitchFamily="34" charset="0"/>
                <a:ea typeface="Inter" pitchFamily="34" charset="-122"/>
                <a:cs typeface="Inter" pitchFamily="34" charset="-120"/>
              </a:rPr>
              <a:t>Muestra de ajuste</a:t>
            </a:r>
            <a:endParaRPr lang="en-US" sz="1200" dirty="0"/>
          </a:p>
        </p:txBody>
      </p:sp>
      <p:sp>
        <p:nvSpPr>
          <p:cNvPr id="23" name="Text 21"/>
          <p:cNvSpPr/>
          <p:nvPr/>
        </p:nvSpPr>
        <p:spPr>
          <a:xfrm>
            <a:off x="990451" y="4371330"/>
            <a:ext cx="3165755"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Hasta 1.000 documentos por año (~22.500) para aprender TF‑IDF y NMF; luego se proyectan los 91.585.</a:t>
            </a:r>
            <a:endParaRPr lang="en-US" sz="1200" dirty="0"/>
          </a:p>
        </p:txBody>
      </p:sp>
      <p:sp>
        <p:nvSpPr>
          <p:cNvPr id="24" name="Shape 22"/>
          <p:cNvSpPr/>
          <p:nvPr/>
        </p:nvSpPr>
        <p:spPr>
          <a:xfrm>
            <a:off x="4381376" y="3980284"/>
            <a:ext cx="3429124" cy="1322958"/>
          </a:xfrm>
          <a:prstGeom prst="roundRect">
            <a:avLst>
              <a:gd name="adj" fmla="val 7680"/>
            </a:avLst>
          </a:prstGeom>
          <a:solidFill>
            <a:srgbClr val="1B2430"/>
          </a:solidFill>
          <a:ln/>
        </p:spPr>
      </p:sp>
      <p:sp>
        <p:nvSpPr>
          <p:cNvPr id="25" name="Text 23"/>
          <p:cNvSpPr/>
          <p:nvPr/>
        </p:nvSpPr>
        <p:spPr>
          <a:xfrm>
            <a:off x="4559102" y="4119935"/>
            <a:ext cx="316588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0A43A"/>
                </a:solidFill>
                <a:latin typeface="Inter" pitchFamily="34" charset="0"/>
                <a:ea typeface="Inter" pitchFamily="34" charset="-122"/>
                <a:cs typeface="Inter" pitchFamily="34" charset="-120"/>
              </a:rPr>
              <a:t>Resolución temporal</a:t>
            </a:r>
            <a:endParaRPr lang="en-US" sz="1200" dirty="0"/>
          </a:p>
        </p:txBody>
      </p:sp>
      <p:sp>
        <p:nvSpPr>
          <p:cNvPr id="26" name="Text 24"/>
          <p:cNvSpPr/>
          <p:nvPr/>
        </p:nvSpPr>
        <p:spPr>
          <a:xfrm>
            <a:off x="4559102" y="4371330"/>
            <a:ext cx="3165883"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Anual (31 años con datos). La hora es siempre 04:00 o 05:00. Años con menos de 40 documentos no se analizan.</a:t>
            </a:r>
            <a:endParaRPr lang="en-US" sz="1200" dirty="0"/>
          </a:p>
        </p:txBody>
      </p:sp>
      <p:sp>
        <p:nvSpPr>
          <p:cNvPr id="27" name="Shape 25"/>
          <p:cNvSpPr/>
          <p:nvPr/>
        </p:nvSpPr>
        <p:spPr>
          <a:xfrm>
            <a:off x="7950150" y="3980284"/>
            <a:ext cx="3429000" cy="1322958"/>
          </a:xfrm>
          <a:prstGeom prst="roundRect">
            <a:avLst>
              <a:gd name="adj" fmla="val 7680"/>
            </a:avLst>
          </a:prstGeom>
          <a:solidFill>
            <a:srgbClr val="1B2430"/>
          </a:solidFill>
          <a:ln/>
        </p:spPr>
      </p:sp>
      <p:sp>
        <p:nvSpPr>
          <p:cNvPr id="28" name="Text 26"/>
          <p:cNvSpPr/>
          <p:nvPr/>
        </p:nvSpPr>
        <p:spPr>
          <a:xfrm>
            <a:off x="8127876" y="4119935"/>
            <a:ext cx="316575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0A43A"/>
                </a:solidFill>
                <a:latin typeface="Inter" pitchFamily="34" charset="0"/>
                <a:ea typeface="Inter" pitchFamily="34" charset="-122"/>
                <a:cs typeface="Inter" pitchFamily="34" charset="-120"/>
              </a:rPr>
              <a:t>Longitud de los artículos</a:t>
            </a:r>
            <a:endParaRPr lang="en-US" sz="1200" dirty="0"/>
          </a:p>
        </p:txBody>
      </p:sp>
      <p:sp>
        <p:nvSpPr>
          <p:cNvPr id="29" name="Text 27"/>
          <p:cNvSpPr/>
          <p:nvPr/>
        </p:nvSpPr>
        <p:spPr>
          <a:xfrm>
            <a:off x="8127876" y="4371330"/>
            <a:ext cx="3165755" cy="817662"/>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Mediana de 245 palabras (media 348). 408 documentos con marcadores de maquetación (VER GRÁFICO, FOTO, TABLA).</a:t>
            </a:r>
            <a:endParaRPr lang="en-US" sz="1200" dirty="0"/>
          </a:p>
        </p:txBody>
      </p:sp>
      <p:sp>
        <p:nvSpPr>
          <p:cNvPr id="30" name="Text 28"/>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Cuadernos 01 y 05 · informe, sección 5</a:t>
            </a:r>
            <a:endParaRPr lang="en-US" sz="1200" dirty="0"/>
          </a:p>
        </p:txBody>
      </p:sp>
      <p:sp>
        <p:nvSpPr>
          <p:cNvPr id="31" name="Text 29"/>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EDA 1 · Diversidad léxica por año y fuente</a:t>
            </a:r>
            <a:endParaRPr lang="en-US" sz="2800" dirty="0"/>
          </a:p>
        </p:txBody>
      </p:sp>
      <p:sp>
        <p:nvSpPr>
          <p:cNvPr id="3" name="Shape 1"/>
          <p:cNvSpPr/>
          <p:nvPr/>
        </p:nvSpPr>
        <p:spPr>
          <a:xfrm>
            <a:off x="815901" y="1283097"/>
            <a:ext cx="6851650" cy="2686819"/>
          </a:xfrm>
          <a:prstGeom prst="roundRect">
            <a:avLst>
              <a:gd name="adj" fmla="val 3663"/>
            </a:avLst>
          </a:prstGeom>
          <a:solidFill>
            <a:srgbClr val="FFFFFF"/>
          </a:solidFill>
          <a:ln w="6350">
            <a:solidFill>
              <a:srgbClr val="DDD7C8"/>
            </a:solidFill>
            <a:prstDash val="solid"/>
          </a:ln>
        </p:spPr>
      </p:sp>
      <p:pic>
        <p:nvPicPr>
          <p:cNvPr id="4" name="Image 0" descr="MATTR y Yule's K por año y fuente: todas las fuentes caen hacia 2001 y 2004-05">    </p:cNvPr>
          <p:cNvPicPr>
            <a:picLocks noChangeAspect="1"/>
          </p:cNvPicPr>
          <p:nvPr/>
        </p:nvPicPr>
        <p:blipFill>
          <a:blip r:embed="rId1"/>
          <a:srcRect l="0" r="0" t="-54" b="-54"/>
          <a:stretch/>
        </p:blipFill>
        <p:spPr>
          <a:xfrm>
            <a:off x="947663" y="1414859"/>
            <a:ext cx="6604000" cy="2000250"/>
          </a:xfrm>
          <a:prstGeom prst="rect">
            <a:avLst/>
          </a:prstGeom>
        </p:spPr>
      </p:pic>
      <p:sp>
        <p:nvSpPr>
          <p:cNvPr id="5" name="Text 2"/>
          <p:cNvSpPr/>
          <p:nvPr/>
        </p:nvSpPr>
        <p:spPr>
          <a:xfrm>
            <a:off x="947663" y="3478609"/>
            <a:ext cx="67857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Cada punto usa una muestra de 30.000 tokens de contenido por año y fuente.</a:t>
            </a:r>
            <a:endParaRPr lang="en-US" sz="1200" dirty="0"/>
          </a:p>
        </p:txBody>
      </p:sp>
      <p:sp>
        <p:nvSpPr>
          <p:cNvPr id="6" name="Text 3"/>
          <p:cNvSpPr/>
          <p:nvPr/>
        </p:nvSpPr>
        <p:spPr>
          <a:xfrm>
            <a:off x="7851626" y="1283097"/>
            <a:ext cx="3524473" cy="832172"/>
          </a:xfrm>
          <a:prstGeom prst="roundRect">
            <a:avLst>
              <a:gd name="adj" fmla="val 11827"/>
            </a:avLst>
          </a:prstGeom>
          <a:solidFill>
            <a:srgbClr val="FFFDF8"/>
          </a:solidFill>
          <a:ln w="6350">
            <a:solidFill>
              <a:srgbClr val="DDD7C8"/>
            </a:solidFill>
            <a:prstDash val="solid"/>
          </a:ln>
        </p:spPr>
        <p:txBody>
          <a:bodyPr wrap="square" lIns="115585" tIns="90235" rIns="18516" bIns="64686" rtlCol="0" anchor="t">
            <a:normAutofit/>
          </a:bodyPr>
          <a:lstStyle/>
          <a:p>
            <a:pPr algn="l" indent="0" marL="0">
              <a:lnSpc>
                <a:spcPts val="1560"/>
              </a:lnSpc>
              <a:buNone/>
            </a:pPr>
            <a:r>
              <a:rPr lang="en-US" sz="1200" b="1" dirty="0">
                <a:solidFill>
                  <a:srgbClr val="1F5A7E"/>
                </a:solidFill>
                <a:latin typeface="Inter" pitchFamily="34" charset="0"/>
                <a:ea typeface="Inter" pitchFamily="34" charset="-122"/>
                <a:cs typeface="Inter" pitchFamily="34" charset="-120"/>
              </a:rPr>
              <a:t>MATTR</a:t>
            </a:r>
            <a:r>
              <a:rPr lang="en-US" sz="1200" dirty="0">
                <a:solidFill>
                  <a:srgbClr val="1B2430"/>
                </a:solidFill>
                <a:latin typeface="Inter" pitchFamily="34" charset="0"/>
                <a:ea typeface="Inter" pitchFamily="34" charset="-122"/>
                <a:cs typeface="Inter" pitchFamily="34" charset="-120"/>
              </a:rPr>
              <a:t>: ventana de 500 palabras que se desliza de a una; tipos distintos / 500, promediado. Menor valor = más repetición.</a:t>
            </a:r>
            <a:endParaRPr lang="en-US" sz="1200" dirty="0"/>
          </a:p>
        </p:txBody>
      </p:sp>
      <p:sp>
        <p:nvSpPr>
          <p:cNvPr id="7" name="Text 4"/>
          <p:cNvSpPr/>
          <p:nvPr/>
        </p:nvSpPr>
        <p:spPr>
          <a:xfrm>
            <a:off x="7851626" y="2210420"/>
            <a:ext cx="3524473" cy="832172"/>
          </a:xfrm>
          <a:prstGeom prst="roundRect">
            <a:avLst>
              <a:gd name="adj" fmla="val 11827"/>
            </a:avLst>
          </a:prstGeom>
          <a:solidFill>
            <a:srgbClr val="FFFDF8"/>
          </a:solidFill>
          <a:ln w="6350">
            <a:solidFill>
              <a:srgbClr val="DDD7C8"/>
            </a:solidFill>
            <a:prstDash val="solid"/>
          </a:ln>
        </p:spPr>
        <p:txBody>
          <a:bodyPr wrap="square" lIns="115585" tIns="90235" rIns="18516" bIns="64686" rtlCol="0" anchor="t">
            <a:normAutofit/>
          </a:bodyPr>
          <a:lstStyle/>
          <a:p>
            <a:pPr algn="l" indent="0" marL="0">
              <a:lnSpc>
                <a:spcPts val="1560"/>
              </a:lnSpc>
              <a:buNone/>
            </a:pPr>
            <a:r>
              <a:rPr lang="en-US" sz="1200" b="1" dirty="0">
                <a:solidFill>
                  <a:srgbClr val="1F5A7E"/>
                </a:solidFill>
                <a:latin typeface="Inter" pitchFamily="34" charset="0"/>
                <a:ea typeface="Inter" pitchFamily="34" charset="-122"/>
                <a:cs typeface="Inter" pitchFamily="34" charset="-120"/>
              </a:rPr>
              <a:t>Yule's K</a:t>
            </a:r>
            <a:r>
              <a:rPr lang="en-US" sz="1200" dirty="0">
                <a:solidFill>
                  <a:srgbClr val="1B2430"/>
                </a:solidFill>
                <a:latin typeface="Inter" pitchFamily="34" charset="0"/>
                <a:ea typeface="Inter" pitchFamily="34" charset="-122"/>
                <a:cs typeface="Inter" pitchFamily="34" charset="-120"/>
              </a:rPr>
              <a:t> = 10⁴ (Σ m²·Vm − N) / N². Mayor K = texto concentrado en pocas palabras repetidas.</a:t>
            </a:r>
            <a:endParaRPr lang="en-US" sz="1200" dirty="0"/>
          </a:p>
        </p:txBody>
      </p:sp>
      <p:sp>
        <p:nvSpPr>
          <p:cNvPr id="8" name="Text 5"/>
          <p:cNvSpPr/>
          <p:nvPr/>
        </p:nvSpPr>
        <p:spPr>
          <a:xfrm>
            <a:off x="7851626" y="3137743"/>
            <a:ext cx="3524473" cy="832172"/>
          </a:xfrm>
          <a:prstGeom prst="roundRect">
            <a:avLst>
              <a:gd name="adj" fmla="val 11827"/>
            </a:avLst>
          </a:prstGeom>
          <a:solidFill>
            <a:srgbClr val="FFFDF8"/>
          </a:solidFill>
          <a:ln w="6350">
            <a:solidFill>
              <a:srgbClr val="DDD7C8"/>
            </a:solidFill>
            <a:prstDash val="solid"/>
          </a:ln>
        </p:spPr>
        <p:txBody>
          <a:bodyPr wrap="square" lIns="115585" tIns="90235" rIns="18516" bIns="64686" rtlCol="0" anchor="t">
            <a:normAutofit/>
          </a:bodyPr>
          <a:lstStyle/>
          <a:p>
            <a:pPr algn="l" indent="0" marL="0">
              <a:lnSpc>
                <a:spcPts val="1560"/>
              </a:lnSpc>
              <a:buNone/>
            </a:pPr>
            <a:r>
              <a:rPr lang="en-US" sz="1200" b="1" dirty="0">
                <a:solidFill>
                  <a:srgbClr val="1F5A7E"/>
                </a:solidFill>
                <a:latin typeface="Inter" pitchFamily="34" charset="0"/>
                <a:ea typeface="Inter" pitchFamily="34" charset="-122"/>
                <a:cs typeface="Inter" pitchFamily="34" charset="-120"/>
              </a:rPr>
              <a:t>Muestra igual</a:t>
            </a:r>
            <a:r>
              <a:rPr lang="en-US" sz="1200" dirty="0">
                <a:solidFill>
                  <a:srgbClr val="1B2430"/>
                </a:solidFill>
                <a:latin typeface="Inter" pitchFamily="34" charset="0"/>
                <a:ea typeface="Inter" pitchFamily="34" charset="-122"/>
                <a:cs typeface="Inter" pitchFamily="34" charset="-120"/>
              </a:rPr>
              <a:t> por grupo: el TTR simple depende de la longitud del texto y no sirve para comparar años.</a:t>
            </a:r>
            <a:endParaRPr lang="en-US" sz="1200" dirty="0"/>
          </a:p>
        </p:txBody>
      </p:sp>
      <p:sp>
        <p:nvSpPr>
          <p:cNvPr id="9" name="Shape 6"/>
          <p:cNvSpPr/>
          <p:nvPr/>
        </p:nvSpPr>
        <p:spPr>
          <a:xfrm>
            <a:off x="812726" y="4150816"/>
            <a:ext cx="3420566" cy="1204888"/>
          </a:xfrm>
          <a:prstGeom prst="roundRect">
            <a:avLst>
              <a:gd name="adj" fmla="val 8432"/>
            </a:avLst>
          </a:prstGeom>
          <a:solidFill>
            <a:srgbClr val="1B2430"/>
          </a:solidFill>
          <a:ln/>
        </p:spPr>
      </p:sp>
      <p:sp>
        <p:nvSpPr>
          <p:cNvPr id="10" name="Text 7"/>
          <p:cNvSpPr/>
          <p:nvPr/>
        </p:nvSpPr>
        <p:spPr>
          <a:xfrm>
            <a:off x="990451" y="4290467"/>
            <a:ext cx="3157069"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E0A43A"/>
                </a:solidFill>
                <a:latin typeface="Source Serif 4" pitchFamily="18" charset="0"/>
                <a:ea typeface="Source Serif 4" pitchFamily="18" charset="-122"/>
                <a:cs typeface="Source Serif 4" pitchFamily="18" charset="-120"/>
              </a:rPr>
              <a:t>0,80 → 0,75</a:t>
            </a:r>
            <a:endParaRPr lang="en-US" sz="2200" dirty="0"/>
          </a:p>
        </p:txBody>
      </p:sp>
      <p:sp>
        <p:nvSpPr>
          <p:cNvPr id="11" name="Text 8"/>
          <p:cNvSpPr/>
          <p:nvPr/>
        </p:nvSpPr>
        <p:spPr>
          <a:xfrm>
            <a:off x="990451" y="4621857"/>
            <a:ext cx="3157069"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D9D4C7"/>
                </a:solidFill>
                <a:latin typeface="Inter" pitchFamily="34" charset="0"/>
                <a:ea typeface="Inter" pitchFamily="34" charset="-122"/>
                <a:cs typeface="Inter" pitchFamily="34" charset="-120"/>
              </a:rPr>
              <a:t>MATTR baja de los años 80–90 a los 2000.</a:t>
            </a:r>
            <a:endParaRPr lang="en-US" sz="1200" dirty="0"/>
          </a:p>
        </p:txBody>
      </p:sp>
      <p:sp>
        <p:nvSpPr>
          <p:cNvPr id="12" name="Shape 9"/>
          <p:cNvSpPr/>
          <p:nvPr/>
        </p:nvSpPr>
        <p:spPr>
          <a:xfrm>
            <a:off x="4385593" y="4150816"/>
            <a:ext cx="3420690" cy="1204888"/>
          </a:xfrm>
          <a:prstGeom prst="roundRect">
            <a:avLst>
              <a:gd name="adj" fmla="val 8432"/>
            </a:avLst>
          </a:prstGeom>
          <a:solidFill>
            <a:srgbClr val="1B2430"/>
          </a:solidFill>
          <a:ln/>
        </p:spPr>
      </p:sp>
      <p:sp>
        <p:nvSpPr>
          <p:cNvPr id="13" name="Text 10"/>
          <p:cNvSpPr/>
          <p:nvPr/>
        </p:nvSpPr>
        <p:spPr>
          <a:xfrm>
            <a:off x="4563318" y="4290467"/>
            <a:ext cx="3157196"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E0A43A"/>
                </a:solidFill>
                <a:latin typeface="Source Serif 4" pitchFamily="18" charset="0"/>
                <a:ea typeface="Source Serif 4" pitchFamily="18" charset="-122"/>
                <a:cs typeface="Source Serif 4" pitchFamily="18" charset="-120"/>
              </a:rPr>
              <a:t>2001 y 2004–05</a:t>
            </a:r>
            <a:endParaRPr lang="en-US" sz="2200" dirty="0"/>
          </a:p>
        </p:txBody>
      </p:sp>
      <p:sp>
        <p:nvSpPr>
          <p:cNvPr id="14" name="Text 11"/>
          <p:cNvSpPr/>
          <p:nvPr/>
        </p:nvSpPr>
        <p:spPr>
          <a:xfrm>
            <a:off x="4563318" y="4621857"/>
            <a:ext cx="3157196"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D9D4C7"/>
                </a:solidFill>
                <a:latin typeface="Inter" pitchFamily="34" charset="0"/>
                <a:ea typeface="Inter" pitchFamily="34" charset="-122"/>
                <a:cs typeface="Inter" pitchFamily="34" charset="-120"/>
              </a:rPr>
              <a:t>Caída simultánea en las tres fuentes: señal de cambio de formato del archivo, no de estilo.</a:t>
            </a:r>
            <a:endParaRPr lang="en-US" sz="1200" dirty="0"/>
          </a:p>
        </p:txBody>
      </p:sp>
      <p:sp>
        <p:nvSpPr>
          <p:cNvPr id="15" name="Shape 12"/>
          <p:cNvSpPr/>
          <p:nvPr/>
        </p:nvSpPr>
        <p:spPr>
          <a:xfrm>
            <a:off x="7958584" y="4150816"/>
            <a:ext cx="3420690" cy="1204888"/>
          </a:xfrm>
          <a:prstGeom prst="roundRect">
            <a:avLst>
              <a:gd name="adj" fmla="val 8432"/>
            </a:avLst>
          </a:prstGeom>
          <a:solidFill>
            <a:srgbClr val="1B2430"/>
          </a:solidFill>
          <a:ln/>
        </p:spPr>
      </p:sp>
      <p:sp>
        <p:nvSpPr>
          <p:cNvPr id="16" name="Text 13"/>
          <p:cNvSpPr/>
          <p:nvPr/>
        </p:nvSpPr>
        <p:spPr>
          <a:xfrm>
            <a:off x="8136310" y="4290467"/>
            <a:ext cx="3157196"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E0A43A"/>
                </a:solidFill>
                <a:latin typeface="Source Serif 4" pitchFamily="18" charset="0"/>
                <a:ea typeface="Source Serif 4" pitchFamily="18" charset="-122"/>
                <a:cs typeface="Source Serif 4" pitchFamily="18" charset="-120"/>
              </a:rPr>
              <a:t>K: 3 · 4 · 5</a:t>
            </a:r>
            <a:endParaRPr lang="en-US" sz="2200" dirty="0"/>
          </a:p>
        </p:txBody>
      </p:sp>
      <p:sp>
        <p:nvSpPr>
          <p:cNvPr id="17" name="Text 14"/>
          <p:cNvSpPr/>
          <p:nvPr/>
        </p:nvSpPr>
        <p:spPr>
          <a:xfrm>
            <a:off x="8136310" y="4621857"/>
            <a:ext cx="3157196"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D9D4C7"/>
                </a:solidFill>
                <a:latin typeface="Inter" pitchFamily="34" charset="0"/>
                <a:ea typeface="Inter" pitchFamily="34" charset="-122"/>
                <a:cs typeface="Inter" pitchFamily="34" charset="-120"/>
              </a:rPr>
              <a:t>El Tiempo ~3–3,5; Semana 3,3–4,6; Dinero 4,3–5,5 (léxico financiero repetitivo).</a:t>
            </a:r>
            <a:endParaRPr lang="en-US" sz="1200" dirty="0"/>
          </a:p>
        </p:txBody>
      </p:sp>
      <p:sp>
        <p:nvSpPr>
          <p:cNvPr id="18" name="Text 15"/>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Covington y McFall (2010) · Yule (1944) · cuaderno 05 · informe, sección 6.1</a:t>
            </a:r>
            <a:endParaRPr lang="en-US" sz="1200" dirty="0"/>
          </a:p>
        </p:txBody>
      </p:sp>
      <p:sp>
        <p:nvSpPr>
          <p:cNvPr id="19" name="Text 16"/>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EDA 2 · Vocabulario que no se cierra y nombres propios</a:t>
            </a:r>
            <a:endParaRPr lang="en-US" sz="2800" dirty="0"/>
          </a:p>
        </p:txBody>
      </p:sp>
      <p:sp>
        <p:nvSpPr>
          <p:cNvPr id="3" name="Shape 1"/>
          <p:cNvSpPr/>
          <p:nvPr/>
        </p:nvSpPr>
        <p:spPr>
          <a:xfrm>
            <a:off x="815901" y="1283097"/>
            <a:ext cx="5073650" cy="2915146"/>
          </a:xfrm>
          <a:prstGeom prst="roundRect">
            <a:avLst>
              <a:gd name="adj" fmla="val 3376"/>
            </a:avLst>
          </a:prstGeom>
          <a:solidFill>
            <a:srgbClr val="FFFFFF"/>
          </a:solidFill>
          <a:ln w="6350">
            <a:solidFill>
              <a:srgbClr val="DDD7C8"/>
            </a:solidFill>
            <a:prstDash val="solid"/>
          </a:ln>
        </p:spPr>
      </p:sp>
      <p:pic>
        <p:nvPicPr>
          <p:cNvPr id="4" name="Image 0" descr="Fracción de tokens que son entidades por año: sube de 12–15 % a 17–20 % en 1990">    </p:cNvPr>
          <p:cNvPicPr>
            <a:picLocks noChangeAspect="1"/>
          </p:cNvPicPr>
          <p:nvPr/>
        </p:nvPicPr>
        <p:blipFill>
          <a:blip r:embed="rId1"/>
          <a:srcRect l="-68" r="-68" t="0" b="0"/>
          <a:stretch/>
        </p:blipFill>
        <p:spPr>
          <a:xfrm>
            <a:off x="947663" y="1414859"/>
            <a:ext cx="4826000" cy="2374801"/>
          </a:xfrm>
          <a:prstGeom prst="rect">
            <a:avLst/>
          </a:prstGeom>
        </p:spPr>
      </p:pic>
      <p:sp>
        <p:nvSpPr>
          <p:cNvPr id="5" name="Text 2"/>
          <p:cNvSpPr/>
          <p:nvPr/>
        </p:nvSpPr>
        <p:spPr>
          <a:xfrm>
            <a:off x="947663" y="3853160"/>
            <a:ext cx="495442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Fracción de tokens que son entidades (proxy), por año.</a:t>
            </a:r>
            <a:endParaRPr lang="en-US" sz="1200" dirty="0"/>
          </a:p>
        </p:txBody>
      </p:sp>
      <p:sp>
        <p:nvSpPr>
          <p:cNvPr id="6" name="Text 3"/>
          <p:cNvSpPr/>
          <p:nvPr/>
        </p:nvSpPr>
        <p:spPr>
          <a:xfrm>
            <a:off x="6070451" y="1279922"/>
            <a:ext cx="5468088" cy="256456"/>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5A7E"/>
                </a:solidFill>
                <a:latin typeface="Inter" pitchFamily="34" charset="0"/>
                <a:ea typeface="Inter" pitchFamily="34" charset="-122"/>
                <a:cs typeface="Inter" pitchFamily="34" charset="-120"/>
              </a:rPr>
              <a:t>Ley de Heaps: V = k · Nβ</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078389" y="1595065"/>
          <a:ext cx="5300886" cy="1499443"/>
        </p:xfrm>
        <a:graphic>
          <a:graphicData uri="http://schemas.openxmlformats.org/drawingml/2006/table">
            <a:tbl>
              <a:tblPr/>
              <a:tblGrid>
                <a:gridCol w="1766962"/>
                <a:gridCol w="1766962"/>
                <a:gridCol w="1766962"/>
              </a:tblGrid>
              <a:tr h="299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Grupo</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k</a:t>
                      </a:r>
                      <a:endParaRPr lang="en-US" sz="1200" dirty="0">
                        <a:latin typeface="Inter" charset="0"/>
                        <a:ea typeface="Inter" charset="0"/>
                        <a:cs typeface="Inter" charset="0"/>
                      </a:endParaRPr>
                    </a:p>
                  </a:txBody>
                  <a:tcPr marL="76200" marR="762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β</a:t>
                      </a:r>
                      <a:endParaRPr lang="en-US" sz="1200" dirty="0">
                        <a:latin typeface="Inter" charset="0"/>
                        <a:ea typeface="Inter" charset="0"/>
                        <a:cs typeface="Inter" charset="0"/>
                      </a:endParaRPr>
                    </a:p>
                  </a:txBody>
                  <a:tcPr marL="76200" marR="762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Global</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130,0</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0,46</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Tiempo</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130,3</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0,46</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Semana</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75,3</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0,50</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Dinero</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52,1</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0,51</a:t>
                      </a:r>
                      <a:endParaRPr lang="en-US" sz="1200" dirty="0">
                        <a:latin typeface="Inter" charset="0"/>
                        <a:ea typeface="Inter" charset="0"/>
                        <a:cs typeface="Inter" charset="0"/>
                      </a:endParaRPr>
                    </a:p>
                  </a:txBody>
                  <a:tcPr marL="76200" marR="762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8" name="Text 4"/>
          <p:cNvSpPr/>
          <p:nvPr/>
        </p:nvSpPr>
        <p:spPr>
          <a:xfrm>
            <a:off x="6070451" y="3170659"/>
            <a:ext cx="5468088"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361"/>
                </a:solidFill>
                <a:latin typeface="Inter" pitchFamily="34" charset="0"/>
                <a:ea typeface="Inter" pitchFamily="34" charset="-122"/>
                <a:cs typeface="Inter" pitchFamily="34" charset="-120"/>
              </a:rPr>
              <a:t>β cercano a 0,5 significa que cada texto nuevo sigue aportando palabras nuevas (nombres, cifras, neologismos): el vocabulario no se puede cerrar.</a:t>
            </a:r>
            <a:endParaRPr lang="en-US" sz="1200" dirty="0"/>
          </a:p>
        </p:txBody>
      </p:sp>
      <p:sp>
        <p:nvSpPr>
          <p:cNvPr id="9" name="Text 5"/>
          <p:cNvSpPr/>
          <p:nvPr/>
        </p:nvSpPr>
        <p:spPr>
          <a:xfrm>
            <a:off x="815901" y="4382319"/>
            <a:ext cx="3414216" cy="857721"/>
          </a:xfrm>
          <a:prstGeom prst="roundRect">
            <a:avLst>
              <a:gd name="adj" fmla="val 11475"/>
            </a:avLst>
          </a:prstGeom>
          <a:solidFill>
            <a:srgbClr val="FFFDF8"/>
          </a:solidFill>
          <a:ln w="6350">
            <a:solidFill>
              <a:srgbClr val="DDD7C8"/>
            </a:solidFill>
            <a:prstDash val="solid"/>
          </a:ln>
        </p:spPr>
        <p:txBody>
          <a:bodyPr wrap="square" lIns="128236" tIns="102935" rIns="35233" bIns="77535" rtlCol="0" anchor="t">
            <a:normAutofit/>
          </a:bodyPr>
          <a:lstStyle/>
          <a:p>
            <a:pPr algn="l" indent="0" marL="0">
              <a:lnSpc>
                <a:spcPts val="1560"/>
              </a:lnSpc>
              <a:buNone/>
            </a:pPr>
            <a:r>
              <a:rPr lang="en-US" sz="1200" b="1" dirty="0">
                <a:solidFill>
                  <a:srgbClr val="1B2430"/>
                </a:solidFill>
                <a:latin typeface="Inter" pitchFamily="34" charset="0"/>
                <a:ea typeface="Inter" pitchFamily="34" charset="-122"/>
                <a:cs typeface="Inter" pitchFamily="34" charset="-120"/>
              </a:rPr>
              <a:t>266.562 tipos</a:t>
            </a:r>
            <a:r>
              <a:rPr lang="en-US" sz="1200" dirty="0">
                <a:solidFill>
                  <a:srgbClr val="1B2430"/>
                </a:solidFill>
                <a:latin typeface="Inter" pitchFamily="34" charset="0"/>
                <a:ea typeface="Inter" pitchFamily="34" charset="-122"/>
                <a:cs typeface="Inter" pitchFamily="34" charset="-120"/>
              </a:rPr>
              <a:t>; el 42,3 % aparece una sola vez (hapax). Los 5.000 más frecuentes cubren el 70,9 % de los tokens.</a:t>
            </a:r>
            <a:endParaRPr lang="en-US" sz="1200" dirty="0"/>
          </a:p>
        </p:txBody>
      </p:sp>
      <p:sp>
        <p:nvSpPr>
          <p:cNvPr id="10" name="Text 6"/>
          <p:cNvSpPr/>
          <p:nvPr/>
        </p:nvSpPr>
        <p:spPr>
          <a:xfrm>
            <a:off x="4388768" y="4382319"/>
            <a:ext cx="3414340" cy="857721"/>
          </a:xfrm>
          <a:prstGeom prst="roundRect">
            <a:avLst>
              <a:gd name="adj" fmla="val 11475"/>
            </a:avLst>
          </a:prstGeom>
          <a:solidFill>
            <a:srgbClr val="FFFDF8"/>
          </a:solidFill>
          <a:ln w="6350">
            <a:solidFill>
              <a:srgbClr val="DDD7C8"/>
            </a:solidFill>
            <a:prstDash val="solid"/>
          </a:ln>
        </p:spPr>
        <p:txBody>
          <a:bodyPr wrap="square" lIns="128236" tIns="102935" rIns="35229" bIns="77535" rtlCol="0" anchor="t">
            <a:normAutofit/>
          </a:bodyPr>
          <a:lstStyle/>
          <a:p>
            <a:pPr algn="l" indent="0" marL="0">
              <a:lnSpc>
                <a:spcPts val="1560"/>
              </a:lnSpc>
              <a:buNone/>
            </a:pPr>
            <a:r>
              <a:rPr lang="en-US" sz="1200" b="1" dirty="0">
                <a:solidFill>
                  <a:srgbClr val="1B2430"/>
                </a:solidFill>
                <a:latin typeface="Inter" pitchFamily="34" charset="0"/>
                <a:ea typeface="Inter" pitchFamily="34" charset="-122"/>
                <a:cs typeface="Inter" pitchFamily="34" charset="-120"/>
              </a:rPr>
              <a:t>22 %</a:t>
            </a:r>
            <a:r>
              <a:rPr lang="en-US" sz="1200" dirty="0">
                <a:solidFill>
                  <a:srgbClr val="1B2430"/>
                </a:solidFill>
                <a:latin typeface="Inter" pitchFamily="34" charset="0"/>
                <a:ea typeface="Inter" pitchFamily="34" charset="-122"/>
                <a:cs typeface="Inter" pitchFamily="34" charset="-120"/>
              </a:rPr>
              <a:t> de los tokens de contenido son nombres propios: 12–15 % en los años 80 y 17–20 % desde 1990.</a:t>
            </a:r>
            <a:endParaRPr lang="en-US" sz="1200" dirty="0"/>
          </a:p>
        </p:txBody>
      </p:sp>
      <p:sp>
        <p:nvSpPr>
          <p:cNvPr id="11" name="Text 7"/>
          <p:cNvSpPr/>
          <p:nvPr/>
        </p:nvSpPr>
        <p:spPr>
          <a:xfrm>
            <a:off x="7961759" y="4382319"/>
            <a:ext cx="3414340" cy="857721"/>
          </a:xfrm>
          <a:prstGeom prst="roundRect">
            <a:avLst>
              <a:gd name="adj" fmla="val 11475"/>
            </a:avLst>
          </a:prstGeom>
          <a:solidFill>
            <a:srgbClr val="FFFDF8"/>
          </a:solidFill>
          <a:ln w="6350">
            <a:solidFill>
              <a:srgbClr val="A8402B"/>
            </a:solidFill>
            <a:prstDash val="solid"/>
          </a:ln>
        </p:spPr>
        <p:txBody>
          <a:bodyPr wrap="square" lIns="128236" tIns="102935" rIns="35229" bIns="77535"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El salto de 1989 a 1990 coincide con el cambio de fuente: es un efecto de fuente, no de época.</a:t>
            </a:r>
            <a:endParaRPr lang="en-US" sz="1200" dirty="0"/>
          </a:p>
        </p:txBody>
      </p:sp>
      <p:sp>
        <p:nvSpPr>
          <p:cNvPr id="12" name="Text 8"/>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Cuadernos 04 y 05 · informe, secciones 5 y 6.5</a:t>
            </a:r>
            <a:endParaRPr lang="en-US" sz="1200" dirty="0"/>
          </a:p>
        </p:txBody>
      </p:sp>
      <p:sp>
        <p:nvSpPr>
          <p:cNvPr id="13" name="Text 9"/>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EDA 3 · Colocaciones (bigramas y trigramas con NPMI)</a:t>
            </a:r>
            <a:endParaRPr lang="en-US" sz="2800" dirty="0"/>
          </a:p>
        </p:txBody>
      </p:sp>
      <p:sp>
        <p:nvSpPr>
          <p:cNvPr id="3" name="Shape 1"/>
          <p:cNvSpPr/>
          <p:nvPr/>
        </p:nvSpPr>
        <p:spPr>
          <a:xfrm>
            <a:off x="815901" y="1283097"/>
            <a:ext cx="4819650" cy="2659410"/>
          </a:xfrm>
          <a:prstGeom prst="roundRect">
            <a:avLst>
              <a:gd name="adj" fmla="val 3701"/>
            </a:avLst>
          </a:prstGeom>
          <a:solidFill>
            <a:srgbClr val="FFFDF8"/>
          </a:solidFill>
          <a:ln w="6350">
            <a:solidFill>
              <a:srgbClr val="DDD7C8"/>
            </a:solidFill>
            <a:prstDash val="solid"/>
          </a:ln>
        </p:spPr>
      </p:sp>
      <p:sp>
        <p:nvSpPr>
          <p:cNvPr id="4" name="Text 2"/>
          <p:cNvSpPr/>
          <p:nvPr/>
        </p:nvSpPr>
        <p:spPr>
          <a:xfrm>
            <a:off x="972964" y="1440160"/>
            <a:ext cx="464068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Trigramas más frecuentes</a:t>
            </a:r>
            <a:endParaRPr lang="en-US" sz="1200" dirty="0"/>
          </a:p>
        </p:txBody>
      </p:sp>
      <p:sp>
        <p:nvSpPr>
          <p:cNvPr id="5" name="Shape 3"/>
          <p:cNvSpPr/>
          <p:nvPr/>
        </p:nvSpPr>
        <p:spPr>
          <a:xfrm>
            <a:off x="972964" y="1795487"/>
            <a:ext cx="2667000" cy="165075"/>
          </a:xfrm>
          <a:prstGeom prst="roundRect">
            <a:avLst>
              <a:gd name="adj" fmla="val 15387"/>
            </a:avLst>
          </a:prstGeom>
          <a:solidFill>
            <a:srgbClr val="2A6F97"/>
          </a:solidFill>
          <a:ln/>
        </p:spPr>
      </p:sp>
      <p:sp>
        <p:nvSpPr>
          <p:cNvPr id="6" name="Text 4"/>
          <p:cNvSpPr/>
          <p:nvPr/>
        </p:nvSpPr>
        <p:spPr>
          <a:xfrm>
            <a:off x="3716114" y="1710531"/>
            <a:ext cx="1815244" cy="360511"/>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1.292 · juan manuel santos</a:t>
            </a:r>
            <a:endParaRPr lang="en-US" sz="1200" dirty="0"/>
          </a:p>
        </p:txBody>
      </p:sp>
      <p:sp>
        <p:nvSpPr>
          <p:cNvPr id="7" name="Shape 5"/>
          <p:cNvSpPr/>
          <p:nvPr/>
        </p:nvSpPr>
        <p:spPr>
          <a:xfrm>
            <a:off x="972964" y="2187649"/>
            <a:ext cx="2374801" cy="165075"/>
          </a:xfrm>
          <a:prstGeom prst="roundRect">
            <a:avLst>
              <a:gd name="adj" fmla="val 15387"/>
            </a:avLst>
          </a:prstGeom>
          <a:solidFill>
            <a:srgbClr val="2A6F97"/>
          </a:solidFill>
          <a:ln/>
        </p:spPr>
      </p:sp>
      <p:sp>
        <p:nvSpPr>
          <p:cNvPr id="8" name="Text 6"/>
          <p:cNvSpPr/>
          <p:nvPr/>
        </p:nvSpPr>
        <p:spPr>
          <a:xfrm>
            <a:off x="3423915" y="2102693"/>
            <a:ext cx="2116209" cy="360511"/>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1.152 · presidente álvaro uribe</a:t>
            </a:r>
            <a:endParaRPr lang="en-US" sz="1200" dirty="0"/>
          </a:p>
        </p:txBody>
      </p:sp>
      <p:sp>
        <p:nvSpPr>
          <p:cNvPr id="9" name="Shape 7"/>
          <p:cNvSpPr/>
          <p:nvPr/>
        </p:nvSpPr>
        <p:spPr>
          <a:xfrm>
            <a:off x="972964" y="2496096"/>
            <a:ext cx="1104801" cy="165075"/>
          </a:xfrm>
          <a:prstGeom prst="roundRect">
            <a:avLst>
              <a:gd name="adj" fmla="val 15387"/>
            </a:avLst>
          </a:prstGeom>
          <a:solidFill>
            <a:srgbClr val="2A6F97"/>
          </a:solidFill>
          <a:ln/>
        </p:spPr>
      </p:sp>
      <p:sp>
        <p:nvSpPr>
          <p:cNvPr id="10" name="Text 8"/>
          <p:cNvSpPr/>
          <p:nvPr/>
        </p:nvSpPr>
        <p:spPr>
          <a:xfrm>
            <a:off x="2153915" y="2494855"/>
            <a:ext cx="2440930" cy="192956"/>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534 · producto interno bruto</a:t>
            </a:r>
            <a:endParaRPr lang="en-US" sz="1200" dirty="0"/>
          </a:p>
        </p:txBody>
      </p:sp>
      <p:sp>
        <p:nvSpPr>
          <p:cNvPr id="11" name="Shape 9"/>
          <p:cNvSpPr/>
          <p:nvPr/>
        </p:nvSpPr>
        <p:spPr>
          <a:xfrm>
            <a:off x="972964" y="2720702"/>
            <a:ext cx="1041301" cy="165075"/>
          </a:xfrm>
          <a:prstGeom prst="roundRect">
            <a:avLst>
              <a:gd name="adj" fmla="val 15387"/>
            </a:avLst>
          </a:prstGeom>
          <a:solidFill>
            <a:srgbClr val="2A6F97"/>
          </a:solidFill>
          <a:ln/>
        </p:spPr>
      </p:sp>
      <p:sp>
        <p:nvSpPr>
          <p:cNvPr id="12" name="Text 10"/>
          <p:cNvSpPr/>
          <p:nvPr/>
        </p:nvSpPr>
        <p:spPr>
          <a:xfrm>
            <a:off x="2090415" y="2719462"/>
            <a:ext cx="3087588" cy="192956"/>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504 · fondo monetario internacional</a:t>
            </a:r>
            <a:endParaRPr lang="en-US" sz="1200" dirty="0"/>
          </a:p>
        </p:txBody>
      </p:sp>
      <p:sp>
        <p:nvSpPr>
          <p:cNvPr id="13" name="Shape 11"/>
          <p:cNvSpPr/>
          <p:nvPr/>
        </p:nvSpPr>
        <p:spPr>
          <a:xfrm>
            <a:off x="972964" y="2945309"/>
            <a:ext cx="1028650" cy="165075"/>
          </a:xfrm>
          <a:prstGeom prst="roundRect">
            <a:avLst>
              <a:gd name="adj" fmla="val 15387"/>
            </a:avLst>
          </a:prstGeom>
          <a:solidFill>
            <a:srgbClr val="2A6F97"/>
          </a:solidFill>
          <a:ln/>
        </p:spPr>
      </p:sp>
      <p:sp>
        <p:nvSpPr>
          <p:cNvPr id="14" name="Text 12"/>
          <p:cNvSpPr/>
          <p:nvPr/>
        </p:nvSpPr>
        <p:spPr>
          <a:xfrm>
            <a:off x="2077765" y="2944068"/>
            <a:ext cx="2823865" cy="192956"/>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498 · presidente ernesto samper</a:t>
            </a:r>
            <a:endParaRPr lang="en-US" sz="1200" dirty="0"/>
          </a:p>
        </p:txBody>
      </p:sp>
      <p:sp>
        <p:nvSpPr>
          <p:cNvPr id="15" name="Shape 13"/>
          <p:cNvSpPr/>
          <p:nvPr/>
        </p:nvSpPr>
        <p:spPr>
          <a:xfrm>
            <a:off x="972964" y="3169915"/>
            <a:ext cx="933400" cy="165075"/>
          </a:xfrm>
          <a:prstGeom prst="roundRect">
            <a:avLst>
              <a:gd name="adj" fmla="val 15387"/>
            </a:avLst>
          </a:prstGeom>
          <a:solidFill>
            <a:srgbClr val="2A6F97"/>
          </a:solidFill>
          <a:ln/>
        </p:spPr>
      </p:sp>
      <p:sp>
        <p:nvSpPr>
          <p:cNvPr id="16" name="Text 14"/>
          <p:cNvSpPr/>
          <p:nvPr/>
        </p:nvSpPr>
        <p:spPr>
          <a:xfrm>
            <a:off x="1982515" y="3168675"/>
            <a:ext cx="2570708" cy="192956"/>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453 · presidente césar gaviria</a:t>
            </a:r>
            <a:endParaRPr lang="en-US" sz="1200" dirty="0"/>
          </a:p>
        </p:txBody>
      </p:sp>
      <p:sp>
        <p:nvSpPr>
          <p:cNvPr id="17" name="Shape 15"/>
          <p:cNvSpPr/>
          <p:nvPr/>
        </p:nvSpPr>
        <p:spPr>
          <a:xfrm>
            <a:off x="972964" y="3394521"/>
            <a:ext cx="927075" cy="165075"/>
          </a:xfrm>
          <a:prstGeom prst="roundRect">
            <a:avLst>
              <a:gd name="adj" fmla="val 15387"/>
            </a:avLst>
          </a:prstGeom>
          <a:solidFill>
            <a:srgbClr val="2A6F97"/>
          </a:solidFill>
          <a:ln/>
        </p:spPr>
      </p:sp>
      <p:sp>
        <p:nvSpPr>
          <p:cNvPr id="18" name="Text 16"/>
          <p:cNvSpPr/>
          <p:nvPr/>
        </p:nvSpPr>
        <p:spPr>
          <a:xfrm>
            <a:off x="1976189" y="3393281"/>
            <a:ext cx="1768971" cy="192956"/>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451 · new york times</a:t>
            </a:r>
            <a:endParaRPr lang="en-US" sz="1200" dirty="0"/>
          </a:p>
        </p:txBody>
      </p:sp>
      <p:sp>
        <p:nvSpPr>
          <p:cNvPr id="19" name="Shape 17"/>
          <p:cNvSpPr/>
          <p:nvPr/>
        </p:nvSpPr>
        <p:spPr>
          <a:xfrm>
            <a:off x="972964" y="3619128"/>
            <a:ext cx="927075" cy="165075"/>
          </a:xfrm>
          <a:prstGeom prst="roundRect">
            <a:avLst>
              <a:gd name="adj" fmla="val 15387"/>
            </a:avLst>
          </a:prstGeom>
          <a:solidFill>
            <a:srgbClr val="2A6F97"/>
          </a:solidFill>
          <a:ln/>
        </p:spPr>
      </p:sp>
      <p:sp>
        <p:nvSpPr>
          <p:cNvPr id="20" name="Text 18"/>
          <p:cNvSpPr/>
          <p:nvPr/>
        </p:nvSpPr>
        <p:spPr>
          <a:xfrm>
            <a:off x="1976189" y="3617888"/>
            <a:ext cx="2871490" cy="192956"/>
          </a:xfrm>
          <a:prstGeom prst="rect">
            <a:avLst/>
          </a:prstGeom>
          <a:noFill/>
          <a:ln/>
        </p:spPr>
        <p:txBody>
          <a:bodyPr wrap="square" lIns="0" tIns="0" rIns="0" bIns="0" rtlCol="0" anchor="t">
            <a:normAutofit/>
          </a:bodyPr>
          <a:lstStyle/>
          <a:p>
            <a:pPr algn="l" indent="0" marL="0">
              <a:lnSpc>
                <a:spcPts val="1320"/>
              </a:lnSpc>
              <a:buNone/>
            </a:pPr>
            <a:r>
              <a:rPr lang="en-US" sz="1200" dirty="0">
                <a:solidFill>
                  <a:srgbClr val="1B2430"/>
                </a:solidFill>
                <a:latin typeface="Inter" pitchFamily="34" charset="0"/>
                <a:ea typeface="Inter" pitchFamily="34" charset="-122"/>
                <a:cs typeface="Inter" pitchFamily="34" charset="-120"/>
              </a:rPr>
              <a:t>449 · presidente andrés pastrana</a:t>
            </a:r>
            <a:endParaRPr lang="en-US" sz="1200" dirty="0"/>
          </a:p>
        </p:txBody>
      </p:sp>
      <p:sp>
        <p:nvSpPr>
          <p:cNvPr id="21" name="Text 19"/>
          <p:cNvSpPr/>
          <p:nvPr/>
        </p:nvSpPr>
        <p:spPr>
          <a:xfrm>
            <a:off x="5841876" y="1279922"/>
            <a:ext cx="5703520" cy="642665"/>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12.205 bigramas</a:t>
            </a:r>
            <a:r>
              <a:rPr lang="en-US" sz="1200" dirty="0">
                <a:solidFill>
                  <a:srgbClr val="1B2430"/>
                </a:solidFill>
                <a:latin typeface="Inter" pitchFamily="34" charset="0"/>
                <a:ea typeface="Inter" pitchFamily="34" charset="-122"/>
                <a:cs typeface="Inter" pitchFamily="34" charset="-120"/>
              </a:rPr>
              <a:t> con n ≥ 30. Los de mayor NPMI son nombres extranjeros (wall street, hong kong, são paulo) y expresiones fijas (derechos humanos, 3.574; naciones unidas, 1.735; américa latina, 3.768).</a:t>
            </a:r>
            <a:endParaRPr lang="en-US" sz="1200" dirty="0"/>
          </a:p>
        </p:txBody>
      </p:sp>
      <p:sp>
        <p:nvSpPr>
          <p:cNvPr id="22" name="Text 20"/>
          <p:cNvSpPr/>
          <p:nvPr/>
        </p:nvSpPr>
        <p:spPr>
          <a:xfrm>
            <a:off x="5841876" y="1973337"/>
            <a:ext cx="570352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Se cuentan pares adyacentes de palabras de contenido con frecuencia ≥ 30; los trigramas unen dos bigramas con NPMI ≥ 0,4.</a:t>
            </a:r>
            <a:endParaRPr lang="en-US" sz="1200" dirty="0"/>
          </a:p>
        </p:txBody>
      </p:sp>
      <p:sp>
        <p:nvSpPr>
          <p:cNvPr id="23" name="Text 21"/>
          <p:cNvSpPr/>
          <p:nvPr/>
        </p:nvSpPr>
        <p:spPr>
          <a:xfrm>
            <a:off x="5841876" y="2460997"/>
            <a:ext cx="5703520" cy="231155"/>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A8402B"/>
                </a:solidFill>
                <a:latin typeface="Inter" pitchFamily="34" charset="0"/>
                <a:ea typeface="Inter" pitchFamily="34" charset="-122"/>
                <a:cs typeface="Inter" pitchFamily="34" charset="-120"/>
              </a:rPr>
              <a:t>Un modelo de unigramas parte todas estas expresiones en piezas.</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0663" y="4131345"/>
          <a:ext cx="10558611" cy="1031875"/>
        </p:xfrm>
        <a:graphic>
          <a:graphicData uri="http://schemas.openxmlformats.org/drawingml/2006/table">
            <a:tbl>
              <a:tblPr/>
              <a:tblGrid>
                <a:gridCol w="3519537"/>
                <a:gridCol w="3519537"/>
                <a:gridCol w="3519537"/>
              </a:tblGrid>
              <a:tr h="325438">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1980–89</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1990–99</a:t>
                      </a:r>
                      <a:endParaRPr lang="en-US" sz="1200" dirty="0">
                        <a:latin typeface="Inter" charset="0"/>
                        <a:ea typeface="Inter" charset="0"/>
                        <a:cs typeface="Inter" charset="0"/>
                      </a:endParaRPr>
                    </a:p>
                  </a:txBody>
                  <a:tcPr marL="88900" marR="88900" marT="63500" marB="635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2000–11</a:t>
                      </a:r>
                      <a:endParaRPr lang="en-US" sz="1200" dirty="0">
                        <a:latin typeface="Inter" charset="0"/>
                        <a:ea typeface="Inter" charset="0"/>
                        <a:cs typeface="Inter" charset="0"/>
                      </a:endParaRPr>
                    </a:p>
                  </a:txBody>
                  <a:tcPr marL="88900" marR="88900" marT="63500" marB="635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706438">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opinión pública (72), fuerzas armadas (53), unión soviética (43), vargas llosa (47), presidente betancur (47)</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derechos humanos (1.223), medio ambiente (1.182), servicios públicos (835), ernesto samper (942)</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señor director (1.889), presidente uribe (1.737), corte suprema (1.639), juan manuel (1.759)</a:t>
                      </a:r>
                      <a:endParaRPr lang="en-US" sz="1200" dirty="0">
                        <a:latin typeface="Inter" charset="0"/>
                        <a:ea typeface="Inter" charset="0"/>
                        <a:cs typeface="Inter" charset="0"/>
                      </a:endParaRPr>
                    </a:p>
                  </a:txBody>
                  <a:tcPr marL="88900" marR="88900" marT="63500" marB="635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25" name="Text 22"/>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Bouma (2009) · cuaderno 05 · informe, sección 6.2</a:t>
            </a:r>
            <a:endParaRPr lang="en-US" sz="1200" dirty="0"/>
          </a:p>
        </p:txBody>
      </p:sp>
      <p:sp>
        <p:nvSpPr>
          <p:cNvPr id="26" name="Text 23"/>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04044"/>
          </a:xfrm>
          <a:prstGeom prst="rect">
            <a:avLst/>
          </a:prstGeom>
          <a:noFill/>
          <a:ln/>
        </p:spPr>
        <p:txBody>
          <a:bodyPr wrap="square" lIns="0" tIns="0" rIns="0" bIns="0" rtlCol="0" anchor="t">
            <a:normAutofit/>
          </a:bodyPr>
          <a:lstStyle/>
          <a:p>
            <a:pPr algn="l" indent="0" marL="0">
              <a:lnSpc>
                <a:spcPts val="3022"/>
              </a:lnSpc>
              <a:buNone/>
            </a:pPr>
            <a:r>
              <a:rPr lang="en-US" sz="2748" b="1" i="0" dirty="0">
                <a:solidFill>
                  <a:srgbClr val="1B2430"/>
                </a:solidFill>
                <a:latin typeface="Source Serif 4" pitchFamily="18" charset="0"/>
                <a:ea typeface="Source Serif 4" pitchFamily="18" charset="-122"/>
                <a:cs typeface="Source Serif 4" pitchFamily="18" charset="-120"/>
              </a:rPr>
              <a:t>EDA 4 · Términos distintivos (log‑odds)</a:t>
            </a:r>
            <a:endParaRPr lang="en-US" sz="2748" dirty="0"/>
          </a:p>
        </p:txBody>
      </p:sp>
      <p:sp>
        <p:nvSpPr>
          <p:cNvPr id="3" name="Text 1"/>
          <p:cNvSpPr/>
          <p:nvPr/>
        </p:nvSpPr>
        <p:spPr>
          <a:xfrm>
            <a:off x="812726" y="1254869"/>
            <a:ext cx="10883545" cy="456878"/>
          </a:xfrm>
          <a:prstGeom prst="rect">
            <a:avLst/>
          </a:prstGeom>
          <a:noFill/>
          <a:ln/>
        </p:spPr>
        <p:txBody>
          <a:bodyPr wrap="square" lIns="0" tIns="0" rIns="0" bIns="0" rtlCol="0" anchor="t">
            <a:normAutofit/>
          </a:bodyPr>
          <a:lstStyle/>
          <a:p>
            <a:pPr algn="l" indent="0" marL="0">
              <a:lnSpc>
                <a:spcPts val="1711"/>
              </a:lnSpc>
              <a:buNone/>
            </a:pPr>
            <a:r>
              <a:rPr lang="en-US" sz="1268" dirty="0">
                <a:solidFill>
                  <a:srgbClr val="4A5361"/>
                </a:solidFill>
                <a:latin typeface="Inter" pitchFamily="34" charset="0"/>
                <a:ea typeface="Inter" pitchFamily="34" charset="-122"/>
                <a:cs typeface="Inter" pitchFamily="34" charset="-120"/>
              </a:rPr>
              <a:t>Cada grupo se compara contra el resto con log‑odds y prior informativo de Dirichlet (Monroe et al., 2008): una palabra es distintiva si es mucho más frecuente en el grupo y está respaldada por suficientes datos.</a:t>
            </a:r>
            <a:endParaRPr lang="en-US" sz="1268" dirty="0"/>
          </a:p>
        </p:txBody>
      </p:sp>
      <p:sp>
        <p:nvSpPr>
          <p:cNvPr id="4" name="Text 2"/>
          <p:cNvSpPr/>
          <p:nvPr/>
        </p:nvSpPr>
        <p:spPr>
          <a:xfrm>
            <a:off x="812726" y="1851422"/>
            <a:ext cx="10883545" cy="249138"/>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F5A7E"/>
                </a:solidFill>
                <a:latin typeface="Inter" pitchFamily="34" charset="0"/>
                <a:ea typeface="Inter" pitchFamily="34" charset="-122"/>
                <a:cs typeface="Inter" pitchFamily="34" charset="-120"/>
              </a:rPr>
              <a:t>Por época</a:t>
            </a:r>
            <a:endParaRPr lang="en-US" sz="1268" dirty="0"/>
          </a:p>
        </p:txBody>
      </p:sp>
      <p:sp>
        <p:nvSpPr>
          <p:cNvPr id="5" name="Shape 3"/>
          <p:cNvSpPr/>
          <p:nvPr/>
        </p:nvSpPr>
        <p:spPr>
          <a:xfrm>
            <a:off x="815901" y="2243410"/>
            <a:ext cx="3422650" cy="1108745"/>
          </a:xfrm>
          <a:prstGeom prst="roundRect">
            <a:avLst>
              <a:gd name="adj" fmla="val 8877"/>
            </a:avLst>
          </a:prstGeom>
          <a:solidFill>
            <a:srgbClr val="FFFDF8"/>
          </a:solidFill>
          <a:ln w="6350">
            <a:solidFill>
              <a:srgbClr val="DDD7C8"/>
            </a:solidFill>
            <a:prstDash val="solid"/>
          </a:ln>
        </p:spPr>
      </p:sp>
      <p:sp>
        <p:nvSpPr>
          <p:cNvPr id="6" name="Text 4"/>
          <p:cNvSpPr/>
          <p:nvPr/>
        </p:nvSpPr>
        <p:spPr>
          <a:xfrm>
            <a:off x="972964" y="2375173"/>
            <a:ext cx="3201779" cy="229543"/>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1B2430"/>
                </a:solidFill>
                <a:latin typeface="Inter" pitchFamily="34" charset="0"/>
                <a:ea typeface="Inter" pitchFamily="34" charset="-122"/>
                <a:cs typeface="Inter" pitchFamily="34" charset="-120"/>
              </a:rPr>
              <a:t>1980–89</a:t>
            </a:r>
            <a:endParaRPr lang="en-US" sz="1352" dirty="0"/>
          </a:p>
        </p:txBody>
      </p:sp>
      <p:sp>
        <p:nvSpPr>
          <p:cNvPr id="7" name="Text 5"/>
          <p:cNvSpPr/>
          <p:nvPr/>
        </p:nvSpPr>
        <p:spPr>
          <a:xfrm>
            <a:off x="972964" y="2630041"/>
            <a:ext cx="3201779" cy="615752"/>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reagan, norteamericano, lara, betancur, barco, soviéticos, acupuntura, telenovela, sólo, habia</a:t>
            </a:r>
            <a:endParaRPr lang="en-US" sz="1151" dirty="0"/>
          </a:p>
        </p:txBody>
      </p:sp>
      <p:sp>
        <p:nvSpPr>
          <p:cNvPr id="8" name="Shape 6"/>
          <p:cNvSpPr/>
          <p:nvPr/>
        </p:nvSpPr>
        <p:spPr>
          <a:xfrm>
            <a:off x="4384551" y="2243410"/>
            <a:ext cx="3422774" cy="1108745"/>
          </a:xfrm>
          <a:prstGeom prst="roundRect">
            <a:avLst>
              <a:gd name="adj" fmla="val 8877"/>
            </a:avLst>
          </a:prstGeom>
          <a:solidFill>
            <a:srgbClr val="FFFDF8"/>
          </a:solidFill>
          <a:ln w="6350">
            <a:solidFill>
              <a:srgbClr val="DDD7C8"/>
            </a:solidFill>
            <a:prstDash val="solid"/>
          </a:ln>
        </p:spPr>
      </p:sp>
      <p:sp>
        <p:nvSpPr>
          <p:cNvPr id="9" name="Text 7"/>
          <p:cNvSpPr/>
          <p:nvPr/>
        </p:nvSpPr>
        <p:spPr>
          <a:xfrm>
            <a:off x="4541614" y="2375173"/>
            <a:ext cx="3201907" cy="229543"/>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1B2430"/>
                </a:solidFill>
                <a:latin typeface="Inter" pitchFamily="34" charset="0"/>
                <a:ea typeface="Inter" pitchFamily="34" charset="-122"/>
                <a:cs typeface="Inter" pitchFamily="34" charset="-120"/>
              </a:rPr>
              <a:t>1990–99</a:t>
            </a:r>
            <a:endParaRPr lang="en-US" sz="1352" dirty="0"/>
          </a:p>
        </p:txBody>
      </p:sp>
      <p:sp>
        <p:nvSpPr>
          <p:cNvPr id="10" name="Text 8"/>
          <p:cNvSpPr/>
          <p:nvPr/>
        </p:nvSpPr>
        <p:spPr>
          <a:xfrm>
            <a:off x="4541614" y="2630041"/>
            <a:ext cx="3201907" cy="615752"/>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samper, ernesto, clinton, gaviria, constituyente, serpa, bosnia, cali, certamen, agraria</a:t>
            </a:r>
            <a:endParaRPr lang="en-US" sz="1151" dirty="0"/>
          </a:p>
        </p:txBody>
      </p:sp>
      <p:sp>
        <p:nvSpPr>
          <p:cNvPr id="11" name="Shape 9"/>
          <p:cNvSpPr/>
          <p:nvPr/>
        </p:nvSpPr>
        <p:spPr>
          <a:xfrm>
            <a:off x="7953325" y="2243410"/>
            <a:ext cx="3422774" cy="1108745"/>
          </a:xfrm>
          <a:prstGeom prst="roundRect">
            <a:avLst>
              <a:gd name="adj" fmla="val 8877"/>
            </a:avLst>
          </a:prstGeom>
          <a:solidFill>
            <a:srgbClr val="FFFDF8"/>
          </a:solidFill>
          <a:ln w="6350">
            <a:solidFill>
              <a:srgbClr val="DDD7C8"/>
            </a:solidFill>
            <a:prstDash val="solid"/>
          </a:ln>
        </p:spPr>
      </p:sp>
      <p:sp>
        <p:nvSpPr>
          <p:cNvPr id="12" name="Text 10"/>
          <p:cNvSpPr/>
          <p:nvPr/>
        </p:nvSpPr>
        <p:spPr>
          <a:xfrm>
            <a:off x="8110389" y="2375173"/>
            <a:ext cx="3201907" cy="229543"/>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1B2430"/>
                </a:solidFill>
                <a:latin typeface="Inter" pitchFamily="34" charset="0"/>
                <a:ea typeface="Inter" pitchFamily="34" charset="-122"/>
                <a:cs typeface="Inter" pitchFamily="34" charset="-120"/>
              </a:rPr>
              <a:t>2000–11</a:t>
            </a:r>
            <a:endParaRPr lang="en-US" sz="1352" dirty="0"/>
          </a:p>
        </p:txBody>
      </p:sp>
      <p:sp>
        <p:nvSpPr>
          <p:cNvPr id="13" name="Text 11"/>
          <p:cNvSpPr/>
          <p:nvPr/>
        </p:nvSpPr>
        <p:spPr>
          <a:xfrm>
            <a:off x="8110389" y="2630041"/>
            <a:ext cx="3201907" cy="615752"/>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uribe, farc, chávez, santos, paramilitares, víctimas, referendo, tlc, internet, alias, foto, www, com, efe</a:t>
            </a:r>
            <a:endParaRPr lang="en-US" sz="1151" dirty="0"/>
          </a:p>
        </p:txBody>
      </p:sp>
      <p:sp>
        <p:nvSpPr>
          <p:cNvPr id="14" name="Text 12"/>
          <p:cNvSpPr/>
          <p:nvPr/>
        </p:nvSpPr>
        <p:spPr>
          <a:xfrm>
            <a:off x="812726" y="3520405"/>
            <a:ext cx="10883545" cy="249138"/>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F5A7E"/>
                </a:solidFill>
                <a:latin typeface="Inter" pitchFamily="34" charset="0"/>
                <a:ea typeface="Inter" pitchFamily="34" charset="-122"/>
                <a:cs typeface="Inter" pitchFamily="34" charset="-120"/>
              </a:rPr>
              <a:t>Por fuente</a:t>
            </a:r>
            <a:endParaRPr lang="en-US" sz="1268" dirty="0"/>
          </a:p>
        </p:txBody>
      </p:sp>
      <p:sp>
        <p:nvSpPr>
          <p:cNvPr id="15" name="Shape 13"/>
          <p:cNvSpPr/>
          <p:nvPr/>
        </p:nvSpPr>
        <p:spPr>
          <a:xfrm>
            <a:off x="815901" y="3912394"/>
            <a:ext cx="3422650" cy="1108745"/>
          </a:xfrm>
          <a:prstGeom prst="roundRect">
            <a:avLst>
              <a:gd name="adj" fmla="val 8877"/>
            </a:avLst>
          </a:prstGeom>
          <a:solidFill>
            <a:srgbClr val="FFFDF8"/>
          </a:solidFill>
          <a:ln w="6350">
            <a:solidFill>
              <a:srgbClr val="DDD7C8"/>
            </a:solidFill>
            <a:prstDash val="solid"/>
          </a:ln>
        </p:spPr>
      </p:sp>
      <p:sp>
        <p:nvSpPr>
          <p:cNvPr id="16" name="Text 14"/>
          <p:cNvSpPr/>
          <p:nvPr/>
        </p:nvSpPr>
        <p:spPr>
          <a:xfrm>
            <a:off x="972964" y="4044156"/>
            <a:ext cx="320177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B2430"/>
                </a:solidFill>
                <a:latin typeface="Inter" pitchFamily="34" charset="0"/>
                <a:ea typeface="Inter" pitchFamily="34" charset="-122"/>
                <a:cs typeface="Inter" pitchFamily="34" charset="-120"/>
              </a:rPr>
              <a:t>El Tiempo</a:t>
            </a:r>
            <a:endParaRPr lang="en-US" sz="1400" dirty="0"/>
          </a:p>
        </p:txBody>
      </p:sp>
      <p:sp>
        <p:nvSpPr>
          <p:cNvPr id="17" name="Text 15"/>
          <p:cNvSpPr/>
          <p:nvPr/>
        </p:nvSpPr>
        <p:spPr>
          <a:xfrm>
            <a:off x="972964" y="4308202"/>
            <a:ext cx="3201779"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calle, alcalde, municipio, ciudad, barrio, policía, cali, carrera, boyacá, ciento</a:t>
            </a:r>
            <a:endParaRPr lang="en-US" sz="1200" dirty="0"/>
          </a:p>
        </p:txBody>
      </p:sp>
      <p:sp>
        <p:nvSpPr>
          <p:cNvPr id="18" name="Shape 16"/>
          <p:cNvSpPr/>
          <p:nvPr/>
        </p:nvSpPr>
        <p:spPr>
          <a:xfrm>
            <a:off x="4384551" y="3912394"/>
            <a:ext cx="3422774" cy="1108745"/>
          </a:xfrm>
          <a:prstGeom prst="roundRect">
            <a:avLst>
              <a:gd name="adj" fmla="val 8877"/>
            </a:avLst>
          </a:prstGeom>
          <a:solidFill>
            <a:srgbClr val="FFFDF8"/>
          </a:solidFill>
          <a:ln w="6350">
            <a:solidFill>
              <a:srgbClr val="DDD7C8"/>
            </a:solidFill>
            <a:prstDash val="solid"/>
          </a:ln>
        </p:spPr>
      </p:sp>
      <p:sp>
        <p:nvSpPr>
          <p:cNvPr id="19" name="Text 17"/>
          <p:cNvSpPr/>
          <p:nvPr/>
        </p:nvSpPr>
        <p:spPr>
          <a:xfrm>
            <a:off x="4541614" y="4044156"/>
            <a:ext cx="320190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B2430"/>
                </a:solidFill>
                <a:latin typeface="Inter" pitchFamily="34" charset="0"/>
                <a:ea typeface="Inter" pitchFamily="34" charset="-122"/>
                <a:cs typeface="Inter" pitchFamily="34" charset="-120"/>
              </a:rPr>
              <a:t>Semana</a:t>
            </a:r>
            <a:endParaRPr lang="en-US" sz="1400" dirty="0"/>
          </a:p>
        </p:txBody>
      </p:sp>
      <p:sp>
        <p:nvSpPr>
          <p:cNvPr id="20" name="Text 18"/>
          <p:cNvSpPr/>
          <p:nvPr/>
        </p:nvSpPr>
        <p:spPr>
          <a:xfrm>
            <a:off x="4541614" y="4308202"/>
            <a:ext cx="3201907"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guerra, farc, uribe, paramilitares, política, militares, mundo, historia, norteamericano</a:t>
            </a:r>
            <a:endParaRPr lang="en-US" sz="1200" dirty="0"/>
          </a:p>
        </p:txBody>
      </p:sp>
      <p:sp>
        <p:nvSpPr>
          <p:cNvPr id="21" name="Shape 19"/>
          <p:cNvSpPr/>
          <p:nvPr/>
        </p:nvSpPr>
        <p:spPr>
          <a:xfrm>
            <a:off x="7953325" y="3912394"/>
            <a:ext cx="3422774" cy="1108745"/>
          </a:xfrm>
          <a:prstGeom prst="roundRect">
            <a:avLst>
              <a:gd name="adj" fmla="val 8877"/>
            </a:avLst>
          </a:prstGeom>
          <a:solidFill>
            <a:srgbClr val="FFFDF8"/>
          </a:solidFill>
          <a:ln w="6350">
            <a:solidFill>
              <a:srgbClr val="DDD7C8"/>
            </a:solidFill>
            <a:prstDash val="solid"/>
          </a:ln>
        </p:spPr>
      </p:sp>
      <p:sp>
        <p:nvSpPr>
          <p:cNvPr id="22" name="Text 20"/>
          <p:cNvSpPr/>
          <p:nvPr/>
        </p:nvSpPr>
        <p:spPr>
          <a:xfrm>
            <a:off x="8110389" y="4044156"/>
            <a:ext cx="3201907" cy="229543"/>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1B2430"/>
                </a:solidFill>
                <a:latin typeface="Inter" pitchFamily="34" charset="0"/>
                <a:ea typeface="Inter" pitchFamily="34" charset="-122"/>
                <a:cs typeface="Inter" pitchFamily="34" charset="-120"/>
              </a:rPr>
              <a:t>Dinero</a:t>
            </a:r>
            <a:endParaRPr lang="en-US" sz="1352" dirty="0"/>
          </a:p>
        </p:txBody>
      </p:sp>
      <p:sp>
        <p:nvSpPr>
          <p:cNvPr id="23" name="Text 21"/>
          <p:cNvSpPr/>
          <p:nvPr/>
        </p:nvSpPr>
        <p:spPr>
          <a:xfrm>
            <a:off x="8110389" y="4299024"/>
            <a:ext cx="3201907" cy="615752"/>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crecimiento, empresas, mercado, economía, ventas, precios, crudo, índice, exportaciones, inversión</a:t>
            </a:r>
            <a:endParaRPr lang="en-US" sz="1151" dirty="0"/>
          </a:p>
        </p:txBody>
      </p:sp>
      <p:sp>
        <p:nvSpPr>
          <p:cNvPr id="24" name="Shape 22"/>
          <p:cNvSpPr/>
          <p:nvPr/>
        </p:nvSpPr>
        <p:spPr>
          <a:xfrm>
            <a:off x="812726" y="5189389"/>
            <a:ext cx="10566549" cy="652611"/>
          </a:xfrm>
          <a:prstGeom prst="roundRect">
            <a:avLst>
              <a:gd name="adj" fmla="val 15568"/>
            </a:avLst>
          </a:prstGeom>
          <a:solidFill>
            <a:srgbClr val="1B2430"/>
          </a:solidFill>
          <a:ln/>
        </p:spPr>
      </p:sp>
      <p:sp>
        <p:nvSpPr>
          <p:cNvPr id="25" name="Text 23"/>
          <p:cNvSpPr/>
          <p:nvPr/>
        </p:nvSpPr>
        <p:spPr>
          <a:xfrm>
            <a:off x="1015876" y="5409034"/>
            <a:ext cx="11938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LECTURA</a:t>
            </a:r>
            <a:endParaRPr lang="en-US" sz="1200" dirty="0"/>
          </a:p>
        </p:txBody>
      </p:sp>
      <p:sp>
        <p:nvSpPr>
          <p:cNvPr id="26" name="Text 24"/>
          <p:cNvSpPr/>
          <p:nvPr/>
        </p:nvSpPr>
        <p:spPr>
          <a:xfrm>
            <a:off x="2311177" y="5309939"/>
            <a:ext cx="9130896"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Las épocas se distinguen por gobernantes y coyunturas, no por temas. Las fuentes sí por tema: El Tiempo es local, Semana nacional y de conflicto, Dinero económica. Foto, www, com y efe son artefactos de formato.</a:t>
            </a:r>
            <a:endParaRPr lang="en-US" sz="1200" dirty="0"/>
          </a:p>
        </p:txBody>
      </p:sp>
      <p:sp>
        <p:nvSpPr>
          <p:cNvPr id="27" name="Text 25"/>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Cuaderno 05 · informe, sección 6.3</a:t>
            </a:r>
            <a:endParaRPr lang="en-US" sz="1200" dirty="0"/>
          </a:p>
        </p:txBody>
      </p:sp>
      <p:sp>
        <p:nvSpPr>
          <p:cNvPr id="28" name="Text 26"/>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398214"/>
          </a:xfrm>
          <a:prstGeom prst="rect">
            <a:avLst/>
          </a:prstGeom>
          <a:noFill/>
          <a:ln/>
        </p:spPr>
        <p:txBody>
          <a:bodyPr wrap="square" lIns="0" tIns="0" rIns="0" bIns="0" rtlCol="0" anchor="t">
            <a:normAutofit/>
          </a:bodyPr>
          <a:lstStyle/>
          <a:p>
            <a:pPr algn="l" indent="0" marL="0">
              <a:lnSpc>
                <a:spcPts val="2974"/>
              </a:lnSpc>
              <a:buNone/>
            </a:pPr>
            <a:r>
              <a:rPr lang="en-US" sz="2704" b="1" i="0" dirty="0">
                <a:solidFill>
                  <a:srgbClr val="1B2430"/>
                </a:solidFill>
                <a:latin typeface="Source Serif 4" pitchFamily="18" charset="0"/>
                <a:ea typeface="Source Serif 4" pitchFamily="18" charset="-122"/>
                <a:cs typeface="Source Serif 4" pitchFamily="18" charset="-120"/>
              </a:rPr>
              <a:t>EDA 5 · Co‑ocurrencias: el contexto de un concepto cambia</a:t>
            </a:r>
            <a:endParaRPr lang="en-US" sz="2704" dirty="0"/>
          </a:p>
        </p:txBody>
      </p:sp>
      <p:sp>
        <p:nvSpPr>
          <p:cNvPr id="3" name="Text 1"/>
          <p:cNvSpPr/>
          <p:nvPr/>
        </p:nvSpPr>
        <p:spPr>
          <a:xfrm>
            <a:off x="812726" y="1249040"/>
            <a:ext cx="10883545" cy="450056"/>
          </a:xfrm>
          <a:prstGeom prst="rect">
            <a:avLst/>
          </a:prstGeom>
          <a:noFill/>
          <a:ln/>
        </p:spPr>
        <p:txBody>
          <a:bodyPr wrap="square" lIns="0" tIns="0" rIns="0" bIns="0" rtlCol="0" anchor="t">
            <a:normAutofit/>
          </a:bodyPr>
          <a:lstStyle/>
          <a:p>
            <a:pPr algn="l" indent="0" marL="0">
              <a:lnSpc>
                <a:spcPts val="1684"/>
              </a:lnSpc>
              <a:buNone/>
            </a:pPr>
            <a:r>
              <a:rPr lang="en-US" sz="1247" dirty="0">
                <a:solidFill>
                  <a:srgbClr val="4A5361"/>
                </a:solidFill>
                <a:latin typeface="Inter" pitchFamily="34" charset="0"/>
                <a:ea typeface="Inter" pitchFamily="34" charset="-122"/>
                <a:cs typeface="Inter" pitchFamily="34" charset="-120"/>
              </a:rPr>
              <a:t>PPMI a nivel de documento: PPMI(a,b) = máx(0, ln p(a,b) / (p(a)·p(b))). Se muestran los vecinos más asociados de cada término semilla en cada época.</a:t>
            </a:r>
            <a:endParaRPr lang="en-US" sz="1247"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0663" y="1846709"/>
          <a:ext cx="10558611" cy="3269630"/>
        </p:xfrm>
        <a:graphic>
          <a:graphicData uri="http://schemas.openxmlformats.org/drawingml/2006/table">
            <a:tbl>
              <a:tblPr/>
              <a:tblGrid>
                <a:gridCol w="3519537"/>
                <a:gridCol w="3519537"/>
                <a:gridCol w="3519537"/>
              </a:tblGrid>
              <a:tr h="251271">
                <a:tc>
                  <a:txBody>
                    <a:bodyPr/>
                    <a:lstStyle/>
                    <a:p>
                      <a:pPr indent="0" marL="0">
                        <a:lnSpc>
                          <a:spcPts val="1585"/>
                        </a:lnSpc>
                        <a:buNone/>
                      </a:pPr>
                      <a:r>
                        <a:rPr lang="en-US" sz="1133" b="1" dirty="0">
                          <a:solidFill>
                            <a:srgbClr val="F6F3EC"/>
                          </a:solidFill>
                          <a:latin typeface="Inter" pitchFamily="34" charset="0"/>
                          <a:ea typeface="Inter" pitchFamily="34" charset="-122"/>
                          <a:cs typeface="Inter" pitchFamily="34" charset="-120"/>
                        </a:rPr>
                        <a:t>Término</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585"/>
                        </a:lnSpc>
                        <a:buNone/>
                      </a:pPr>
                      <a:r>
                        <a:rPr lang="en-US" sz="1133" b="1" dirty="0">
                          <a:solidFill>
                            <a:srgbClr val="F6F3EC"/>
                          </a:solidFill>
                          <a:latin typeface="Inter" pitchFamily="34" charset="0"/>
                          <a:ea typeface="Inter" pitchFamily="34" charset="-122"/>
                          <a:cs typeface="Inter" pitchFamily="34" charset="-120"/>
                        </a:rPr>
                        <a:t>1990–99</a:t>
                      </a:r>
                      <a:endParaRPr lang="en-US" sz="1133" dirty="0">
                        <a:latin typeface="Inter" charset="0"/>
                        <a:ea typeface="Inter" charset="0"/>
                        <a:cs typeface="Inter" charset="0"/>
                      </a:endParaRPr>
                    </a:p>
                  </a:txBody>
                  <a:tcPr marL="76200" marR="76200" marT="31750" marB="3175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585"/>
                        </a:lnSpc>
                        <a:buNone/>
                      </a:pPr>
                      <a:r>
                        <a:rPr lang="en-US" sz="1133" b="1" dirty="0">
                          <a:solidFill>
                            <a:srgbClr val="F6F3EC"/>
                          </a:solidFill>
                          <a:latin typeface="Inter" pitchFamily="34" charset="0"/>
                          <a:ea typeface="Inter" pitchFamily="34" charset="-122"/>
                          <a:cs typeface="Inter" pitchFamily="34" charset="-120"/>
                        </a:rPr>
                        <a:t>2000–11</a:t>
                      </a:r>
                      <a:endParaRPr lang="en-US" sz="1133" dirty="0">
                        <a:latin typeface="Inter" charset="0"/>
                        <a:ea typeface="Inter" charset="0"/>
                        <a:cs typeface="Inter" charset="0"/>
                      </a:endParaRPr>
                    </a:p>
                  </a:txBody>
                  <a:tcPr marL="76200" marR="76200" marT="31750" marB="3175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431105">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guerrilla</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desmovilización, subversión, insurgentes, alzados, paramilitarismo, tirofijo</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secretariado, caguán, epl, jojoy, liberaciones</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31105">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paz</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desmovilizados, fraternidad, cisjordania, olp, netanyahu, negociada</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comisionado, hostilidades, ralito, reconciliación, atroces</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31229">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violencia</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desmovilización, paramilitarismo, barbarie, autodefensa, desplazados, exterminio</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intrafamiliar, violencias, victimarios, criminalidad</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31229">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economía</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desaceleración, prime, internacionalización, pib, recesión, inflacionarias</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greenspan, bernanke, fed, economistas, contracción</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31229">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salud</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contributivo, sisben, subsidiado, eps, ips, hospitalaria</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fosyga, dengue, promotoras, sarampión, ips</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31229">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empleo</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desocupación, desempleados, desempleo, microempresa, dane</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subempleo, informalidad, desocupados, empleadores, parafiscales</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31229">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corrupción</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sobornos, corruptos, clientelismo, ineficiencia, impunidad, honestidad</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585"/>
                        </a:lnSpc>
                        <a:buNone/>
                      </a:pPr>
                      <a:r>
                        <a:rPr lang="en-US" sz="1133" dirty="0">
                          <a:solidFill>
                            <a:srgbClr val="1B2430"/>
                          </a:solidFill>
                          <a:latin typeface="Inter" pitchFamily="34" charset="0"/>
                          <a:ea typeface="Inter" pitchFamily="34" charset="-122"/>
                          <a:cs typeface="Inter" pitchFamily="34" charset="-120"/>
                        </a:rPr>
                        <a:t>politiquería, clientelismo, anticorrupción, corrupto, soborno</a:t>
                      </a:r>
                      <a:endParaRPr lang="en-US" sz="1133" dirty="0">
                        <a:latin typeface="Inter" charset="0"/>
                        <a:ea typeface="Inter" charset="0"/>
                        <a:cs typeface="Inter" charset="0"/>
                      </a:endParaRPr>
                    </a:p>
                  </a:txBody>
                  <a:tcPr marL="76200" marR="76200" marT="31750" marB="3175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5" name="Shape 2"/>
          <p:cNvSpPr/>
          <p:nvPr/>
        </p:nvSpPr>
        <p:spPr>
          <a:xfrm>
            <a:off x="815901" y="5284589"/>
            <a:ext cx="10560199" cy="554236"/>
          </a:xfrm>
          <a:prstGeom prst="roundRect">
            <a:avLst>
              <a:gd name="adj" fmla="val 17759"/>
            </a:avLst>
          </a:prstGeom>
          <a:solidFill>
            <a:srgbClr val="FFFDF8"/>
          </a:solidFill>
          <a:ln w="6350">
            <a:solidFill>
              <a:srgbClr val="A8402B"/>
            </a:solidFill>
            <a:prstDash val="solid"/>
          </a:ln>
        </p:spPr>
      </p:sp>
      <p:sp>
        <p:nvSpPr>
          <p:cNvPr id="6" name="Text 3"/>
          <p:cNvSpPr/>
          <p:nvPr/>
        </p:nvSpPr>
        <p:spPr>
          <a:xfrm>
            <a:off x="972964" y="5365502"/>
            <a:ext cx="10553454" cy="417810"/>
          </a:xfrm>
          <a:prstGeom prst="rect">
            <a:avLst/>
          </a:prstGeom>
          <a:noFill/>
          <a:ln/>
        </p:spPr>
        <p:txBody>
          <a:bodyPr wrap="square" lIns="0" tIns="0" rIns="0" bIns="0" rtlCol="0" anchor="t">
            <a:normAutofit/>
          </a:bodyPr>
          <a:lstStyle/>
          <a:p>
            <a:pPr algn="l" indent="0" marL="0">
              <a:lnSpc>
                <a:spcPts val="1559"/>
              </a:lnSpc>
              <a:buNone/>
            </a:pPr>
            <a:r>
              <a:rPr lang="en-US" sz="1155" dirty="0">
                <a:solidFill>
                  <a:srgbClr val="1B2430"/>
                </a:solidFill>
                <a:latin typeface="Inter" pitchFamily="34" charset="0"/>
                <a:ea typeface="Inter" pitchFamily="34" charset="-122"/>
                <a:cs typeface="Inter" pitchFamily="34" charset="-120"/>
              </a:rPr>
              <a:t>Un concepto que cambia de contexto muestra que la agenda también se mueve por vocabulario dentro de un tema. Los vecinos de los años 80 son ruido (una sola fuente) y no se interpretan.</a:t>
            </a:r>
            <a:endParaRPr lang="en-US" sz="1155" dirty="0"/>
          </a:p>
        </p:txBody>
      </p:sp>
      <p:sp>
        <p:nvSpPr>
          <p:cNvPr id="7" name="Text 4"/>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Cuaderno 05 · informe, sección 6.4</a:t>
            </a:r>
            <a:endParaRPr lang="en-US" sz="1200" dirty="0"/>
          </a:p>
        </p:txBody>
      </p:sp>
      <p:sp>
        <p:nvSpPr>
          <p:cNvPr id="8" name="Text 5"/>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EDA 6 · Recurso léxico externo: 13 categorías</a:t>
            </a:r>
            <a:endParaRPr lang="en-US" sz="2800" dirty="0"/>
          </a:p>
        </p:txBody>
      </p:sp>
      <p:sp>
        <p:nvSpPr>
          <p:cNvPr id="3" name="Text 1"/>
          <p:cNvSpPr/>
          <p:nvPr/>
        </p:nvSpPr>
        <p:spPr>
          <a:xfrm>
            <a:off x="812726" y="1267271"/>
            <a:ext cx="10883545" cy="47089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A5361"/>
                </a:solidFill>
                <a:latin typeface="Inter" pitchFamily="34" charset="0"/>
                <a:ea typeface="Inter" pitchFamily="34" charset="-122"/>
                <a:cs typeface="Inter" pitchFamily="34" charset="-120"/>
              </a:rPr>
              <a:t>Inspirado en los major topics del Comparative Agendas Project y en los dominios de EuroVoc. Cada categoría es una lista de prefijos que se expande contra el vocabulario del corpus: </a:t>
            </a:r>
            <a:r>
              <a:rPr lang="en-US" sz="1300" b="1" dirty="0">
                <a:solidFill>
                  <a:srgbClr val="1B2430"/>
                </a:solidFill>
                <a:latin typeface="Inter" pitchFamily="34" charset="0"/>
                <a:ea typeface="Inter" pitchFamily="34" charset="-122"/>
                <a:cs typeface="Inter" pitchFamily="34" charset="-120"/>
              </a:rPr>
              <a:t>2.319 palabras, 6,8 % de los tokens</a:t>
            </a:r>
            <a:r>
              <a:rPr lang="en-US" sz="1300" dirty="0">
                <a:solidFill>
                  <a:srgbClr val="4A5361"/>
                </a:solidFill>
                <a:latin typeface="Inter" pitchFamily="34" charset="0"/>
                <a:ea typeface="Inter" pitchFamily="34" charset="-122"/>
                <a:cs typeface="Inter" pitchFamily="34" charset="-120"/>
              </a:rPr>
              <a:t>.</a:t>
            </a:r>
            <a:endParaRPr lang="en-US" sz="1300" dirty="0"/>
          </a:p>
        </p:txBody>
      </p:sp>
      <p:sp>
        <p:nvSpPr>
          <p:cNvPr id="4" name="Text 2"/>
          <p:cNvSpPr/>
          <p:nvPr/>
        </p:nvSpPr>
        <p:spPr>
          <a:xfrm>
            <a:off x="815901" y="1881014"/>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Conflicto armado</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farc, guerrilla, paramilitares, secuestro, eln</a:t>
            </a:r>
            <a:endParaRPr lang="en-US" sz="1200" dirty="0"/>
          </a:p>
        </p:txBody>
      </p:sp>
      <p:sp>
        <p:nvSpPr>
          <p:cNvPr id="5" name="Text 3"/>
          <p:cNvSpPr/>
          <p:nvPr/>
        </p:nvSpPr>
        <p:spPr>
          <a:xfrm>
            <a:off x="3476575" y="1881014"/>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Narcotráfico</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drogas, coca, cartel, cocaína, extradición</a:t>
            </a:r>
            <a:endParaRPr lang="en-US" sz="1200" dirty="0"/>
          </a:p>
        </p:txBody>
      </p:sp>
      <p:sp>
        <p:nvSpPr>
          <p:cNvPr id="6" name="Text 4"/>
          <p:cNvSpPr/>
          <p:nvPr/>
        </p:nvSpPr>
        <p:spPr>
          <a:xfrm>
            <a:off x="6137250" y="1881014"/>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Política y gobierno</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gobierno, presidente, ministro, ley, congreso</a:t>
            </a:r>
            <a:endParaRPr lang="en-US" sz="1200" dirty="0"/>
          </a:p>
        </p:txBody>
      </p:sp>
      <p:sp>
        <p:nvSpPr>
          <p:cNvPr id="7" name="Text 5"/>
          <p:cNvSpPr/>
          <p:nvPr/>
        </p:nvSpPr>
        <p:spPr>
          <a:xfrm>
            <a:off x="8797925" y="1881014"/>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Justicia y crimen</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policía, justicia, fiscalía, tribunal, cárcel</a:t>
            </a:r>
            <a:endParaRPr lang="en-US" sz="1200" dirty="0"/>
          </a:p>
        </p:txBody>
      </p:sp>
      <p:sp>
        <p:nvSpPr>
          <p:cNvPr id="8" name="Text 6"/>
          <p:cNvSpPr/>
          <p:nvPr/>
        </p:nvSpPr>
        <p:spPr>
          <a:xfrm>
            <a:off x="815901" y="2671539"/>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Economía y finanzas</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dólares, empresa, mercado, banco, inversión</a:t>
            </a:r>
            <a:endParaRPr lang="en-US" sz="1200" dirty="0"/>
          </a:p>
        </p:txBody>
      </p:sp>
      <p:sp>
        <p:nvSpPr>
          <p:cNvPr id="9" name="Text 7"/>
          <p:cNvSpPr/>
          <p:nvPr/>
        </p:nvSpPr>
        <p:spPr>
          <a:xfrm>
            <a:off x="3476575" y="2671539"/>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Empleo y trabajo</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trabajadores, empleo, desempleo, paro, salarios</a:t>
            </a:r>
            <a:endParaRPr lang="en-US" sz="1200" dirty="0"/>
          </a:p>
        </p:txBody>
      </p:sp>
      <p:sp>
        <p:nvSpPr>
          <p:cNvPr id="10" name="Text 8"/>
          <p:cNvSpPr/>
          <p:nvPr/>
        </p:nvSpPr>
        <p:spPr>
          <a:xfrm>
            <a:off x="6137250" y="2671539"/>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Salud</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salud, hospital, médico, enfermedad, pacientes</a:t>
            </a:r>
            <a:endParaRPr lang="en-US" sz="1200" dirty="0"/>
          </a:p>
        </p:txBody>
      </p:sp>
      <p:sp>
        <p:nvSpPr>
          <p:cNvPr id="11" name="Text 9"/>
          <p:cNvSpPr/>
          <p:nvPr/>
        </p:nvSpPr>
        <p:spPr>
          <a:xfrm>
            <a:off x="8797925" y="2671539"/>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Educación</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universidad, educación, estudiantes, colegio</a:t>
            </a:r>
            <a:endParaRPr lang="en-US" sz="1200" dirty="0"/>
          </a:p>
        </p:txBody>
      </p:sp>
      <p:sp>
        <p:nvSpPr>
          <p:cNvPr id="12" name="Text 10"/>
          <p:cNvSpPr/>
          <p:nvPr/>
        </p:nvSpPr>
        <p:spPr>
          <a:xfrm>
            <a:off x="815901" y="3462065"/>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Deporte</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equipo, mundial, fútbol, torneo, selección</a:t>
            </a:r>
            <a:endParaRPr lang="en-US" sz="1200" dirty="0"/>
          </a:p>
        </p:txBody>
      </p:sp>
      <p:sp>
        <p:nvSpPr>
          <p:cNvPr id="13" name="Text 11"/>
          <p:cNvSpPr/>
          <p:nvPr/>
        </p:nvSpPr>
        <p:spPr>
          <a:xfrm>
            <a:off x="3476575" y="3462065"/>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Cultura y entretenimiento</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televisión, música, libro, teatro, cine</a:t>
            </a:r>
            <a:endParaRPr lang="en-US" sz="1200" dirty="0"/>
          </a:p>
        </p:txBody>
      </p:sp>
      <p:sp>
        <p:nvSpPr>
          <p:cNvPr id="14" name="Text 12"/>
          <p:cNvSpPr/>
          <p:nvPr/>
        </p:nvSpPr>
        <p:spPr>
          <a:xfrm>
            <a:off x="6137250" y="3462065"/>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Ambiente y energía</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agua, ambiente, energía, petróleo, gas</a:t>
            </a:r>
            <a:endParaRPr lang="en-US" sz="1200" dirty="0"/>
          </a:p>
        </p:txBody>
      </p:sp>
      <p:sp>
        <p:nvSpPr>
          <p:cNvPr id="15" name="Text 13"/>
          <p:cNvSpPr/>
          <p:nvPr/>
        </p:nvSpPr>
        <p:spPr>
          <a:xfrm>
            <a:off x="8797925" y="3462065"/>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Internacional</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unidos, internacional, venezuela, méxico, europa</a:t>
            </a:r>
            <a:endParaRPr lang="en-US" sz="1200" dirty="0"/>
          </a:p>
        </p:txBody>
      </p:sp>
      <p:sp>
        <p:nvSpPr>
          <p:cNvPr id="16" name="Text 14"/>
          <p:cNvSpPr/>
          <p:nvPr/>
        </p:nvSpPr>
        <p:spPr>
          <a:xfrm>
            <a:off x="815901" y="4252590"/>
            <a:ext cx="2578174" cy="708025"/>
          </a:xfrm>
          <a:prstGeom prst="roundRect">
            <a:avLst>
              <a:gd name="adj" fmla="val 10314"/>
            </a:avLst>
          </a:prstGeom>
          <a:solidFill>
            <a:srgbClr val="FFFDF8"/>
          </a:solidFill>
          <a:ln w="6350">
            <a:solidFill>
              <a:srgbClr val="DDD7C8"/>
            </a:solidFill>
            <a:prstDash val="solid"/>
          </a:ln>
        </p:spPr>
        <p:txBody>
          <a:bodyPr wrap="square" lIns="72175" tIns="46874" rIns="444" bIns="21474" rtlCol="0" anchor="t">
            <a:normAutofit/>
          </a:bodyPr>
          <a:lstStyle/>
          <a:p>
            <a:pPr algn="l" indent="0" marL="0">
              <a:lnSpc>
                <a:spcPts val="1500"/>
              </a:lnSpc>
              <a:buNone/>
            </a:pPr>
            <a:r>
              <a:rPr lang="en-US" sz="1200" b="1" dirty="0">
                <a:solidFill>
                  <a:srgbClr val="1F5A7E"/>
                </a:solidFill>
                <a:latin typeface="Inter" pitchFamily="34" charset="0"/>
                <a:ea typeface="Inter" pitchFamily="34" charset="-122"/>
                <a:cs typeface="Inter" pitchFamily="34" charset="-120"/>
              </a:rPr>
              <a:t>Infraestructura y vivienda</a:t>
            </a:r>
            <a:endParaRPr lang="en-US" sz="1200" dirty="0"/>
          </a:p>
          <a:p>
            <a:pPr algn="l" indent="0" marL="0">
              <a:lnSpc>
                <a:spcPts val="1500"/>
              </a:lnSpc>
              <a:buNone/>
            </a:pPr>
            <a:r>
              <a:rPr lang="en-US" sz="1200" dirty="0">
                <a:solidFill>
                  <a:srgbClr val="1B2430"/>
                </a:solidFill>
                <a:latin typeface="Inter" pitchFamily="34" charset="0"/>
                <a:ea typeface="Inter" pitchFamily="34" charset="-122"/>
                <a:cs typeface="Inter" pitchFamily="34" charset="-120"/>
              </a:rPr>
              <a:t>obras, construcción, transporte, vivienda, vías</a:t>
            </a:r>
            <a:endParaRPr lang="en-US" sz="1200" dirty="0"/>
          </a:p>
        </p:txBody>
      </p:sp>
      <p:sp>
        <p:nvSpPr>
          <p:cNvPr id="17" name="Shape 15"/>
          <p:cNvSpPr/>
          <p:nvPr/>
        </p:nvSpPr>
        <p:spPr>
          <a:xfrm>
            <a:off x="812726" y="5128865"/>
            <a:ext cx="10566549" cy="614660"/>
          </a:xfrm>
          <a:prstGeom prst="roundRect">
            <a:avLst>
              <a:gd name="adj" fmla="val 16529"/>
            </a:avLst>
          </a:prstGeom>
          <a:solidFill>
            <a:srgbClr val="1B2430"/>
          </a:solidFill>
          <a:ln/>
        </p:spPr>
      </p:sp>
      <p:sp>
        <p:nvSpPr>
          <p:cNvPr id="18" name="Text 16"/>
          <p:cNvSpPr/>
          <p:nvPr/>
        </p:nvSpPr>
        <p:spPr>
          <a:xfrm>
            <a:off x="990451" y="5329535"/>
            <a:ext cx="10668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PARA QUÉ</a:t>
            </a:r>
            <a:endParaRPr lang="en-US" sz="1200" dirty="0"/>
          </a:p>
        </p:txBody>
      </p:sp>
      <p:sp>
        <p:nvSpPr>
          <p:cNvPr id="19" name="Text 17"/>
          <p:cNvSpPr/>
          <p:nvPr/>
        </p:nvSpPr>
        <p:spPr>
          <a:xfrm>
            <a:off x="2158752" y="5230440"/>
            <a:ext cx="9314081"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(1) Categoría inicial por documento en el dataset medido. (2) Medida de agenda sin modelo: tokens de la categoría por mil. (3) Referencia externa para validar los tópicos.</a:t>
            </a:r>
            <a:endParaRPr lang="en-US" sz="1200" dirty="0"/>
          </a:p>
        </p:txBody>
      </p:sp>
      <p:sp>
        <p:nvSpPr>
          <p:cNvPr id="20" name="Text 18"/>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Construido por el equipo, sin etiquetas humanas · cuaderno 05 · informe, sección 6.6</a:t>
            </a:r>
            <a:endParaRPr lang="en-US" sz="1200" dirty="0"/>
          </a:p>
        </p:txBody>
      </p:sp>
      <p:sp>
        <p:nvSpPr>
          <p:cNvPr id="21" name="Text 19"/>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EDA 7 · Prevalencia léxica por año</a:t>
            </a:r>
            <a:endParaRPr lang="en-US" sz="2800" dirty="0"/>
          </a:p>
        </p:txBody>
      </p:sp>
      <p:sp>
        <p:nvSpPr>
          <p:cNvPr id="3" name="Shape 1"/>
          <p:cNvSpPr/>
          <p:nvPr/>
        </p:nvSpPr>
        <p:spPr>
          <a:xfrm>
            <a:off x="815901" y="1283097"/>
            <a:ext cx="6343650" cy="3439517"/>
          </a:xfrm>
          <a:prstGeom prst="roundRect">
            <a:avLst>
              <a:gd name="adj" fmla="val 2862"/>
            </a:avLst>
          </a:prstGeom>
          <a:solidFill>
            <a:srgbClr val="FFFFFF"/>
          </a:solidFill>
          <a:ln w="6350">
            <a:solidFill>
              <a:srgbClr val="DDD7C8"/>
            </a:solidFill>
            <a:prstDash val="solid"/>
          </a:ln>
        </p:spPr>
      </p:sp>
      <p:pic>
        <p:nvPicPr>
          <p:cNvPr id="4" name="Image 0" descr="Mapa de calor de prevalencia léxica por año para 13 categorías, relativa a la media de cada categoría">    </p:cNvPr>
          <p:cNvPicPr>
            <a:picLocks noChangeAspect="1"/>
          </p:cNvPicPr>
          <p:nvPr/>
        </p:nvPicPr>
        <p:blipFill>
          <a:blip r:embed="rId1"/>
          <a:srcRect l="0" r="0" t="-15" b="-15"/>
          <a:stretch/>
        </p:blipFill>
        <p:spPr>
          <a:xfrm>
            <a:off x="934889" y="1402085"/>
            <a:ext cx="6096000" cy="2711400"/>
          </a:xfrm>
          <a:prstGeom prst="rect">
            <a:avLst/>
          </a:prstGeom>
        </p:spPr>
      </p:pic>
      <p:sp>
        <p:nvSpPr>
          <p:cNvPr id="5" name="Text 2"/>
          <p:cNvSpPr/>
          <p:nvPr/>
        </p:nvSpPr>
        <p:spPr>
          <a:xfrm>
            <a:off x="934889" y="4176985"/>
            <a:ext cx="628884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361"/>
                </a:solidFill>
                <a:latin typeface="Inter" pitchFamily="34" charset="0"/>
                <a:ea typeface="Inter" pitchFamily="34" charset="-122"/>
                <a:cs typeface="Inter" pitchFamily="34" charset="-120"/>
              </a:rPr>
              <a:t>Tokens de cada categoría por mil, relativos a su promedio (1 = promedio, 2 = el doble).</a:t>
            </a:r>
            <a:endParaRPr lang="en-US" sz="1200" dirty="0"/>
          </a:p>
        </p:txBody>
      </p:sp>
      <p:sp>
        <p:nvSpPr>
          <p:cNvPr id="6" name="Text 3"/>
          <p:cNvSpPr/>
          <p:nvPr/>
        </p:nvSpPr>
        <p:spPr>
          <a:xfrm>
            <a:off x="7369051" y="1283097"/>
            <a:ext cx="4007048" cy="410741"/>
          </a:xfrm>
          <a:prstGeom prst="roundRect">
            <a:avLst>
              <a:gd name="adj" fmla="val 23963"/>
            </a:avLst>
          </a:prstGeom>
          <a:solidFill>
            <a:srgbClr val="FFFDF8"/>
          </a:solidFill>
          <a:ln w="6350">
            <a:solidFill>
              <a:srgbClr val="DDD7C8"/>
            </a:solidFill>
            <a:prstDash val="solid"/>
          </a:ln>
        </p:spPr>
        <p:txBody>
          <a:bodyPr wrap="square" lIns="115585" tIns="77535" rIns="4039" bIns="52085" rtlCol="0" anchor="t">
            <a:normAutofit/>
          </a:bodyPr>
          <a:lstStyle/>
          <a:p>
            <a:pPr algn="l" indent="0" marL="0">
              <a:lnSpc>
                <a:spcPts val="1560"/>
              </a:lnSpc>
              <a:buNone/>
            </a:pPr>
            <a:r>
              <a:rPr lang="en-US" sz="1200" b="1" dirty="0">
                <a:solidFill>
                  <a:srgbClr val="A8402B"/>
                </a:solidFill>
                <a:latin typeface="Inter" pitchFamily="34" charset="0"/>
                <a:ea typeface="Inter" pitchFamily="34" charset="-122"/>
                <a:cs typeface="Inter" pitchFamily="34" charset="-120"/>
              </a:rPr>
              <a:t>Narcotráfico</a:t>
            </a:r>
            <a:r>
              <a:rPr lang="en-US" sz="1200" dirty="0">
                <a:solidFill>
                  <a:srgbClr val="1B2430"/>
                </a:solidFill>
                <a:latin typeface="Inter" pitchFamily="34" charset="0"/>
                <a:ea typeface="Inter" pitchFamily="34" charset="-122"/>
                <a:cs typeface="Inter" pitchFamily="34" charset="-120"/>
              </a:rPr>
              <a:t> alcanza su máximo en 1987–89.</a:t>
            </a:r>
            <a:endParaRPr lang="en-US" sz="1200" dirty="0"/>
          </a:p>
        </p:txBody>
      </p:sp>
      <p:sp>
        <p:nvSpPr>
          <p:cNvPr id="7" name="Text 4"/>
          <p:cNvSpPr/>
          <p:nvPr/>
        </p:nvSpPr>
        <p:spPr>
          <a:xfrm>
            <a:off x="7369051" y="1788988"/>
            <a:ext cx="4007048" cy="410741"/>
          </a:xfrm>
          <a:prstGeom prst="roundRect">
            <a:avLst>
              <a:gd name="adj" fmla="val 23963"/>
            </a:avLst>
          </a:prstGeom>
          <a:solidFill>
            <a:srgbClr val="FFFDF8"/>
          </a:solidFill>
          <a:ln w="6350">
            <a:solidFill>
              <a:srgbClr val="DDD7C8"/>
            </a:solidFill>
            <a:prstDash val="solid"/>
          </a:ln>
        </p:spPr>
        <p:txBody>
          <a:bodyPr wrap="square" lIns="115585" tIns="77535" rIns="4039" bIns="52085" rtlCol="0" anchor="t">
            <a:normAutofit/>
          </a:bodyPr>
          <a:lstStyle/>
          <a:p>
            <a:pPr algn="l" indent="0" marL="0">
              <a:lnSpc>
                <a:spcPts val="1560"/>
              </a:lnSpc>
              <a:buNone/>
            </a:pPr>
            <a:r>
              <a:rPr lang="en-US" sz="1200" b="1" dirty="0">
                <a:solidFill>
                  <a:srgbClr val="A8402B"/>
                </a:solidFill>
                <a:latin typeface="Inter" pitchFamily="34" charset="0"/>
                <a:ea typeface="Inter" pitchFamily="34" charset="-122"/>
                <a:cs typeface="Inter" pitchFamily="34" charset="-120"/>
              </a:rPr>
              <a:t>Conflicto armado</a:t>
            </a:r>
            <a:r>
              <a:rPr lang="en-US" sz="1200" dirty="0">
                <a:solidFill>
                  <a:srgbClr val="1B2430"/>
                </a:solidFill>
                <a:latin typeface="Inter" pitchFamily="34" charset="0"/>
                <a:ea typeface="Inter" pitchFamily="34" charset="-122"/>
                <a:cs typeface="Inter" pitchFamily="34" charset="-120"/>
              </a:rPr>
              <a:t> sube a un máximo en 2001–02.</a:t>
            </a:r>
            <a:endParaRPr lang="en-US" sz="1200" dirty="0"/>
          </a:p>
        </p:txBody>
      </p:sp>
      <p:sp>
        <p:nvSpPr>
          <p:cNvPr id="8" name="Text 5"/>
          <p:cNvSpPr/>
          <p:nvPr/>
        </p:nvSpPr>
        <p:spPr>
          <a:xfrm>
            <a:off x="7369051" y="2294880"/>
            <a:ext cx="4007048" cy="410741"/>
          </a:xfrm>
          <a:prstGeom prst="roundRect">
            <a:avLst>
              <a:gd name="adj" fmla="val 23963"/>
            </a:avLst>
          </a:prstGeom>
          <a:solidFill>
            <a:srgbClr val="FFFDF8"/>
          </a:solidFill>
          <a:ln w="6350">
            <a:solidFill>
              <a:srgbClr val="DDD7C8"/>
            </a:solidFill>
            <a:prstDash val="solid"/>
          </a:ln>
        </p:spPr>
        <p:txBody>
          <a:bodyPr wrap="square" lIns="115585" tIns="77535" rIns="4039" bIns="52085" rtlCol="0" anchor="t">
            <a:normAutofit/>
          </a:bodyPr>
          <a:lstStyle/>
          <a:p>
            <a:pPr algn="l" indent="0" marL="0">
              <a:lnSpc>
                <a:spcPts val="1560"/>
              </a:lnSpc>
              <a:buNone/>
            </a:pPr>
            <a:r>
              <a:rPr lang="en-US" sz="1200" b="1" dirty="0">
                <a:solidFill>
                  <a:srgbClr val="A8402B"/>
                </a:solidFill>
                <a:latin typeface="Inter" pitchFamily="34" charset="0"/>
                <a:ea typeface="Inter" pitchFamily="34" charset="-122"/>
                <a:cs typeface="Inter" pitchFamily="34" charset="-120"/>
              </a:rPr>
              <a:t>Economía y empleo</a:t>
            </a:r>
            <a:r>
              <a:rPr lang="en-US" sz="1200" dirty="0">
                <a:solidFill>
                  <a:srgbClr val="1B2430"/>
                </a:solidFill>
                <a:latin typeface="Inter" pitchFamily="34" charset="0"/>
                <a:ea typeface="Inter" pitchFamily="34" charset="-122"/>
                <a:cs typeface="Inter" pitchFamily="34" charset="-120"/>
              </a:rPr>
              <a:t> destacan entre 1999 y 2002.</a:t>
            </a:r>
            <a:endParaRPr lang="en-US" sz="1200" dirty="0"/>
          </a:p>
        </p:txBody>
      </p:sp>
      <p:sp>
        <p:nvSpPr>
          <p:cNvPr id="9" name="Text 6"/>
          <p:cNvSpPr/>
          <p:nvPr/>
        </p:nvSpPr>
        <p:spPr>
          <a:xfrm>
            <a:off x="7369051" y="2800772"/>
            <a:ext cx="4007048" cy="608806"/>
          </a:xfrm>
          <a:prstGeom prst="roundRect">
            <a:avLst>
              <a:gd name="adj" fmla="val 16167"/>
            </a:avLst>
          </a:prstGeom>
          <a:solidFill>
            <a:srgbClr val="FFFDF8"/>
          </a:solidFill>
          <a:ln w="6350">
            <a:solidFill>
              <a:srgbClr val="DDD7C8"/>
            </a:solidFill>
            <a:prstDash val="solid"/>
          </a:ln>
        </p:spPr>
        <p:txBody>
          <a:bodyPr wrap="square" lIns="115585" tIns="77535" rIns="4039" bIns="52085" rtlCol="0" anchor="t">
            <a:normAutofit/>
          </a:bodyPr>
          <a:lstStyle/>
          <a:p>
            <a:pPr algn="l" indent="0" marL="0">
              <a:lnSpc>
                <a:spcPts val="1560"/>
              </a:lnSpc>
              <a:buNone/>
            </a:pPr>
            <a:r>
              <a:rPr lang="en-US" sz="1200" b="1" dirty="0">
                <a:solidFill>
                  <a:srgbClr val="A8402B"/>
                </a:solidFill>
                <a:latin typeface="Inter" pitchFamily="34" charset="0"/>
                <a:ea typeface="Inter" pitchFamily="34" charset="-122"/>
                <a:cs typeface="Inter" pitchFamily="34" charset="-120"/>
              </a:rPr>
              <a:t>Justicia y crimen</a:t>
            </a:r>
            <a:r>
              <a:rPr lang="en-US" sz="1200" dirty="0">
                <a:solidFill>
                  <a:srgbClr val="1B2430"/>
                </a:solidFill>
                <a:latin typeface="Inter" pitchFamily="34" charset="0"/>
                <a:ea typeface="Inter" pitchFamily="34" charset="-122"/>
                <a:cs typeface="Inter" pitchFamily="34" charset="-120"/>
              </a:rPr>
              <a:t> crece desde 2005; deporte hacia 2009–11.</a:t>
            </a:r>
            <a:endParaRPr lang="en-US" sz="1200" dirty="0"/>
          </a:p>
        </p:txBody>
      </p:sp>
      <p:sp>
        <p:nvSpPr>
          <p:cNvPr id="10" name="Shape 7"/>
          <p:cNvSpPr/>
          <p:nvPr/>
        </p:nvSpPr>
        <p:spPr>
          <a:xfrm>
            <a:off x="812726" y="4903515"/>
            <a:ext cx="10566549" cy="467320"/>
          </a:xfrm>
          <a:prstGeom prst="roundRect">
            <a:avLst>
              <a:gd name="adj" fmla="val 21741"/>
            </a:avLst>
          </a:prstGeom>
          <a:solidFill>
            <a:srgbClr val="1B2430"/>
          </a:solidFill>
          <a:ln/>
        </p:spPr>
      </p:sp>
      <p:sp>
        <p:nvSpPr>
          <p:cNvPr id="11" name="Text 8"/>
          <p:cNvSpPr/>
          <p:nvPr/>
        </p:nvSpPr>
        <p:spPr>
          <a:xfrm>
            <a:off x="1015876" y="5030515"/>
            <a:ext cx="10668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CAUTELA</a:t>
            </a:r>
            <a:endParaRPr lang="en-US" sz="1200" dirty="0"/>
          </a:p>
        </p:txBody>
      </p:sp>
      <p:sp>
        <p:nvSpPr>
          <p:cNvPr id="12" name="Text 9"/>
          <p:cNvSpPr/>
          <p:nvPr/>
        </p:nvSpPr>
        <p:spPr>
          <a:xfrm>
            <a:off x="2184177" y="5034235"/>
            <a:ext cx="9261706"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Las filas de los años 80 son ruidosas: 31–166 artículos por año y una sola fuente. Se muestran, pero no se interpretan.</a:t>
            </a:r>
            <a:endParaRPr lang="en-US" sz="1200" dirty="0"/>
          </a:p>
        </p:txBody>
      </p:sp>
      <p:sp>
        <p:nvSpPr>
          <p:cNvPr id="13" name="Text 10"/>
          <p:cNvSpPr/>
          <p:nvPr/>
        </p:nvSpPr>
        <p:spPr>
          <a:xfrm>
            <a:off x="812726" y="6238379"/>
            <a:ext cx="100077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Medida de agenda model‑free, con la misma normalización que Caicedo et al. (2012) · cuaderno 05 · informe, sección 6.6</a:t>
            </a:r>
            <a:endParaRPr lang="en-US" sz="1200" dirty="0"/>
          </a:p>
        </p:txBody>
      </p:sp>
      <p:sp>
        <p:nvSpPr>
          <p:cNvPr id="14" name="Text 11"/>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05160"/>
          </a:xfrm>
          <a:prstGeom prst="rect">
            <a:avLst/>
          </a:prstGeom>
          <a:noFill/>
          <a:ln/>
        </p:spPr>
        <p:txBody>
          <a:bodyPr wrap="square" lIns="0" tIns="0" rIns="0" bIns="0" rtlCol="0" anchor="t">
            <a:normAutofit/>
          </a:bodyPr>
          <a:lstStyle/>
          <a:p>
            <a:pPr algn="l" indent="0" marL="0">
              <a:lnSpc>
                <a:spcPts val="3022"/>
              </a:lnSpc>
              <a:buNone/>
            </a:pPr>
            <a:r>
              <a:rPr lang="en-US" sz="2748" b="1" i="0" dirty="0">
                <a:solidFill>
                  <a:srgbClr val="1B2430"/>
                </a:solidFill>
                <a:latin typeface="Source Serif 4" pitchFamily="18" charset="0"/>
                <a:ea typeface="Source Serif 4" pitchFamily="18" charset="-122"/>
                <a:cs typeface="Source Serif 4" pitchFamily="18" charset="-120"/>
              </a:rPr>
              <a:t>EDA: hallazgos y decisiones que implican</a:t>
            </a:r>
            <a:endParaRPr lang="en-US" sz="2748"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263923"/>
          <a:ext cx="10558611" cy="4578077"/>
        </p:xfrm>
        <a:graphic>
          <a:graphicData uri="http://schemas.openxmlformats.org/drawingml/2006/table">
            <a:tbl>
              <a:tblPr/>
              <a:tblGrid>
                <a:gridCol w="3519537"/>
                <a:gridCol w="3519537"/>
                <a:gridCol w="3519537"/>
              </a:tblGrid>
              <a:tr h="309190">
                <a:tc>
                  <a:txBody>
                    <a:bodyPr/>
                    <a:lstStyle/>
                    <a:p>
                      <a:pPr indent="0" marL="0">
                        <a:lnSpc>
                          <a:spcPts val="1638"/>
                        </a:lnSpc>
                        <a:buNone/>
                      </a:pPr>
                      <a:r>
                        <a:rPr lang="en-US" sz="1170" b="1" dirty="0">
                          <a:solidFill>
                            <a:srgbClr val="F6F3EC"/>
                          </a:solidFill>
                          <a:latin typeface="Inter" pitchFamily="34" charset="0"/>
                          <a:ea typeface="Inter" pitchFamily="34" charset="-122"/>
                          <a:cs typeface="Inter" pitchFamily="34" charset="-120"/>
                        </a:rPr>
                        <a:t>Hallazgo</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38"/>
                        </a:lnSpc>
                        <a:buNone/>
                      </a:pPr>
                      <a:r>
                        <a:rPr lang="en-US" sz="1170" b="1" dirty="0">
                          <a:solidFill>
                            <a:srgbClr val="F6F3EC"/>
                          </a:solidFill>
                          <a:latin typeface="Inter" pitchFamily="34" charset="0"/>
                          <a:ea typeface="Inter" pitchFamily="34" charset="-122"/>
                          <a:cs typeface="Inter" pitchFamily="34" charset="-120"/>
                        </a:rPr>
                        <a:t>Evidencia</a:t>
                      </a:r>
                      <a:endParaRPr lang="en-US" sz="117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38"/>
                        </a:lnSpc>
                        <a:buNone/>
                      </a:pPr>
                      <a:r>
                        <a:rPr lang="en-US" sz="1170" b="1" dirty="0">
                          <a:solidFill>
                            <a:srgbClr val="F6F3EC"/>
                          </a:solidFill>
                          <a:latin typeface="Inter" pitchFamily="34" charset="0"/>
                          <a:ea typeface="Inter" pitchFamily="34" charset="-122"/>
                          <a:cs typeface="Inter" pitchFamily="34" charset="-120"/>
                        </a:rPr>
                        <a:t>Decisión en el modelo</a:t>
                      </a:r>
                      <a:endParaRPr lang="en-US" sz="117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494854">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Fuente confundida con el tiempo</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Años 80 solo Semana; El Tiempo desde 1990; entidades saltan de 12–15 % a 17–20 % en 1990</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Serie principal El Tiempo 1990–2011; permutaciones por fuente</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4854">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El vocabulario no se cierra</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β de Heaps 0,46; 42,3 % de los tipos son hapax</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Filtro por frecuencia: min_df 15, max_df 0,4, 25.000 términos</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4978">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Los nombres propios pesan</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22 % de los tokens; lo distintivo por época son gobernantes</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Variante sin entidades en la robustez</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4978">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Diversidad cae a la vez en las tres fuentes</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MATTR de ~0,80 a ~0,75; mínimos en 2001 y 2004–05</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Posible cambio de formato: cautela con cambios cercanos (1999–2001, 2006)</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4978">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Dinero es más repetitivo</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Yule's K de 4,3 a 5,5 frente a ~3,3 en El Tiempo</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Se esperan tópicos de mercados (bolsa, café, petróleo, oro)</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4978">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Las expresiones se parten con unigramas</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derechos humanos, naciones unidas, Juan Manuel Santos</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Mejora: bigramas NPMI como rasgos</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4978">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Un concepto cambia de contexto</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guerrilla pasa de subversión a Caguán; salud, de genérico a Sisbén y Fosyga</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La agenda también cambia de vocabulario dentro de un tema</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4978">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El léxico coincide con la historia conocida</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Narcotráfico 1987–89; conflicto 2001–02; economía 1999–2002</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Referencia externa para validar los tópicos</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309314">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Los años 80 son ruido</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31–166 artículos por año, una sola fuente</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38"/>
                        </a:lnSpc>
                        <a:buNone/>
                      </a:pPr>
                      <a:r>
                        <a:rPr lang="en-US" sz="1170" dirty="0">
                          <a:solidFill>
                            <a:srgbClr val="1B2430"/>
                          </a:solidFill>
                          <a:latin typeface="Inter" pitchFamily="34" charset="0"/>
                          <a:ea typeface="Inter" pitchFamily="34" charset="-122"/>
                          <a:cs typeface="Inter" pitchFamily="34" charset="-120"/>
                        </a:rPr>
                        <a:t>Se describen, no se contrastan</a:t>
                      </a:r>
                      <a:endParaRPr lang="en-US" sz="117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Cuaderno 05 · informe, sección 6.7</a:t>
            </a:r>
            <a:endParaRPr lang="en-US" sz="1200" dirty="0"/>
          </a:p>
        </p:txBody>
      </p:sp>
      <p:sp>
        <p:nvSpPr>
          <p:cNvPr id="5" name="Text 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4447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B2430"/>
                </a:solidFill>
                <a:latin typeface="Source Serif 4" pitchFamily="18" charset="0"/>
                <a:ea typeface="Source Serif 4" pitchFamily="18" charset="-122"/>
                <a:cs typeface="Source Serif 4" pitchFamily="18" charset="-120"/>
              </a:rPr>
              <a:t>Dataset medido</a:t>
            </a:r>
            <a:endParaRPr lang="en-US" sz="3000" dirty="0"/>
          </a:p>
        </p:txBody>
      </p:sp>
      <p:sp>
        <p:nvSpPr>
          <p:cNvPr id="3" name="Shape 1"/>
          <p:cNvSpPr/>
          <p:nvPr/>
        </p:nvSpPr>
        <p:spPr>
          <a:xfrm>
            <a:off x="815901" y="1361976"/>
            <a:ext cx="3041774" cy="1156866"/>
          </a:xfrm>
          <a:prstGeom prst="roundRect">
            <a:avLst>
              <a:gd name="adj" fmla="val 8508"/>
            </a:avLst>
          </a:prstGeom>
          <a:solidFill>
            <a:srgbClr val="FFFDF8"/>
          </a:solidFill>
          <a:ln w="6350">
            <a:solidFill>
              <a:srgbClr val="DDD7C8"/>
            </a:solidFill>
            <a:prstDash val="solid"/>
          </a:ln>
        </p:spPr>
      </p:sp>
      <p:sp>
        <p:nvSpPr>
          <p:cNvPr id="4" name="Text 2"/>
          <p:cNvSpPr/>
          <p:nvPr/>
        </p:nvSpPr>
        <p:spPr>
          <a:xfrm>
            <a:off x="998389" y="1544464"/>
            <a:ext cx="275710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Identificación</a:t>
            </a:r>
            <a:endParaRPr lang="en-US" sz="1400" dirty="0"/>
          </a:p>
        </p:txBody>
      </p:sp>
      <p:sp>
        <p:nvSpPr>
          <p:cNvPr id="5" name="Text 3"/>
          <p:cNvSpPr/>
          <p:nvPr/>
        </p:nvSpPr>
        <p:spPr>
          <a:xfrm>
            <a:off x="998389" y="1821284"/>
            <a:ext cx="27571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430"/>
                </a:solidFill>
                <a:latin typeface="Inter" pitchFamily="34" charset="0"/>
                <a:ea typeface="Inter" pitchFamily="34" charset="-122"/>
                <a:cs typeface="Inter" pitchFamily="34" charset="-120"/>
              </a:rPr>
              <a:t>id, fuente, fecha, año</a:t>
            </a:r>
            <a:endParaRPr lang="en-US" sz="1200" dirty="0"/>
          </a:p>
        </p:txBody>
      </p:sp>
      <p:sp>
        <p:nvSpPr>
          <p:cNvPr id="6" name="Shape 4"/>
          <p:cNvSpPr/>
          <p:nvPr/>
        </p:nvSpPr>
        <p:spPr>
          <a:xfrm>
            <a:off x="4016325" y="1361976"/>
            <a:ext cx="3041774" cy="1156866"/>
          </a:xfrm>
          <a:prstGeom prst="roundRect">
            <a:avLst>
              <a:gd name="adj" fmla="val 8508"/>
            </a:avLst>
          </a:prstGeom>
          <a:solidFill>
            <a:srgbClr val="FFFDF8"/>
          </a:solidFill>
          <a:ln w="6350">
            <a:solidFill>
              <a:srgbClr val="DDD7C8"/>
            </a:solidFill>
            <a:prstDash val="solid"/>
          </a:ln>
        </p:spPr>
      </p:sp>
      <p:sp>
        <p:nvSpPr>
          <p:cNvPr id="7" name="Text 5"/>
          <p:cNvSpPr/>
          <p:nvPr/>
        </p:nvSpPr>
        <p:spPr>
          <a:xfrm>
            <a:off x="4198813" y="1544464"/>
            <a:ext cx="275710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Texto</a:t>
            </a:r>
            <a:endParaRPr lang="en-US" sz="1400" dirty="0"/>
          </a:p>
        </p:txBody>
      </p:sp>
      <p:sp>
        <p:nvSpPr>
          <p:cNvPr id="8" name="Text 6"/>
          <p:cNvSpPr/>
          <p:nvPr/>
        </p:nvSpPr>
        <p:spPr>
          <a:xfrm>
            <a:off x="4198813" y="1821284"/>
            <a:ext cx="27571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430"/>
                </a:solidFill>
                <a:latin typeface="Inter" pitchFamily="34" charset="0"/>
                <a:ea typeface="Inter" pitchFamily="34" charset="-122"/>
                <a:cs typeface="Inter" pitchFamily="34" charset="-120"/>
              </a:rPr>
              <a:t>texto_limpio, tokens de contenido</a:t>
            </a:r>
            <a:endParaRPr lang="en-US" sz="1200" dirty="0"/>
          </a:p>
        </p:txBody>
      </p:sp>
      <p:sp>
        <p:nvSpPr>
          <p:cNvPr id="9" name="Shape 7"/>
          <p:cNvSpPr/>
          <p:nvPr/>
        </p:nvSpPr>
        <p:spPr>
          <a:xfrm>
            <a:off x="815901" y="2677492"/>
            <a:ext cx="3041774" cy="1370186"/>
          </a:xfrm>
          <a:prstGeom prst="roundRect">
            <a:avLst>
              <a:gd name="adj" fmla="val 7183"/>
            </a:avLst>
          </a:prstGeom>
          <a:solidFill>
            <a:srgbClr val="FFFDF8"/>
          </a:solidFill>
          <a:ln w="6350">
            <a:solidFill>
              <a:srgbClr val="DDD7C8"/>
            </a:solidFill>
            <a:prstDash val="solid"/>
          </a:ln>
        </p:spPr>
      </p:sp>
      <p:sp>
        <p:nvSpPr>
          <p:cNvPr id="10" name="Text 8"/>
          <p:cNvSpPr/>
          <p:nvPr/>
        </p:nvSpPr>
        <p:spPr>
          <a:xfrm>
            <a:off x="998389" y="2859980"/>
            <a:ext cx="275710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Medidas</a:t>
            </a:r>
            <a:endParaRPr lang="en-US" sz="1400" dirty="0"/>
          </a:p>
        </p:txBody>
      </p:sp>
      <p:sp>
        <p:nvSpPr>
          <p:cNvPr id="11" name="Text 9"/>
          <p:cNvSpPr/>
          <p:nvPr/>
        </p:nvSpPr>
        <p:spPr>
          <a:xfrm>
            <a:off x="998389" y="3136801"/>
            <a:ext cx="275710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430"/>
                </a:solidFill>
                <a:latin typeface="Inter" pitchFamily="34" charset="0"/>
                <a:ea typeface="Inter" pitchFamily="34" charset="-122"/>
                <a:cs typeface="Inter" pitchFamily="34" charset="-120"/>
              </a:rPr>
              <a:t>n_chars, n_palabras, n_tokens, n_types, ttr</a:t>
            </a:r>
            <a:endParaRPr lang="en-US" sz="1200" dirty="0"/>
          </a:p>
        </p:txBody>
      </p:sp>
      <p:sp>
        <p:nvSpPr>
          <p:cNvPr id="12" name="Shape 10"/>
          <p:cNvSpPr/>
          <p:nvPr/>
        </p:nvSpPr>
        <p:spPr>
          <a:xfrm>
            <a:off x="4016325" y="2677492"/>
            <a:ext cx="3041774" cy="1370186"/>
          </a:xfrm>
          <a:prstGeom prst="roundRect">
            <a:avLst>
              <a:gd name="adj" fmla="val 7183"/>
            </a:avLst>
          </a:prstGeom>
          <a:solidFill>
            <a:srgbClr val="FFFDF8"/>
          </a:solidFill>
          <a:ln w="6350">
            <a:solidFill>
              <a:srgbClr val="DDD7C8"/>
            </a:solidFill>
            <a:prstDash val="solid"/>
          </a:ln>
        </p:spPr>
      </p:sp>
      <p:sp>
        <p:nvSpPr>
          <p:cNvPr id="13" name="Text 11"/>
          <p:cNvSpPr/>
          <p:nvPr/>
        </p:nvSpPr>
        <p:spPr>
          <a:xfrm>
            <a:off x="4198813" y="2859980"/>
            <a:ext cx="275710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Entidades y léxico</a:t>
            </a:r>
            <a:endParaRPr lang="en-US" sz="1400" dirty="0"/>
          </a:p>
        </p:txBody>
      </p:sp>
      <p:sp>
        <p:nvSpPr>
          <p:cNvPr id="14" name="Text 12"/>
          <p:cNvSpPr/>
          <p:nvPr/>
        </p:nvSpPr>
        <p:spPr>
          <a:xfrm>
            <a:off x="4198813" y="3136801"/>
            <a:ext cx="275710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430"/>
                </a:solidFill>
                <a:latin typeface="Inter" pitchFamily="34" charset="0"/>
                <a:ea typeface="Inter" pitchFamily="34" charset="-122"/>
                <a:cs typeface="Inter" pitchFamily="34" charset="-120"/>
              </a:rPr>
              <a:t>n_entidades, frac_entidades, categoria_inicial, n_hits_lexico</a:t>
            </a:r>
            <a:endParaRPr lang="en-US" sz="1200" dirty="0"/>
          </a:p>
        </p:txBody>
      </p:sp>
      <p:sp>
        <p:nvSpPr>
          <p:cNvPr id="15" name="Shape 13"/>
          <p:cNvSpPr/>
          <p:nvPr/>
        </p:nvSpPr>
        <p:spPr>
          <a:xfrm>
            <a:off x="7315274" y="1358801"/>
            <a:ext cx="4064000" cy="2692053"/>
          </a:xfrm>
          <a:prstGeom prst="roundRect">
            <a:avLst>
              <a:gd name="adj" fmla="val 3774"/>
            </a:avLst>
          </a:prstGeom>
          <a:solidFill>
            <a:srgbClr val="1B2430"/>
          </a:solidFill>
          <a:ln/>
        </p:spPr>
      </p:sp>
      <p:sp>
        <p:nvSpPr>
          <p:cNvPr id="16" name="Text 14"/>
          <p:cNvSpPr/>
          <p:nvPr/>
        </p:nvSpPr>
        <p:spPr>
          <a:xfrm>
            <a:off x="7543850" y="1587376"/>
            <a:ext cx="3715055"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0A43A"/>
                </a:solidFill>
                <a:latin typeface="Inter" pitchFamily="34" charset="0"/>
                <a:ea typeface="Inter" pitchFamily="34" charset="-122"/>
                <a:cs typeface="Inter" pitchFamily="34" charset="-120"/>
              </a:rPr>
              <a:t>POR DOCUMENTO (MEDIA)</a:t>
            </a:r>
            <a:endParaRPr lang="en-US" sz="1200" dirty="0"/>
          </a:p>
        </p:txBody>
      </p:sp>
      <p:sp>
        <p:nvSpPr>
          <p:cNvPr id="17" name="Text 15"/>
          <p:cNvSpPr/>
          <p:nvPr/>
        </p:nvSpPr>
        <p:spPr>
          <a:xfrm>
            <a:off x="7543850" y="2026047"/>
            <a:ext cx="805458" cy="25645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9D4C7"/>
                </a:solidFill>
                <a:latin typeface="Inter" pitchFamily="34" charset="0"/>
                <a:ea typeface="Inter" pitchFamily="34" charset="-122"/>
                <a:cs typeface="Inter" pitchFamily="34" charset="-120"/>
              </a:rPr>
              <a:t>palabras</a:t>
            </a:r>
            <a:endParaRPr lang="en-US" sz="1300" dirty="0"/>
          </a:p>
        </p:txBody>
      </p:sp>
      <p:sp>
        <p:nvSpPr>
          <p:cNvPr id="18" name="Text 16"/>
          <p:cNvSpPr/>
          <p:nvPr/>
        </p:nvSpPr>
        <p:spPr>
          <a:xfrm>
            <a:off x="10600482" y="1914922"/>
            <a:ext cx="550218" cy="416570"/>
          </a:xfrm>
          <a:prstGeom prst="rect">
            <a:avLst/>
          </a:prstGeom>
          <a:noFill/>
          <a:ln/>
        </p:spPr>
        <p:txBody>
          <a:bodyPr wrap="square" lIns="0" tIns="0" rIns="0" bIns="0" rtlCol="0" anchor="t">
            <a:normAutofit/>
          </a:bodyPr>
          <a:lstStyle/>
          <a:p>
            <a:pPr algn="r" indent="0" marL="0">
              <a:lnSpc>
                <a:spcPts val="3080"/>
              </a:lnSpc>
              <a:buNone/>
            </a:pPr>
            <a:r>
              <a:rPr lang="en-US" sz="2200" b="1" dirty="0">
                <a:solidFill>
                  <a:srgbClr val="F6F3EC"/>
                </a:solidFill>
                <a:latin typeface="Source Serif 4" pitchFamily="18" charset="0"/>
                <a:ea typeface="Source Serif 4" pitchFamily="18" charset="-122"/>
                <a:cs typeface="Source Serif 4" pitchFamily="18" charset="-120"/>
              </a:rPr>
              <a:t>348</a:t>
            </a:r>
            <a:endParaRPr lang="en-US" sz="2200" dirty="0"/>
          </a:p>
        </p:txBody>
      </p:sp>
      <p:sp>
        <p:nvSpPr>
          <p:cNvPr id="19" name="Text 17"/>
          <p:cNvSpPr/>
          <p:nvPr/>
        </p:nvSpPr>
        <p:spPr>
          <a:xfrm>
            <a:off x="7543850" y="2531442"/>
            <a:ext cx="1903958" cy="25645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9D4C7"/>
                </a:solidFill>
                <a:latin typeface="Inter" pitchFamily="34" charset="0"/>
                <a:ea typeface="Inter" pitchFamily="34" charset="-122"/>
                <a:cs typeface="Inter" pitchFamily="34" charset="-120"/>
              </a:rPr>
              <a:t>tokens de contenido</a:t>
            </a:r>
            <a:endParaRPr lang="en-US" sz="1300" dirty="0"/>
          </a:p>
        </p:txBody>
      </p:sp>
      <p:sp>
        <p:nvSpPr>
          <p:cNvPr id="20" name="Text 18"/>
          <p:cNvSpPr/>
          <p:nvPr/>
        </p:nvSpPr>
        <p:spPr>
          <a:xfrm>
            <a:off x="10600482" y="2420317"/>
            <a:ext cx="550218" cy="416570"/>
          </a:xfrm>
          <a:prstGeom prst="rect">
            <a:avLst/>
          </a:prstGeom>
          <a:noFill/>
          <a:ln/>
        </p:spPr>
        <p:txBody>
          <a:bodyPr wrap="square" lIns="0" tIns="0" rIns="0" bIns="0" rtlCol="0" anchor="t">
            <a:normAutofit/>
          </a:bodyPr>
          <a:lstStyle/>
          <a:p>
            <a:pPr algn="r" indent="0" marL="0">
              <a:lnSpc>
                <a:spcPts val="3080"/>
              </a:lnSpc>
              <a:buNone/>
            </a:pPr>
            <a:r>
              <a:rPr lang="en-US" sz="2200" b="1" dirty="0">
                <a:solidFill>
                  <a:srgbClr val="F6F3EC"/>
                </a:solidFill>
                <a:latin typeface="Source Serif 4" pitchFamily="18" charset="0"/>
                <a:ea typeface="Source Serif 4" pitchFamily="18" charset="-122"/>
                <a:cs typeface="Source Serif 4" pitchFamily="18" charset="-120"/>
              </a:rPr>
              <a:t>170</a:t>
            </a:r>
            <a:endParaRPr lang="en-US" sz="2200" dirty="0"/>
          </a:p>
        </p:txBody>
      </p:sp>
      <p:sp>
        <p:nvSpPr>
          <p:cNvPr id="21" name="Text 19"/>
          <p:cNvSpPr/>
          <p:nvPr/>
        </p:nvSpPr>
        <p:spPr>
          <a:xfrm>
            <a:off x="7543850" y="3036838"/>
            <a:ext cx="1303288" cy="25645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9D4C7"/>
                </a:solidFill>
                <a:latin typeface="Inter" pitchFamily="34" charset="0"/>
                <a:ea typeface="Inter" pitchFamily="34" charset="-122"/>
                <a:cs typeface="Inter" pitchFamily="34" charset="-120"/>
              </a:rPr>
              <a:t>tipos distintos</a:t>
            </a:r>
            <a:endParaRPr lang="en-US" sz="1300" dirty="0"/>
          </a:p>
        </p:txBody>
      </p:sp>
      <p:sp>
        <p:nvSpPr>
          <p:cNvPr id="22" name="Text 20"/>
          <p:cNvSpPr/>
          <p:nvPr/>
        </p:nvSpPr>
        <p:spPr>
          <a:xfrm>
            <a:off x="10600482" y="2925713"/>
            <a:ext cx="550218" cy="416570"/>
          </a:xfrm>
          <a:prstGeom prst="rect">
            <a:avLst/>
          </a:prstGeom>
          <a:noFill/>
          <a:ln/>
        </p:spPr>
        <p:txBody>
          <a:bodyPr wrap="square" lIns="0" tIns="0" rIns="0" bIns="0" rtlCol="0" anchor="t">
            <a:normAutofit/>
          </a:bodyPr>
          <a:lstStyle/>
          <a:p>
            <a:pPr algn="r" indent="0" marL="0">
              <a:lnSpc>
                <a:spcPts val="3080"/>
              </a:lnSpc>
              <a:buNone/>
            </a:pPr>
            <a:r>
              <a:rPr lang="en-US" sz="2200" b="1" dirty="0">
                <a:solidFill>
                  <a:srgbClr val="F6F3EC"/>
                </a:solidFill>
                <a:latin typeface="Source Serif 4" pitchFamily="18" charset="0"/>
                <a:ea typeface="Source Serif 4" pitchFamily="18" charset="-122"/>
                <a:cs typeface="Source Serif 4" pitchFamily="18" charset="-120"/>
              </a:rPr>
              <a:t>129</a:t>
            </a:r>
            <a:endParaRPr lang="en-US" sz="2200" dirty="0"/>
          </a:p>
        </p:txBody>
      </p:sp>
      <p:sp>
        <p:nvSpPr>
          <p:cNvPr id="23" name="Text 21"/>
          <p:cNvSpPr/>
          <p:nvPr/>
        </p:nvSpPr>
        <p:spPr>
          <a:xfrm>
            <a:off x="7543850" y="3542233"/>
            <a:ext cx="383381" cy="256456"/>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9D4C7"/>
                </a:solidFill>
                <a:latin typeface="Inter" pitchFamily="34" charset="0"/>
                <a:ea typeface="Inter" pitchFamily="34" charset="-122"/>
                <a:cs typeface="Inter" pitchFamily="34" charset="-120"/>
              </a:rPr>
              <a:t>TTR</a:t>
            </a:r>
            <a:endParaRPr lang="en-US" sz="1300" dirty="0"/>
          </a:p>
        </p:txBody>
      </p:sp>
      <p:sp>
        <p:nvSpPr>
          <p:cNvPr id="24" name="Text 22"/>
          <p:cNvSpPr/>
          <p:nvPr/>
        </p:nvSpPr>
        <p:spPr>
          <a:xfrm>
            <a:off x="10497493" y="3431108"/>
            <a:ext cx="653207" cy="416570"/>
          </a:xfrm>
          <a:prstGeom prst="rect">
            <a:avLst/>
          </a:prstGeom>
          <a:noFill/>
          <a:ln/>
        </p:spPr>
        <p:txBody>
          <a:bodyPr wrap="square" lIns="0" tIns="0" rIns="0" bIns="0" rtlCol="0" anchor="t">
            <a:normAutofit/>
          </a:bodyPr>
          <a:lstStyle/>
          <a:p>
            <a:pPr algn="r" indent="0" marL="0">
              <a:lnSpc>
                <a:spcPts val="3080"/>
              </a:lnSpc>
              <a:buNone/>
            </a:pPr>
            <a:r>
              <a:rPr lang="en-US" sz="2200" b="1" dirty="0">
                <a:solidFill>
                  <a:srgbClr val="F6F3EC"/>
                </a:solidFill>
                <a:latin typeface="Source Serif 4" pitchFamily="18" charset="0"/>
                <a:ea typeface="Source Serif 4" pitchFamily="18" charset="-122"/>
                <a:cs typeface="Source Serif 4" pitchFamily="18" charset="-120"/>
              </a:rPr>
              <a:t>0,82</a:t>
            </a:r>
            <a:endParaRPr lang="en-US" sz="2200" dirty="0"/>
          </a:p>
        </p:txBody>
      </p:sp>
      <p:sp>
        <p:nvSpPr>
          <p:cNvPr id="25" name="Shape 23"/>
          <p:cNvSpPr/>
          <p:nvPr/>
        </p:nvSpPr>
        <p:spPr>
          <a:xfrm>
            <a:off x="815901" y="4282604"/>
            <a:ext cx="10560199" cy="827088"/>
          </a:xfrm>
          <a:prstGeom prst="roundRect">
            <a:avLst>
              <a:gd name="adj" fmla="val 11900"/>
            </a:avLst>
          </a:prstGeom>
          <a:solidFill>
            <a:srgbClr val="FFFDF8"/>
          </a:solidFill>
          <a:ln w="6350">
            <a:solidFill>
              <a:srgbClr val="DDD7C8"/>
            </a:solidFill>
            <a:prstDash val="solid"/>
          </a:ln>
        </p:spPr>
      </p:sp>
      <p:sp>
        <p:nvSpPr>
          <p:cNvPr id="26" name="Text 24"/>
          <p:cNvSpPr/>
          <p:nvPr/>
        </p:nvSpPr>
        <p:spPr>
          <a:xfrm>
            <a:off x="1049238" y="4465092"/>
            <a:ext cx="5067355" cy="48751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0"/>
                </a:solidFill>
                <a:latin typeface="Inter" pitchFamily="34" charset="0"/>
                <a:ea typeface="Inter" pitchFamily="34" charset="-122"/>
                <a:cs typeface="Inter" pitchFamily="34" charset="-120"/>
              </a:rPr>
              <a:t>Formatos:</a:t>
            </a:r>
            <a:r>
              <a:rPr lang="en-US" sz="1300" dirty="0">
                <a:solidFill>
                  <a:srgbClr val="1B2430"/>
                </a:solidFill>
                <a:latin typeface="Inter" pitchFamily="34" charset="0"/>
                <a:ea typeface="Inter" pitchFamily="34" charset="-122"/>
                <a:cs typeface="Inter" pitchFamily="34" charset="-120"/>
              </a:rPr>
              <a:t> Parquet completo, CSV de muestra (2 000 documentos) y JSON de resumen.</a:t>
            </a:r>
            <a:endParaRPr lang="en-US" sz="1300" dirty="0"/>
          </a:p>
        </p:txBody>
      </p:sp>
      <p:sp>
        <p:nvSpPr>
          <p:cNvPr id="27" name="Text 25"/>
          <p:cNvSpPr/>
          <p:nvPr/>
        </p:nvSpPr>
        <p:spPr>
          <a:xfrm>
            <a:off x="6223000" y="4465092"/>
            <a:ext cx="5067355" cy="48751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0"/>
                </a:solidFill>
                <a:latin typeface="Inter" pitchFamily="34" charset="0"/>
                <a:ea typeface="Inter" pitchFamily="34" charset="-122"/>
                <a:cs typeface="Inter" pitchFamily="34" charset="-120"/>
              </a:rPr>
              <a:t>Normalización:</a:t>
            </a:r>
            <a:r>
              <a:rPr lang="en-US" sz="1300" dirty="0">
                <a:solidFill>
                  <a:srgbClr val="1B2430"/>
                </a:solidFill>
                <a:latin typeface="Inter" pitchFamily="34" charset="0"/>
                <a:ea typeface="Inter" pitchFamily="34" charset="-122"/>
                <a:cs typeface="Inter" pitchFamily="34" charset="-120"/>
              </a:rPr>
              <a:t> se reúnen cifras y horas partidas por la tokenización de origen.</a:t>
            </a:r>
            <a:endParaRPr lang="en-US" sz="1300" dirty="0"/>
          </a:p>
        </p:txBody>
      </p:sp>
      <p:sp>
        <p:nvSpPr>
          <p:cNvPr id="28" name="Text 26"/>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Tokenización por expresión regular, stopwords NLTK más lista propia, sin lematizar · cuaderno 05</a:t>
            </a:r>
            <a:endParaRPr lang="en-US" sz="1200" dirty="0"/>
          </a:p>
        </p:txBody>
      </p:sp>
      <p:sp>
        <p:nvSpPr>
          <p:cNvPr id="29" name="Text 27"/>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Representación 1 · De texto a vector: las cuatro opciones</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249784"/>
          <a:ext cx="10558611" cy="2261443"/>
        </p:xfrm>
        <a:graphic>
          <a:graphicData uri="http://schemas.openxmlformats.org/drawingml/2006/table">
            <a:tbl>
              <a:tblPr/>
              <a:tblGrid>
                <a:gridCol w="1689378"/>
                <a:gridCol w="2639653"/>
                <a:gridCol w="2956411"/>
                <a:gridCol w="3273170"/>
              </a:tblGrid>
              <a:tr h="299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Representación</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Idea</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Cada artículo es…</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Parámetros</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BoW (bolsa de palabras)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Contar cuántas veces aparece cada palabra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Un vector de 22.196 conteos, casi todos 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Vocabulario del TF‑IDF</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TF‑IDF</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Conteo ponderado por lo rara que es la palabra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mismo vector con pesos reales, de longitud 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min_df 15, max_df 0,4, ≤ 25.000 términos, escala sublineal</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TF‑IDF + SVD</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Comprimir el TF‑IDF a pocas dimensiones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Un vector denso de 128 números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SVD truncada, 128 componentes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Embeddings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Una red preentrenada resume el texto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Un vector denso de 384 números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MiniLM‑L12 multilingüe, 700 caracteres, 128 tokens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Shape 1"/>
          <p:cNvSpPr/>
          <p:nvPr/>
        </p:nvSpPr>
        <p:spPr>
          <a:xfrm>
            <a:off x="815901" y="3654053"/>
            <a:ext cx="5434682" cy="2120776"/>
          </a:xfrm>
          <a:prstGeom prst="roundRect">
            <a:avLst>
              <a:gd name="adj" fmla="val 4641"/>
            </a:avLst>
          </a:prstGeom>
          <a:solidFill>
            <a:srgbClr val="FFFDF8"/>
          </a:solidFill>
          <a:ln w="6350">
            <a:solidFill>
              <a:srgbClr val="DDD7C8"/>
            </a:solidFill>
            <a:prstDash val="solid"/>
          </a:ln>
        </p:spPr>
      </p:sp>
      <p:sp>
        <p:nvSpPr>
          <p:cNvPr id="5" name="Text 2"/>
          <p:cNvSpPr/>
          <p:nvPr/>
        </p:nvSpPr>
        <p:spPr>
          <a:xfrm>
            <a:off x="960313" y="3760391"/>
            <a:ext cx="5300232"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Fórmula del TF‑IDF</a:t>
            </a:r>
            <a:endParaRPr lang="en-US" sz="1400" dirty="0"/>
          </a:p>
        </p:txBody>
      </p:sp>
      <p:sp>
        <p:nvSpPr>
          <p:cNvPr id="6" name="Text 3"/>
          <p:cNvSpPr/>
          <p:nvPr/>
        </p:nvSpPr>
        <p:spPr>
          <a:xfrm>
            <a:off x="963488" y="4040386"/>
            <a:ext cx="5139506" cy="444227"/>
          </a:xfrm>
          <a:prstGeom prst="roundRect">
            <a:avLst>
              <a:gd name="adj" fmla="val 16439"/>
            </a:avLst>
          </a:prstGeom>
          <a:solidFill>
            <a:srgbClr val="FFFFFF"/>
          </a:solidFill>
          <a:ln w="6350">
            <a:solidFill>
              <a:srgbClr val="DDD7C8"/>
            </a:solidFill>
            <a:prstDash val="solid"/>
          </a:ln>
        </p:spPr>
        <p:txBody>
          <a:bodyPr wrap="square" lIns="50264" tIns="72274" rIns="50264" bIns="46676" rtlCol="0" anchor="t">
            <a:normAutofit/>
          </a:bodyPr>
          <a:lstStyle/>
          <a:p>
            <a:pPr algn="ctr" indent="0" marL="0">
              <a:lnSpc>
                <a:spcPts val="2025"/>
              </a:lnSpc>
              <a:buNone/>
            </a:pPr>
            <a:r>
              <a:rPr lang="en-US" sz="1500" i="1" dirty="0">
                <a:solidFill>
                  <a:srgbClr val="1B2430"/>
                </a:solidFill>
                <a:latin typeface="Source Serif 4" pitchFamily="18" charset="0"/>
                <a:ea typeface="Source Serif 4" pitchFamily="18" charset="-122"/>
                <a:cs typeface="Source Serif 4" pitchFamily="18" charset="-120"/>
              </a:rPr>
              <a:t>tf‑idf(t,d) = (1 + ln tf(t,d)) × ( ln((1+N) / (1+df(t))) + 1 )</a:t>
            </a:r>
            <a:endParaRPr lang="en-US" sz="1500" dirty="0"/>
          </a:p>
        </p:txBody>
      </p:sp>
      <p:sp>
        <p:nvSpPr>
          <p:cNvPr id="7" name="Text 4"/>
          <p:cNvSpPr/>
          <p:nvPr/>
        </p:nvSpPr>
        <p:spPr>
          <a:xfrm>
            <a:off x="960313" y="4551288"/>
            <a:ext cx="5300232" cy="105417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tf</a:t>
            </a:r>
            <a:r>
              <a:rPr lang="en-US" sz="1200" dirty="0">
                <a:solidFill>
                  <a:srgbClr val="1B2430"/>
                </a:solidFill>
                <a:latin typeface="Inter" pitchFamily="34" charset="0"/>
                <a:ea typeface="Inter" pitchFamily="34" charset="-122"/>
                <a:cs typeface="Inter" pitchFamily="34" charset="-120"/>
              </a:rPr>
              <a:t>: veces que la palabra t aparece en el artículo d. </a:t>
            </a:r>
            <a:r>
              <a:rPr lang="en-US" sz="1200" b="1" dirty="0">
                <a:solidFill>
                  <a:srgbClr val="1B2430"/>
                </a:solidFill>
                <a:latin typeface="Inter" pitchFamily="34" charset="0"/>
                <a:ea typeface="Inter" pitchFamily="34" charset="-122"/>
                <a:cs typeface="Inter" pitchFamily="34" charset="-120"/>
              </a:rPr>
              <a:t>df</a:t>
            </a:r>
            <a:r>
              <a:rPr lang="en-US" sz="1200" dirty="0">
                <a:solidFill>
                  <a:srgbClr val="1B2430"/>
                </a:solidFill>
                <a:latin typeface="Inter" pitchFamily="34" charset="0"/>
                <a:ea typeface="Inter" pitchFamily="34" charset="-122"/>
                <a:cs typeface="Inter" pitchFamily="34" charset="-120"/>
              </a:rPr>
              <a:t>: en cuántos artículos aparece. </a:t>
            </a:r>
            <a:r>
              <a:rPr lang="en-US" sz="1200" b="1" dirty="0">
                <a:solidFill>
                  <a:srgbClr val="1B2430"/>
                </a:solidFill>
                <a:latin typeface="Inter" pitchFamily="34" charset="0"/>
                <a:ea typeface="Inter" pitchFamily="34" charset="-122"/>
                <a:cs typeface="Inter" pitchFamily="34" charset="-120"/>
              </a:rPr>
              <a:t>N</a:t>
            </a:r>
            <a:r>
              <a:rPr lang="en-US" sz="1200" dirty="0">
                <a:solidFill>
                  <a:srgbClr val="1B2430"/>
                </a:solidFill>
                <a:latin typeface="Inter" pitchFamily="34" charset="0"/>
                <a:ea typeface="Inter" pitchFamily="34" charset="-122"/>
                <a:cs typeface="Inter" pitchFamily="34" charset="-120"/>
              </a:rPr>
              <a:t>: total de artículos. La primera parte premia la repetición con rendimientos decrecientes (logaritmo); la segunda castiga las palabras que aparecen en casi todos los artículos. Luego cada vector se divide por su longitud.</a:t>
            </a:r>
            <a:endParaRPr lang="en-US" sz="1200" dirty="0"/>
          </a:p>
        </p:txBody>
      </p:sp>
      <p:sp>
        <p:nvSpPr>
          <p:cNvPr id="8" name="Shape 5"/>
          <p:cNvSpPr/>
          <p:nvPr/>
        </p:nvSpPr>
        <p:spPr>
          <a:xfrm>
            <a:off x="6409234" y="3654053"/>
            <a:ext cx="4966866" cy="2120776"/>
          </a:xfrm>
          <a:prstGeom prst="roundRect">
            <a:avLst>
              <a:gd name="adj" fmla="val 4641"/>
            </a:avLst>
          </a:prstGeom>
          <a:solidFill>
            <a:srgbClr val="FFFDF8"/>
          </a:solidFill>
          <a:ln w="6350">
            <a:solidFill>
              <a:srgbClr val="DDD7C8"/>
            </a:solidFill>
            <a:prstDash val="solid"/>
          </a:ln>
        </p:spPr>
      </p:sp>
      <p:sp>
        <p:nvSpPr>
          <p:cNvPr id="9" name="Text 6"/>
          <p:cNvSpPr/>
          <p:nvPr/>
        </p:nvSpPr>
        <p:spPr>
          <a:xfrm>
            <a:off x="6553646" y="3760391"/>
            <a:ext cx="481838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A8402B"/>
                </a:solidFill>
                <a:latin typeface="Inter" pitchFamily="34" charset="0"/>
                <a:ea typeface="Inter" pitchFamily="34" charset="-122"/>
                <a:cs typeface="Inter" pitchFamily="34" charset="-120"/>
              </a:rPr>
              <a:t>Ejemplo calculado (números ilustrativos)</a:t>
            </a:r>
            <a:endParaRPr lang="en-US" sz="1400" dirty="0"/>
          </a:p>
        </p:txBody>
      </p:sp>
      <p:sp>
        <p:nvSpPr>
          <p:cNvPr id="10" name="Text 7"/>
          <p:cNvSpPr/>
          <p:nvPr/>
        </p:nvSpPr>
        <p:spPr>
          <a:xfrm>
            <a:off x="6553646" y="4037211"/>
            <a:ext cx="4818381"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N = 10.000 artículos; ambas palabras aparecen 3 veces en el artículo, (1 + ln 3) = 2,10.</a:t>
            </a:r>
            <a:endParaRPr lang="en-US" sz="1200" dirty="0"/>
          </a:p>
        </p:txBody>
      </p:sp>
      <p:sp>
        <p:nvSpPr>
          <p:cNvPr id="11" name="Shape 8"/>
          <p:cNvSpPr/>
          <p:nvPr/>
        </p:nvSpPr>
        <p:spPr>
          <a:xfrm>
            <a:off x="6556821" y="4515396"/>
            <a:ext cx="2281882" cy="880666"/>
          </a:xfrm>
          <a:prstGeom prst="roundRect">
            <a:avLst>
              <a:gd name="adj" fmla="val 11176"/>
            </a:avLst>
          </a:prstGeom>
          <a:solidFill>
            <a:srgbClr val="FFFDF8"/>
          </a:solidFill>
          <a:ln w="6350">
            <a:solidFill>
              <a:srgbClr val="A8402B"/>
            </a:solidFill>
            <a:prstDash val="solid"/>
          </a:ln>
        </p:spPr>
      </p:sp>
      <p:sp>
        <p:nvSpPr>
          <p:cNvPr id="12" name="Text 9"/>
          <p:cNvSpPr/>
          <p:nvPr/>
        </p:nvSpPr>
        <p:spPr>
          <a:xfrm>
            <a:off x="6701234" y="4621733"/>
            <a:ext cx="2052848" cy="231155"/>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farc</a:t>
            </a:r>
            <a:r>
              <a:rPr lang="en-US" sz="1200" dirty="0">
                <a:solidFill>
                  <a:srgbClr val="1B2430"/>
                </a:solidFill>
                <a:latin typeface="Inter" pitchFamily="34" charset="0"/>
                <a:ea typeface="Inter" pitchFamily="34" charset="-122"/>
                <a:cs typeface="Inter" pitchFamily="34" charset="-120"/>
              </a:rPr>
              <a:t>, df = 800</a:t>
            </a:r>
            <a:endParaRPr lang="en-US" sz="1200" dirty="0"/>
          </a:p>
        </p:txBody>
      </p:sp>
      <p:sp>
        <p:nvSpPr>
          <p:cNvPr id="13" name="Text 10"/>
          <p:cNvSpPr/>
          <p:nvPr/>
        </p:nvSpPr>
        <p:spPr>
          <a:xfrm>
            <a:off x="6701234" y="4878214"/>
            <a:ext cx="205284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2,10 × (ln(10.001/801) + 1)</a:t>
            </a:r>
            <a:endParaRPr lang="en-US" sz="1200" dirty="0"/>
          </a:p>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 2,10 × 3,52 </a:t>
            </a:r>
            <a:r>
              <a:rPr lang="en-US" sz="1200" b="1" dirty="0">
                <a:solidFill>
                  <a:srgbClr val="1B2430"/>
                </a:solidFill>
                <a:latin typeface="Inter" pitchFamily="34" charset="0"/>
                <a:ea typeface="Inter" pitchFamily="34" charset="-122"/>
                <a:cs typeface="Inter" pitchFamily="34" charset="-120"/>
              </a:rPr>
              <a:t>≈ 7,4</a:t>
            </a:r>
            <a:endParaRPr lang="en-US" sz="1200" dirty="0"/>
          </a:p>
        </p:txBody>
      </p:sp>
      <p:sp>
        <p:nvSpPr>
          <p:cNvPr id="14" name="Shape 11"/>
          <p:cNvSpPr/>
          <p:nvPr/>
        </p:nvSpPr>
        <p:spPr>
          <a:xfrm>
            <a:off x="8946629" y="4515396"/>
            <a:ext cx="2281882" cy="880666"/>
          </a:xfrm>
          <a:prstGeom prst="roundRect">
            <a:avLst>
              <a:gd name="adj" fmla="val 11176"/>
            </a:avLst>
          </a:prstGeom>
          <a:solidFill>
            <a:srgbClr val="FFFDF8"/>
          </a:solidFill>
          <a:ln w="6350">
            <a:solidFill>
              <a:srgbClr val="DDD7C8"/>
            </a:solidFill>
            <a:prstDash val="solid"/>
          </a:ln>
        </p:spPr>
      </p:sp>
      <p:sp>
        <p:nvSpPr>
          <p:cNvPr id="15" name="Text 12"/>
          <p:cNvSpPr/>
          <p:nvPr/>
        </p:nvSpPr>
        <p:spPr>
          <a:xfrm>
            <a:off x="9091042" y="4621733"/>
            <a:ext cx="2052848" cy="231155"/>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gobierno</a:t>
            </a:r>
            <a:r>
              <a:rPr lang="en-US" sz="1200" dirty="0">
                <a:solidFill>
                  <a:srgbClr val="1B2430"/>
                </a:solidFill>
                <a:latin typeface="Inter" pitchFamily="34" charset="0"/>
                <a:ea typeface="Inter" pitchFamily="34" charset="-122"/>
                <a:cs typeface="Inter" pitchFamily="34" charset="-120"/>
              </a:rPr>
              <a:t>, df = 3.000</a:t>
            </a:r>
            <a:endParaRPr lang="en-US" sz="1200" dirty="0"/>
          </a:p>
        </p:txBody>
      </p:sp>
      <p:sp>
        <p:nvSpPr>
          <p:cNvPr id="16" name="Text 13"/>
          <p:cNvSpPr/>
          <p:nvPr/>
        </p:nvSpPr>
        <p:spPr>
          <a:xfrm>
            <a:off x="9091042" y="4878214"/>
            <a:ext cx="205284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2,10 × (ln(10.001/3.001) + 1)</a:t>
            </a:r>
            <a:endParaRPr lang="en-US" sz="1200" dirty="0"/>
          </a:p>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 2,10 × 2,20 </a:t>
            </a:r>
            <a:r>
              <a:rPr lang="en-US" sz="1200" b="1" dirty="0">
                <a:solidFill>
                  <a:srgbClr val="1B2430"/>
                </a:solidFill>
                <a:latin typeface="Inter" pitchFamily="34" charset="0"/>
                <a:ea typeface="Inter" pitchFamily="34" charset="-122"/>
                <a:cs typeface="Inter" pitchFamily="34" charset="-120"/>
              </a:rPr>
              <a:t>≈ 4,6</a:t>
            </a:r>
            <a:endParaRPr lang="en-US" sz="1200" dirty="0"/>
          </a:p>
        </p:txBody>
      </p:sp>
      <p:sp>
        <p:nvSpPr>
          <p:cNvPr id="17" name="Text 14"/>
          <p:cNvSpPr/>
          <p:nvPr/>
        </p:nvSpPr>
        <p:spPr>
          <a:xfrm>
            <a:off x="6553646" y="5462736"/>
            <a:ext cx="4818381"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A igual frecuencia, la palabra más específica pesa más.</a:t>
            </a:r>
            <a:endParaRPr lang="en-US" sz="1200" dirty="0"/>
          </a:p>
        </p:txBody>
      </p:sp>
      <p:sp>
        <p:nvSpPr>
          <p:cNvPr id="18" name="Text 15"/>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Un modelo no lee palabras, lee números · cuaderno 06 · informe, sección 8.1</a:t>
            </a:r>
            <a:endParaRPr lang="en-US" sz="1200" dirty="0"/>
          </a:p>
        </p:txBody>
      </p:sp>
      <p:sp>
        <p:nvSpPr>
          <p:cNvPr id="19" name="Text 16"/>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06896"/>
          </a:xfrm>
          <a:prstGeom prst="rect">
            <a:avLst/>
          </a:prstGeom>
          <a:noFill/>
          <a:ln/>
        </p:spPr>
        <p:txBody>
          <a:bodyPr wrap="square" lIns="0" tIns="0" rIns="0" bIns="0" rtlCol="0" anchor="t">
            <a:normAutofit/>
          </a:bodyPr>
          <a:lstStyle/>
          <a:p>
            <a:pPr algn="l" indent="0" marL="0">
              <a:lnSpc>
                <a:spcPts val="3022"/>
              </a:lnSpc>
              <a:buNone/>
            </a:pPr>
            <a:r>
              <a:rPr lang="en-US" sz="2748" b="1" i="0" dirty="0">
                <a:solidFill>
                  <a:srgbClr val="1B2430"/>
                </a:solidFill>
                <a:latin typeface="Source Serif 4" pitchFamily="18" charset="0"/>
                <a:ea typeface="Source Serif 4" pitchFamily="18" charset="-122"/>
                <a:cs typeface="Source Serif 4" pitchFamily="18" charset="-120"/>
              </a:rPr>
              <a:t>Representación 2 · Qué F1 medimos, sobre qué tarea</a:t>
            </a:r>
            <a:endParaRPr lang="en-US" sz="2748" dirty="0"/>
          </a:p>
        </p:txBody>
      </p:sp>
      <p:sp>
        <p:nvSpPr>
          <p:cNvPr id="3" name="Shape 1"/>
          <p:cNvSpPr/>
          <p:nvPr/>
        </p:nvSpPr>
        <p:spPr>
          <a:xfrm>
            <a:off x="815901" y="1235472"/>
            <a:ext cx="3371304" cy="2420169"/>
          </a:xfrm>
          <a:prstGeom prst="roundRect">
            <a:avLst>
              <a:gd name="adj" fmla="val 4067"/>
            </a:avLst>
          </a:prstGeom>
          <a:solidFill>
            <a:srgbClr val="FFFDF8"/>
          </a:solidFill>
          <a:ln w="6350">
            <a:solidFill>
              <a:srgbClr val="DDD7C8"/>
            </a:solidFill>
            <a:prstDash val="solid"/>
          </a:ln>
        </p:spPr>
      </p:sp>
      <p:sp>
        <p:nvSpPr>
          <p:cNvPr id="4" name="Text 2"/>
          <p:cNvSpPr/>
          <p:nvPr/>
        </p:nvSpPr>
        <p:spPr>
          <a:xfrm>
            <a:off x="960313" y="1341810"/>
            <a:ext cx="3174953" cy="232519"/>
          </a:xfrm>
          <a:prstGeom prst="rect">
            <a:avLst/>
          </a:prstGeom>
          <a:noFill/>
          <a:ln/>
        </p:spPr>
        <p:txBody>
          <a:bodyPr wrap="square" lIns="0" tIns="0" rIns="0" bIns="0" rtlCol="0" anchor="t">
            <a:normAutofit/>
          </a:bodyPr>
          <a:lstStyle/>
          <a:p>
            <a:pPr algn="l" indent="0" marL="0">
              <a:lnSpc>
                <a:spcPts val="1675"/>
              </a:lnSpc>
              <a:buNone/>
            </a:pPr>
            <a:r>
              <a:rPr lang="en-US" sz="1396" b="1" dirty="0">
                <a:solidFill>
                  <a:srgbClr val="1F5A7E"/>
                </a:solidFill>
                <a:latin typeface="Inter" pitchFamily="34" charset="0"/>
                <a:ea typeface="Inter" pitchFamily="34" charset="-122"/>
                <a:cs typeface="Inter" pitchFamily="34" charset="-120"/>
              </a:rPr>
              <a:t>La tarea</a:t>
            </a:r>
            <a:endParaRPr lang="en-US" sz="1396" dirty="0"/>
          </a:p>
        </p:txBody>
      </p:sp>
      <p:sp>
        <p:nvSpPr>
          <p:cNvPr id="5" name="Text 3"/>
          <p:cNvSpPr/>
          <p:nvPr/>
        </p:nvSpPr>
        <p:spPr>
          <a:xfrm>
            <a:off x="960313" y="1599654"/>
            <a:ext cx="3174953" cy="624433"/>
          </a:xfrm>
          <a:prstGeom prst="rect">
            <a:avLst/>
          </a:prstGeom>
          <a:noFill/>
          <a:ln/>
        </p:spPr>
        <p:txBody>
          <a:bodyPr wrap="square" lIns="0" tIns="0" rIns="0" bIns="0" rtlCol="0" anchor="t">
            <a:normAutofit/>
          </a:bodyPr>
          <a:lstStyle/>
          <a:p>
            <a:pPr algn="l" indent="0" marL="0">
              <a:lnSpc>
                <a:spcPts val="1574"/>
              </a:lnSpc>
              <a:buNone/>
            </a:pPr>
            <a:r>
              <a:rPr lang="en-US" sz="1166" dirty="0">
                <a:solidFill>
                  <a:srgbClr val="1B2430"/>
                </a:solidFill>
                <a:latin typeface="Inter" pitchFamily="34" charset="0"/>
                <a:ea typeface="Inter" pitchFamily="34" charset="-122"/>
                <a:cs typeface="Inter" pitchFamily="34" charset="-120"/>
              </a:rPr>
              <a:t>Se le da al clasificador </a:t>
            </a:r>
            <a:r>
              <a:rPr lang="en-US" sz="1166" b="1" dirty="0">
                <a:solidFill>
                  <a:srgbClr val="1B2430"/>
                </a:solidFill>
                <a:latin typeface="Inter" pitchFamily="34" charset="0"/>
                <a:ea typeface="Inter" pitchFamily="34" charset="-122"/>
                <a:cs typeface="Inter" pitchFamily="34" charset="-120"/>
              </a:rPr>
              <a:t>solo el vector</a:t>
            </a:r>
            <a:r>
              <a:rPr lang="en-US" sz="1166" dirty="0">
                <a:solidFill>
                  <a:srgbClr val="1B2430"/>
                </a:solidFill>
                <a:latin typeface="Inter" pitchFamily="34" charset="0"/>
                <a:ea typeface="Inter" pitchFamily="34" charset="-122"/>
                <a:cs typeface="Inter" pitchFamily="34" charset="-120"/>
              </a:rPr>
              <a:t> de un artículo y se le pide adivinar cuándo y dónde se publicó.</a:t>
            </a:r>
            <a:endParaRPr lang="en-US" sz="1166" dirty="0"/>
          </a:p>
        </p:txBody>
      </p:sp>
      <p:sp>
        <p:nvSpPr>
          <p:cNvPr id="6" name="Text 4"/>
          <p:cNvSpPr/>
          <p:nvPr/>
        </p:nvSpPr>
        <p:spPr>
          <a:xfrm>
            <a:off x="960313" y="2249413"/>
            <a:ext cx="3174953" cy="424879"/>
          </a:xfrm>
          <a:prstGeom prst="rect">
            <a:avLst/>
          </a:prstGeom>
          <a:noFill/>
          <a:ln/>
        </p:spPr>
        <p:txBody>
          <a:bodyPr wrap="square" lIns="0" tIns="0" rIns="0" bIns="0" rtlCol="0" anchor="t">
            <a:normAutofit/>
          </a:bodyPr>
          <a:lstStyle/>
          <a:p>
            <a:pPr algn="l" indent="0" marL="0">
              <a:lnSpc>
                <a:spcPts val="1585"/>
              </a:lnSpc>
              <a:buNone/>
            </a:pPr>
            <a:r>
              <a:rPr lang="en-US" sz="1174" dirty="0">
                <a:solidFill>
                  <a:srgbClr val="1B2430"/>
                </a:solidFill>
                <a:latin typeface="Inter" pitchFamily="34" charset="0"/>
                <a:ea typeface="Inter" pitchFamily="34" charset="-122"/>
                <a:cs typeface="Inter" pitchFamily="34" charset="-120"/>
              </a:rPr>
              <a:t>• </a:t>
            </a:r>
            <a:r>
              <a:rPr lang="en-US" sz="1174" b="1" dirty="0">
                <a:solidFill>
                  <a:srgbClr val="1B2430"/>
                </a:solidFill>
                <a:latin typeface="Inter" pitchFamily="34" charset="0"/>
                <a:ea typeface="Inter" pitchFamily="34" charset="-122"/>
                <a:cs typeface="Inter" pitchFamily="34" charset="-120"/>
              </a:rPr>
              <a:t>Periodo</a:t>
            </a:r>
            <a:r>
              <a:rPr lang="en-US" sz="1174" dirty="0">
                <a:solidFill>
                  <a:srgbClr val="1B2430"/>
                </a:solidFill>
                <a:latin typeface="Inter" pitchFamily="34" charset="0"/>
                <a:ea typeface="Inter" pitchFamily="34" charset="-122"/>
                <a:cs typeface="Inter" pitchFamily="34" charset="-120"/>
              </a:rPr>
              <a:t> (4 clases): 1980–89, 1990–99, 2000–05, 2006–11</a:t>
            </a:r>
            <a:endParaRPr lang="en-US" sz="1174" dirty="0"/>
          </a:p>
        </p:txBody>
      </p:sp>
      <p:sp>
        <p:nvSpPr>
          <p:cNvPr id="7" name="Text 5"/>
          <p:cNvSpPr/>
          <p:nvPr/>
        </p:nvSpPr>
        <p:spPr>
          <a:xfrm>
            <a:off x="960313" y="2699618"/>
            <a:ext cx="3174953" cy="424879"/>
          </a:xfrm>
          <a:prstGeom prst="rect">
            <a:avLst/>
          </a:prstGeom>
          <a:noFill/>
          <a:ln/>
        </p:spPr>
        <p:txBody>
          <a:bodyPr wrap="square" lIns="0" tIns="0" rIns="0" bIns="0" rtlCol="0" anchor="t">
            <a:normAutofit/>
          </a:bodyPr>
          <a:lstStyle/>
          <a:p>
            <a:pPr algn="l" indent="0" marL="0">
              <a:lnSpc>
                <a:spcPts val="1585"/>
              </a:lnSpc>
              <a:buNone/>
            </a:pPr>
            <a:r>
              <a:rPr lang="en-US" sz="1174" dirty="0">
                <a:solidFill>
                  <a:srgbClr val="1B2430"/>
                </a:solidFill>
                <a:latin typeface="Inter" pitchFamily="34" charset="0"/>
                <a:ea typeface="Inter" pitchFamily="34" charset="-122"/>
                <a:cs typeface="Inter" pitchFamily="34" charset="-120"/>
              </a:rPr>
              <a:t>• </a:t>
            </a:r>
            <a:r>
              <a:rPr lang="en-US" sz="1174" b="1" dirty="0">
                <a:solidFill>
                  <a:srgbClr val="1B2430"/>
                </a:solidFill>
                <a:latin typeface="Inter" pitchFamily="34" charset="0"/>
                <a:ea typeface="Inter" pitchFamily="34" charset="-122"/>
                <a:cs typeface="Inter" pitchFamily="34" charset="-120"/>
              </a:rPr>
              <a:t>Fuente</a:t>
            </a:r>
            <a:r>
              <a:rPr lang="en-US" sz="1174" dirty="0">
                <a:solidFill>
                  <a:srgbClr val="1B2430"/>
                </a:solidFill>
                <a:latin typeface="Inter" pitchFamily="34" charset="0"/>
                <a:ea typeface="Inter" pitchFamily="34" charset="-122"/>
                <a:cs typeface="Inter" pitchFamily="34" charset="-120"/>
              </a:rPr>
              <a:t> (3 clases): El Tiempo, Semana, Dinero</a:t>
            </a:r>
            <a:endParaRPr lang="en-US" sz="1174" dirty="0"/>
          </a:p>
        </p:txBody>
      </p:sp>
      <p:sp>
        <p:nvSpPr>
          <p:cNvPr id="8" name="Text 6"/>
          <p:cNvSpPr/>
          <p:nvPr/>
        </p:nvSpPr>
        <p:spPr>
          <a:xfrm>
            <a:off x="960313" y="3149823"/>
            <a:ext cx="3174953" cy="424879"/>
          </a:xfrm>
          <a:prstGeom prst="rect">
            <a:avLst/>
          </a:prstGeom>
          <a:noFill/>
          <a:ln/>
        </p:spPr>
        <p:txBody>
          <a:bodyPr wrap="square" lIns="0" tIns="0" rIns="0" bIns="0" rtlCol="0" anchor="t">
            <a:normAutofit/>
          </a:bodyPr>
          <a:lstStyle/>
          <a:p>
            <a:pPr algn="l" indent="0" marL="0">
              <a:lnSpc>
                <a:spcPts val="1585"/>
              </a:lnSpc>
              <a:buNone/>
            </a:pPr>
            <a:r>
              <a:rPr lang="en-US" sz="1174" dirty="0">
                <a:solidFill>
                  <a:srgbClr val="1B2430"/>
                </a:solidFill>
                <a:latin typeface="Inter" pitchFamily="34" charset="0"/>
                <a:ea typeface="Inter" pitchFamily="34" charset="-122"/>
                <a:cs typeface="Inter" pitchFamily="34" charset="-120"/>
              </a:rPr>
              <a:t>• Muestra: hasta 150 artículos por año (~4.000)</a:t>
            </a:r>
            <a:endParaRPr lang="en-US" sz="1174" dirty="0"/>
          </a:p>
        </p:txBody>
      </p:sp>
      <p:sp>
        <p:nvSpPr>
          <p:cNvPr id="9" name="Shape 7"/>
          <p:cNvSpPr/>
          <p:nvPr/>
        </p:nvSpPr>
        <p:spPr>
          <a:xfrm>
            <a:off x="4333205" y="1235472"/>
            <a:ext cx="3833788" cy="2420169"/>
          </a:xfrm>
          <a:prstGeom prst="roundRect">
            <a:avLst>
              <a:gd name="adj" fmla="val 4067"/>
            </a:avLst>
          </a:prstGeom>
          <a:solidFill>
            <a:srgbClr val="FFFDF8"/>
          </a:solidFill>
          <a:ln w="6350">
            <a:solidFill>
              <a:srgbClr val="DDD7C8"/>
            </a:solidFill>
            <a:prstDash val="solid"/>
          </a:ln>
        </p:spPr>
      </p:sp>
      <p:sp>
        <p:nvSpPr>
          <p:cNvPr id="10" name="Text 8"/>
          <p:cNvSpPr/>
          <p:nvPr/>
        </p:nvSpPr>
        <p:spPr>
          <a:xfrm>
            <a:off x="4477618" y="1341810"/>
            <a:ext cx="365131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Cómo se evalúa</a:t>
            </a:r>
            <a:endParaRPr lang="en-US" sz="1400" dirty="0"/>
          </a:p>
        </p:txBody>
      </p:sp>
      <p:sp>
        <p:nvSpPr>
          <p:cNvPr id="11" name="Text 9"/>
          <p:cNvSpPr/>
          <p:nvPr/>
        </p:nvSpPr>
        <p:spPr>
          <a:xfrm>
            <a:off x="4477618" y="1605855"/>
            <a:ext cx="3651311" cy="105417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Validación cruzada estratificada de 5 particiones</a:t>
            </a:r>
            <a:r>
              <a:rPr lang="en-US" sz="1200" dirty="0">
                <a:solidFill>
                  <a:srgbClr val="1B2430"/>
                </a:solidFill>
                <a:latin typeface="Inter" pitchFamily="34" charset="0"/>
                <a:ea typeface="Inter" pitchFamily="34" charset="-122"/>
                <a:cs typeface="Inter" pitchFamily="34" charset="-120"/>
              </a:rPr>
              <a:t>: 5 grupos con la misma proporción de clases; se entrena con 4 y se evalúa con el quinto, 5 veces. Ningún artículo se evalúa con un modelo que lo vio.</a:t>
            </a:r>
            <a:endParaRPr lang="en-US" sz="1200" dirty="0"/>
          </a:p>
        </p:txBody>
      </p:sp>
      <p:sp>
        <p:nvSpPr>
          <p:cNvPr id="12" name="Text 10"/>
          <p:cNvSpPr/>
          <p:nvPr/>
        </p:nvSpPr>
        <p:spPr>
          <a:xfrm>
            <a:off x="4477618" y="2685355"/>
            <a:ext cx="3651311" cy="43691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Clasificador lineal</a:t>
            </a:r>
            <a:r>
              <a:rPr lang="en-US" sz="1200" dirty="0">
                <a:solidFill>
                  <a:srgbClr val="1B2430"/>
                </a:solidFill>
                <a:latin typeface="Inter" pitchFamily="34" charset="0"/>
                <a:ea typeface="Inter" pitchFamily="34" charset="-122"/>
                <a:cs typeface="Inter" pitchFamily="34" charset="-120"/>
              </a:rPr>
              <a:t>: LinearSVC (TF‑IDF disperso) o regresión logística (SVD, embeddings).</a:t>
            </a:r>
            <a:endParaRPr lang="en-US" sz="1200" dirty="0"/>
          </a:p>
        </p:txBody>
      </p:sp>
      <p:sp>
        <p:nvSpPr>
          <p:cNvPr id="13" name="Shape 11"/>
          <p:cNvSpPr/>
          <p:nvPr/>
        </p:nvSpPr>
        <p:spPr>
          <a:xfrm>
            <a:off x="8312993" y="1235472"/>
            <a:ext cx="3063106" cy="2420169"/>
          </a:xfrm>
          <a:prstGeom prst="roundRect">
            <a:avLst>
              <a:gd name="adj" fmla="val 4067"/>
            </a:avLst>
          </a:prstGeom>
          <a:solidFill>
            <a:srgbClr val="FFFDF8"/>
          </a:solidFill>
          <a:ln w="6350">
            <a:solidFill>
              <a:srgbClr val="DDD7C8"/>
            </a:solidFill>
            <a:prstDash val="solid"/>
          </a:ln>
        </p:spPr>
      </p:sp>
      <p:sp>
        <p:nvSpPr>
          <p:cNvPr id="14" name="Text 12"/>
          <p:cNvSpPr/>
          <p:nvPr/>
        </p:nvSpPr>
        <p:spPr>
          <a:xfrm>
            <a:off x="8457406" y="1341810"/>
            <a:ext cx="285750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Por qué sirve</a:t>
            </a:r>
            <a:endParaRPr lang="en-US" sz="1400" dirty="0"/>
          </a:p>
        </p:txBody>
      </p:sp>
      <p:sp>
        <p:nvSpPr>
          <p:cNvPr id="15" name="Text 13"/>
          <p:cNvSpPr/>
          <p:nvPr/>
        </p:nvSpPr>
        <p:spPr>
          <a:xfrm>
            <a:off x="8457406" y="1605855"/>
            <a:ext cx="2857509"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Si la representación conserva lo que distingue épocas y medios, el clasificador acierta más.</a:t>
            </a:r>
            <a:endParaRPr lang="en-US" sz="1200" dirty="0"/>
          </a:p>
        </p:txBody>
      </p:sp>
      <p:sp>
        <p:nvSpPr>
          <p:cNvPr id="16" name="Text 14"/>
          <p:cNvSpPr/>
          <p:nvPr/>
        </p:nvSpPr>
        <p:spPr>
          <a:xfrm>
            <a:off x="8457406" y="2273846"/>
            <a:ext cx="2857509"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A8402B"/>
                </a:solidFill>
                <a:latin typeface="Inter" pitchFamily="34" charset="0"/>
                <a:ea typeface="Inter" pitchFamily="34" charset="-122"/>
                <a:cs typeface="Inter" pitchFamily="34" charset="-120"/>
              </a:rPr>
              <a:t>Mide </a:t>
            </a:r>
            <a:r>
              <a:rPr lang="en-US" sz="1200" b="1" dirty="0">
                <a:solidFill>
                  <a:srgbClr val="A8402B"/>
                </a:solidFill>
                <a:latin typeface="Inter" pitchFamily="34" charset="0"/>
                <a:ea typeface="Inter" pitchFamily="34" charset="-122"/>
                <a:cs typeface="Inter" pitchFamily="34" charset="-120"/>
              </a:rPr>
              <a:t>separabilidad léxica</a:t>
            </a:r>
            <a:r>
              <a:rPr lang="en-US" sz="1200" dirty="0">
                <a:solidFill>
                  <a:srgbClr val="A8402B"/>
                </a:solidFill>
                <a:latin typeface="Inter" pitchFamily="34" charset="0"/>
                <a:ea typeface="Inter" pitchFamily="34" charset="-122"/>
                <a:cs typeface="Inter" pitchFamily="34" charset="-120"/>
              </a:rPr>
              <a:t>, no calidad semántica.</a:t>
            </a:r>
            <a:endParaRPr lang="en-US" sz="1200" dirty="0"/>
          </a:p>
        </p:txBody>
      </p:sp>
      <p:sp>
        <p:nvSpPr>
          <p:cNvPr id="17" name="Shape 15"/>
          <p:cNvSpPr/>
          <p:nvPr/>
        </p:nvSpPr>
        <p:spPr>
          <a:xfrm>
            <a:off x="815901" y="3801641"/>
            <a:ext cx="2549525" cy="1252860"/>
          </a:xfrm>
          <a:prstGeom prst="roundRect">
            <a:avLst>
              <a:gd name="adj" fmla="val 7856"/>
            </a:avLst>
          </a:prstGeom>
          <a:solidFill>
            <a:srgbClr val="FFFDF8"/>
          </a:solidFill>
          <a:ln w="6350">
            <a:solidFill>
              <a:srgbClr val="DDD7C8"/>
            </a:solidFill>
            <a:prstDash val="solid"/>
          </a:ln>
        </p:spPr>
      </p:sp>
      <p:sp>
        <p:nvSpPr>
          <p:cNvPr id="18" name="Text 16"/>
          <p:cNvSpPr/>
          <p:nvPr/>
        </p:nvSpPr>
        <p:spPr>
          <a:xfrm>
            <a:off x="960313" y="3907979"/>
            <a:ext cx="2328520"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F5A7E"/>
                </a:solidFill>
                <a:latin typeface="Inter" pitchFamily="34" charset="0"/>
                <a:ea typeface="Inter" pitchFamily="34" charset="-122"/>
                <a:cs typeface="Inter" pitchFamily="34" charset="-120"/>
              </a:rPr>
              <a:t>Precisión</a:t>
            </a:r>
            <a:endParaRPr lang="en-US" sz="1300" dirty="0"/>
          </a:p>
        </p:txBody>
      </p:sp>
      <p:sp>
        <p:nvSpPr>
          <p:cNvPr id="19" name="Text 17"/>
          <p:cNvSpPr/>
          <p:nvPr/>
        </p:nvSpPr>
        <p:spPr>
          <a:xfrm>
            <a:off x="960313" y="4156770"/>
            <a:ext cx="2328520"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De lo que el modelo etiquetó como la clase, qué fracción lo era.</a:t>
            </a:r>
            <a:endParaRPr lang="en-US" sz="1200" dirty="0"/>
          </a:p>
        </p:txBody>
      </p:sp>
      <p:sp>
        <p:nvSpPr>
          <p:cNvPr id="20" name="Shape 18"/>
          <p:cNvSpPr/>
          <p:nvPr/>
        </p:nvSpPr>
        <p:spPr>
          <a:xfrm>
            <a:off x="3486001" y="3801641"/>
            <a:ext cx="2549649" cy="1252860"/>
          </a:xfrm>
          <a:prstGeom prst="roundRect">
            <a:avLst>
              <a:gd name="adj" fmla="val 7856"/>
            </a:avLst>
          </a:prstGeom>
          <a:solidFill>
            <a:srgbClr val="FFFDF8"/>
          </a:solidFill>
          <a:ln w="6350">
            <a:solidFill>
              <a:srgbClr val="DDD7C8"/>
            </a:solidFill>
            <a:prstDash val="solid"/>
          </a:ln>
        </p:spPr>
      </p:sp>
      <p:sp>
        <p:nvSpPr>
          <p:cNvPr id="21" name="Text 19"/>
          <p:cNvSpPr/>
          <p:nvPr/>
        </p:nvSpPr>
        <p:spPr>
          <a:xfrm>
            <a:off x="3630414" y="3907979"/>
            <a:ext cx="2328648"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F5A7E"/>
                </a:solidFill>
                <a:latin typeface="Inter" pitchFamily="34" charset="0"/>
                <a:ea typeface="Inter" pitchFamily="34" charset="-122"/>
                <a:cs typeface="Inter" pitchFamily="34" charset="-120"/>
              </a:rPr>
              <a:t>Recall</a:t>
            </a:r>
            <a:endParaRPr lang="en-US" sz="1300" dirty="0"/>
          </a:p>
        </p:txBody>
      </p:sp>
      <p:sp>
        <p:nvSpPr>
          <p:cNvPr id="22" name="Text 20"/>
          <p:cNvSpPr/>
          <p:nvPr/>
        </p:nvSpPr>
        <p:spPr>
          <a:xfrm>
            <a:off x="3630414" y="4156770"/>
            <a:ext cx="232864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De lo que realmente era la clase, qué fracción encontró.</a:t>
            </a:r>
            <a:endParaRPr lang="en-US" sz="1200" dirty="0"/>
          </a:p>
        </p:txBody>
      </p:sp>
      <p:sp>
        <p:nvSpPr>
          <p:cNvPr id="23" name="Shape 21"/>
          <p:cNvSpPr/>
          <p:nvPr/>
        </p:nvSpPr>
        <p:spPr>
          <a:xfrm>
            <a:off x="6156226" y="3801641"/>
            <a:ext cx="2549649" cy="1252860"/>
          </a:xfrm>
          <a:prstGeom prst="roundRect">
            <a:avLst>
              <a:gd name="adj" fmla="val 7856"/>
            </a:avLst>
          </a:prstGeom>
          <a:solidFill>
            <a:srgbClr val="FFFDF8"/>
          </a:solidFill>
          <a:ln w="6350">
            <a:solidFill>
              <a:srgbClr val="DDD7C8"/>
            </a:solidFill>
            <a:prstDash val="solid"/>
          </a:ln>
        </p:spPr>
      </p:sp>
      <p:sp>
        <p:nvSpPr>
          <p:cNvPr id="24" name="Text 22"/>
          <p:cNvSpPr/>
          <p:nvPr/>
        </p:nvSpPr>
        <p:spPr>
          <a:xfrm>
            <a:off x="6300639" y="3907979"/>
            <a:ext cx="2328648"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F5A7E"/>
                </a:solidFill>
                <a:latin typeface="Inter" pitchFamily="34" charset="0"/>
                <a:ea typeface="Inter" pitchFamily="34" charset="-122"/>
                <a:cs typeface="Inter" pitchFamily="34" charset="-120"/>
              </a:rPr>
              <a:t>F1 de una clase</a:t>
            </a:r>
            <a:endParaRPr lang="en-US" sz="1300" dirty="0"/>
          </a:p>
        </p:txBody>
      </p:sp>
      <p:sp>
        <p:nvSpPr>
          <p:cNvPr id="25" name="Text 23"/>
          <p:cNvSpPr/>
          <p:nvPr/>
        </p:nvSpPr>
        <p:spPr>
          <a:xfrm>
            <a:off x="6300639" y="4156770"/>
            <a:ext cx="2328648"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Media armónica: </a:t>
            </a:r>
            <a:r>
              <a:rPr lang="en-US" sz="1200" b="1" dirty="0">
                <a:solidFill>
                  <a:srgbClr val="1B2430"/>
                </a:solidFill>
                <a:latin typeface="Inter" pitchFamily="34" charset="0"/>
                <a:ea typeface="Inter" pitchFamily="34" charset="-122"/>
                <a:cs typeface="Inter" pitchFamily="34" charset="-120"/>
              </a:rPr>
              <a:t>2·P·R / (P + R)</a:t>
            </a:r>
            <a:r>
              <a:rPr lang="en-US" sz="1200" dirty="0">
                <a:solidFill>
                  <a:srgbClr val="1B2430"/>
                </a:solidFill>
                <a:latin typeface="Inter" pitchFamily="34" charset="0"/>
                <a:ea typeface="Inter" pitchFamily="34" charset="-122"/>
                <a:cs typeface="Inter" pitchFamily="34" charset="-120"/>
              </a:rPr>
              <a:t>. Alta solo si precisión y recall lo son a la vez.</a:t>
            </a:r>
            <a:endParaRPr lang="en-US" sz="1200" dirty="0"/>
          </a:p>
        </p:txBody>
      </p:sp>
      <p:sp>
        <p:nvSpPr>
          <p:cNvPr id="26" name="Shape 24"/>
          <p:cNvSpPr/>
          <p:nvPr/>
        </p:nvSpPr>
        <p:spPr>
          <a:xfrm>
            <a:off x="8826450" y="3801641"/>
            <a:ext cx="2549649" cy="1252860"/>
          </a:xfrm>
          <a:prstGeom prst="roundRect">
            <a:avLst>
              <a:gd name="adj" fmla="val 7856"/>
            </a:avLst>
          </a:prstGeom>
          <a:solidFill>
            <a:srgbClr val="FFFDF8"/>
          </a:solidFill>
          <a:ln w="6350">
            <a:solidFill>
              <a:srgbClr val="A8402B"/>
            </a:solidFill>
            <a:prstDash val="solid"/>
          </a:ln>
        </p:spPr>
      </p:sp>
      <p:sp>
        <p:nvSpPr>
          <p:cNvPr id="27" name="Text 25"/>
          <p:cNvSpPr/>
          <p:nvPr/>
        </p:nvSpPr>
        <p:spPr>
          <a:xfrm>
            <a:off x="8970863" y="3907979"/>
            <a:ext cx="2328648" cy="217264"/>
          </a:xfrm>
          <a:prstGeom prst="rect">
            <a:avLst/>
          </a:prstGeom>
          <a:noFill/>
          <a:ln/>
        </p:spPr>
        <p:txBody>
          <a:bodyPr wrap="square" lIns="0" tIns="0" rIns="0" bIns="0" rtlCol="0" anchor="t">
            <a:normAutofit/>
          </a:bodyPr>
          <a:lstStyle/>
          <a:p>
            <a:pPr algn="l" indent="0" marL="0">
              <a:lnSpc>
                <a:spcPts val="1521"/>
              </a:lnSpc>
              <a:buNone/>
            </a:pPr>
            <a:r>
              <a:rPr lang="en-US" sz="1268" b="1" dirty="0">
                <a:solidFill>
                  <a:srgbClr val="A8402B"/>
                </a:solidFill>
                <a:latin typeface="Inter" pitchFamily="34" charset="0"/>
                <a:ea typeface="Inter" pitchFamily="34" charset="-122"/>
                <a:cs typeface="Inter" pitchFamily="34" charset="-120"/>
              </a:rPr>
              <a:t>Macro‑F1</a:t>
            </a:r>
            <a:endParaRPr lang="en-US" sz="1268" dirty="0"/>
          </a:p>
        </p:txBody>
      </p:sp>
      <p:sp>
        <p:nvSpPr>
          <p:cNvPr id="28" name="Text 26"/>
          <p:cNvSpPr/>
          <p:nvPr/>
        </p:nvSpPr>
        <p:spPr>
          <a:xfrm>
            <a:off x="8970863" y="4150568"/>
            <a:ext cx="2328648" cy="822995"/>
          </a:xfrm>
          <a:prstGeom prst="rect">
            <a:avLst/>
          </a:prstGeom>
          <a:noFill/>
          <a:ln/>
        </p:spPr>
        <p:txBody>
          <a:bodyPr wrap="square" lIns="0" tIns="0" rIns="0" bIns="0" rtlCol="0" anchor="t">
            <a:normAutofit/>
          </a:bodyPr>
          <a:lstStyle/>
          <a:p>
            <a:pPr algn="l" indent="0" marL="0">
              <a:lnSpc>
                <a:spcPts val="1580"/>
              </a:lnSpc>
              <a:buNone/>
            </a:pPr>
            <a:r>
              <a:rPr lang="en-US" sz="1170" dirty="0">
                <a:solidFill>
                  <a:srgbClr val="1B2430"/>
                </a:solidFill>
                <a:latin typeface="Inter" pitchFamily="34" charset="0"/>
                <a:ea typeface="Inter" pitchFamily="34" charset="-122"/>
                <a:cs typeface="Inter" pitchFamily="34" charset="-120"/>
              </a:rPr>
              <a:t>Promedio simple de los F1 de todas las clases. </a:t>
            </a:r>
            <a:r>
              <a:rPr lang="en-US" sz="1170" b="1" dirty="0">
                <a:solidFill>
                  <a:srgbClr val="1B2430"/>
                </a:solidFill>
                <a:latin typeface="Inter" pitchFamily="34" charset="0"/>
                <a:ea typeface="Inter" pitchFamily="34" charset="-122"/>
                <a:cs typeface="Inter" pitchFamily="34" charset="-120"/>
              </a:rPr>
              <a:t>Cada clase pesa igual</a:t>
            </a:r>
            <a:r>
              <a:rPr lang="en-US" sz="1170" dirty="0">
                <a:solidFill>
                  <a:srgbClr val="1B2430"/>
                </a:solidFill>
                <a:latin typeface="Inter" pitchFamily="34" charset="0"/>
                <a:ea typeface="Inter" pitchFamily="34" charset="-122"/>
                <a:cs typeface="Inter" pitchFamily="34" charset="-120"/>
              </a:rPr>
              <a:t>, sin importar su tamaño.</a:t>
            </a:r>
            <a:endParaRPr lang="en-US" sz="1170" dirty="0"/>
          </a:p>
        </p:txBody>
      </p:sp>
      <p:sp>
        <p:nvSpPr>
          <p:cNvPr id="29" name="Shape 27"/>
          <p:cNvSpPr/>
          <p:nvPr/>
        </p:nvSpPr>
        <p:spPr>
          <a:xfrm>
            <a:off x="812726" y="5197326"/>
            <a:ext cx="10566549" cy="644674"/>
          </a:xfrm>
          <a:prstGeom prst="roundRect">
            <a:avLst>
              <a:gd name="adj" fmla="val 15760"/>
            </a:avLst>
          </a:prstGeom>
          <a:solidFill>
            <a:srgbClr val="1B2430"/>
          </a:solidFill>
          <a:ln/>
        </p:spPr>
      </p:sp>
      <p:sp>
        <p:nvSpPr>
          <p:cNvPr id="30" name="Text 28"/>
          <p:cNvSpPr/>
          <p:nvPr/>
        </p:nvSpPr>
        <p:spPr>
          <a:xfrm>
            <a:off x="1003226" y="5306343"/>
            <a:ext cx="1257300" cy="452041"/>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POR QUÉ MACRO</a:t>
            </a:r>
            <a:endParaRPr lang="en-US" sz="1200" dirty="0"/>
          </a:p>
        </p:txBody>
      </p:sp>
      <p:sp>
        <p:nvSpPr>
          <p:cNvPr id="31" name="Text 29"/>
          <p:cNvSpPr/>
          <p:nvPr/>
        </p:nvSpPr>
        <p:spPr>
          <a:xfrm>
            <a:off x="2362026" y="5313908"/>
            <a:ext cx="909155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El Tiempo es el 89 % del corpus. Un clasificador que siempre responde “El Tiempo” tiene 89 % de exactitud, F1 = 0,94 para El Tiempo y 0 para las otras dos fuentes: </a:t>
            </a:r>
            <a:r>
              <a:rPr lang="en-US" sz="1200" b="1" dirty="0">
                <a:solidFill>
                  <a:srgbClr val="E0A43A"/>
                </a:solidFill>
                <a:latin typeface="Inter" pitchFamily="34" charset="0"/>
                <a:ea typeface="Inter" pitchFamily="34" charset="-122"/>
                <a:cs typeface="Inter" pitchFamily="34" charset="-120"/>
              </a:rPr>
              <a:t>macro‑F1 = 0,31</a:t>
            </a:r>
            <a:r>
              <a:rPr lang="en-US" sz="1200" dirty="0">
                <a:solidFill>
                  <a:srgbClr val="F6F3EC"/>
                </a:solidFill>
                <a:latin typeface="Inter" pitchFamily="34" charset="0"/>
                <a:ea typeface="Inter" pitchFamily="34" charset="-122"/>
                <a:cs typeface="Inter" pitchFamily="34" charset="-120"/>
              </a:rPr>
              <a:t>. El macro‑F1 obliga a acertar también las clases pequeñas.</a:t>
            </a:r>
            <a:endParaRPr lang="en-US" sz="1200" dirty="0"/>
          </a:p>
        </p:txBody>
      </p:sp>
      <p:sp>
        <p:nvSpPr>
          <p:cNvPr id="32" name="Text 30"/>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Comparación de representaciones · cuaderno 06 · informe, sección 8.2</a:t>
            </a:r>
            <a:endParaRPr lang="en-US" sz="1200" dirty="0"/>
          </a:p>
        </p:txBody>
      </p:sp>
      <p:sp>
        <p:nvSpPr>
          <p:cNvPr id="33" name="Text 31"/>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807492"/>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Representación 3 · Cómo se calcula el macro‑F1, con un ejemplo</a:t>
            </a:r>
            <a:endParaRPr lang="en-US" sz="2800" dirty="0"/>
          </a:p>
        </p:txBody>
      </p:sp>
      <p:sp>
        <p:nvSpPr>
          <p:cNvPr id="3" name="Text 1"/>
          <p:cNvSpPr/>
          <p:nvPr/>
        </p:nvSpPr>
        <p:spPr>
          <a:xfrm>
            <a:off x="812726" y="1632893"/>
            <a:ext cx="532399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1 · Matriz de confusión (100 artículos, ilustrativa)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0663" y="1942951"/>
          <a:ext cx="5160987" cy="1199555"/>
        </p:xfrm>
        <a:graphic>
          <a:graphicData uri="http://schemas.openxmlformats.org/drawingml/2006/table">
            <a:tbl>
              <a:tblPr/>
              <a:tblGrid>
                <a:gridCol w="1532967"/>
                <a:gridCol w="970879"/>
                <a:gridCol w="868681"/>
                <a:gridCol w="817582"/>
                <a:gridCol w="970879"/>
              </a:tblGrid>
              <a:tr h="299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Real \ Predicho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El Tiempo</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Semana</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Dinero</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Total real</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Tiempo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54</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4</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60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Semana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Dinero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3</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5" name="Text 2"/>
          <p:cNvSpPr/>
          <p:nvPr/>
        </p:nvSpPr>
        <p:spPr>
          <a:xfrm>
            <a:off x="812726" y="3231307"/>
            <a:ext cx="5323993"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361"/>
                </a:solidFill>
                <a:latin typeface="Inter" pitchFamily="34" charset="0"/>
                <a:ea typeface="Inter" pitchFamily="34" charset="-122"/>
                <a:cs typeface="Inter" pitchFamily="34" charset="-120"/>
              </a:rPr>
              <a:t>Filas: la clase real. Columnas: lo que predijo el modelo. La diagonal son los aciertos: 54 + 15 + 10 = 79.</a:t>
            </a:r>
            <a:endParaRPr lang="en-US" sz="1200" dirty="0"/>
          </a:p>
        </p:txBody>
      </p:sp>
      <p:sp>
        <p:nvSpPr>
          <p:cNvPr id="6" name="Text 3"/>
          <p:cNvSpPr/>
          <p:nvPr/>
        </p:nvSpPr>
        <p:spPr>
          <a:xfrm>
            <a:off x="6210226" y="1632893"/>
            <a:ext cx="532412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2 · Precisión, recall y F1 por clase</a:t>
            </a:r>
            <a:endParaRPr lang="en-US" sz="14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218163" y="1942951"/>
          <a:ext cx="5161111" cy="1199555"/>
        </p:xfrm>
        <a:graphic>
          <a:graphicData uri="http://schemas.openxmlformats.org/drawingml/2006/table">
            <a:tbl>
              <a:tblPr/>
              <a:tblGrid>
                <a:gridCol w="1238667"/>
                <a:gridCol w="1496722"/>
                <a:gridCol w="1496722"/>
                <a:gridCol w="929000"/>
              </a:tblGrid>
              <a:tr h="299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Clase</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Precisión</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Recall</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F1</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Tiempo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54/65 = 0,83</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54/60 = 0,90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0,86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Semana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15/21 = 0,71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15/25 = 0,60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0,65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Dinero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10/14 = 0,71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10/15 = 0,67</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0,69</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8" name="Text 4"/>
          <p:cNvSpPr/>
          <p:nvPr/>
        </p:nvSpPr>
        <p:spPr>
          <a:xfrm>
            <a:off x="6210226" y="3231307"/>
            <a:ext cx="532412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361"/>
                </a:solidFill>
                <a:latin typeface="Inter" pitchFamily="34" charset="0"/>
                <a:ea typeface="Inter" pitchFamily="34" charset="-122"/>
                <a:cs typeface="Inter" pitchFamily="34" charset="-120"/>
              </a:rPr>
              <a:t>Precisión = diagonal / total de la columna. Recall = diagonal / total de la fila.</a:t>
            </a:r>
            <a:endParaRPr lang="en-US" sz="1200" dirty="0"/>
          </a:p>
        </p:txBody>
      </p:sp>
      <p:sp>
        <p:nvSpPr>
          <p:cNvPr id="9" name="Shape 5"/>
          <p:cNvSpPr/>
          <p:nvPr/>
        </p:nvSpPr>
        <p:spPr>
          <a:xfrm>
            <a:off x="815901" y="3785642"/>
            <a:ext cx="3422650" cy="1238721"/>
          </a:xfrm>
          <a:prstGeom prst="roundRect">
            <a:avLst>
              <a:gd name="adj" fmla="val 7946"/>
            </a:avLst>
          </a:prstGeom>
          <a:solidFill>
            <a:srgbClr val="FFFDF8"/>
          </a:solidFill>
          <a:ln w="6350">
            <a:solidFill>
              <a:srgbClr val="A8402B"/>
            </a:solidFill>
            <a:prstDash val="solid"/>
          </a:ln>
        </p:spPr>
      </p:sp>
      <p:sp>
        <p:nvSpPr>
          <p:cNvPr id="10" name="Text 6"/>
          <p:cNvSpPr/>
          <p:nvPr/>
        </p:nvSpPr>
        <p:spPr>
          <a:xfrm>
            <a:off x="960313" y="3891979"/>
            <a:ext cx="3227839"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Macro‑F1</a:t>
            </a:r>
            <a:endParaRPr lang="en-US" sz="1200" dirty="0"/>
          </a:p>
        </p:txBody>
      </p:sp>
      <p:sp>
        <p:nvSpPr>
          <p:cNvPr id="11" name="Text 7"/>
          <p:cNvSpPr/>
          <p:nvPr/>
        </p:nvSpPr>
        <p:spPr>
          <a:xfrm>
            <a:off x="960313" y="4148460"/>
            <a:ext cx="3227839" cy="33273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A8402B"/>
                </a:solidFill>
                <a:latin typeface="Source Serif 4" pitchFamily="18" charset="0"/>
                <a:ea typeface="Source Serif 4" pitchFamily="18" charset="-122"/>
                <a:cs typeface="Source Serif 4" pitchFamily="18" charset="-120"/>
              </a:rPr>
              <a:t>0,73</a:t>
            </a:r>
            <a:endParaRPr lang="en-US" sz="2200" dirty="0"/>
          </a:p>
        </p:txBody>
      </p:sp>
      <p:sp>
        <p:nvSpPr>
          <p:cNvPr id="12" name="Text 8"/>
          <p:cNvSpPr/>
          <p:nvPr/>
        </p:nvSpPr>
        <p:spPr>
          <a:xfrm>
            <a:off x="960313" y="4506516"/>
            <a:ext cx="3227839"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(0,86 + 0,65 + 0,69) / 3</a:t>
            </a:r>
            <a:endParaRPr lang="en-US" sz="1200" dirty="0"/>
          </a:p>
        </p:txBody>
      </p:sp>
      <p:sp>
        <p:nvSpPr>
          <p:cNvPr id="13" name="Shape 9"/>
          <p:cNvSpPr/>
          <p:nvPr/>
        </p:nvSpPr>
        <p:spPr>
          <a:xfrm>
            <a:off x="4384551" y="3785642"/>
            <a:ext cx="3422774" cy="1238721"/>
          </a:xfrm>
          <a:prstGeom prst="roundRect">
            <a:avLst>
              <a:gd name="adj" fmla="val 7946"/>
            </a:avLst>
          </a:prstGeom>
          <a:solidFill>
            <a:srgbClr val="FFFDF8"/>
          </a:solidFill>
          <a:ln w="6350">
            <a:solidFill>
              <a:srgbClr val="DDD7C8"/>
            </a:solidFill>
            <a:prstDash val="solid"/>
          </a:ln>
        </p:spPr>
      </p:sp>
      <p:sp>
        <p:nvSpPr>
          <p:cNvPr id="14" name="Text 10"/>
          <p:cNvSpPr/>
          <p:nvPr/>
        </p:nvSpPr>
        <p:spPr>
          <a:xfrm>
            <a:off x="4528964" y="3891979"/>
            <a:ext cx="3227967"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Exactitud (accuracy)</a:t>
            </a:r>
            <a:endParaRPr lang="en-US" sz="1200" dirty="0"/>
          </a:p>
        </p:txBody>
      </p:sp>
      <p:sp>
        <p:nvSpPr>
          <p:cNvPr id="15" name="Text 11"/>
          <p:cNvSpPr/>
          <p:nvPr/>
        </p:nvSpPr>
        <p:spPr>
          <a:xfrm>
            <a:off x="4528964" y="4148460"/>
            <a:ext cx="3227967" cy="33273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1F5A7E"/>
                </a:solidFill>
                <a:latin typeface="Source Serif 4" pitchFamily="18" charset="0"/>
                <a:ea typeface="Source Serif 4" pitchFamily="18" charset="-122"/>
                <a:cs typeface="Source Serif 4" pitchFamily="18" charset="-120"/>
              </a:rPr>
              <a:t>0,79</a:t>
            </a:r>
            <a:endParaRPr lang="en-US" sz="2200" dirty="0"/>
          </a:p>
        </p:txBody>
      </p:sp>
      <p:sp>
        <p:nvSpPr>
          <p:cNvPr id="16" name="Text 12"/>
          <p:cNvSpPr/>
          <p:nvPr/>
        </p:nvSpPr>
        <p:spPr>
          <a:xfrm>
            <a:off x="4528964" y="4506516"/>
            <a:ext cx="3227967"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79 / 100: sube porque la clase grande se acierta mucho</a:t>
            </a:r>
            <a:endParaRPr lang="en-US" sz="1200" dirty="0"/>
          </a:p>
        </p:txBody>
      </p:sp>
      <p:sp>
        <p:nvSpPr>
          <p:cNvPr id="17" name="Shape 13"/>
          <p:cNvSpPr/>
          <p:nvPr/>
        </p:nvSpPr>
        <p:spPr>
          <a:xfrm>
            <a:off x="7953325" y="3785642"/>
            <a:ext cx="3422774" cy="1238721"/>
          </a:xfrm>
          <a:prstGeom prst="roundRect">
            <a:avLst>
              <a:gd name="adj" fmla="val 7946"/>
            </a:avLst>
          </a:prstGeom>
          <a:solidFill>
            <a:srgbClr val="FFFDF8"/>
          </a:solidFill>
          <a:ln w="6350">
            <a:solidFill>
              <a:srgbClr val="DDD7C8"/>
            </a:solidFill>
            <a:prstDash val="solid"/>
          </a:ln>
        </p:spPr>
      </p:sp>
      <p:sp>
        <p:nvSpPr>
          <p:cNvPr id="18" name="Text 14"/>
          <p:cNvSpPr/>
          <p:nvPr/>
        </p:nvSpPr>
        <p:spPr>
          <a:xfrm>
            <a:off x="8097738" y="3891979"/>
            <a:ext cx="3227967"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Azar (clases balanceadas)</a:t>
            </a:r>
            <a:endParaRPr lang="en-US" sz="1200" dirty="0"/>
          </a:p>
        </p:txBody>
      </p:sp>
      <p:sp>
        <p:nvSpPr>
          <p:cNvPr id="19" name="Text 15"/>
          <p:cNvSpPr/>
          <p:nvPr/>
        </p:nvSpPr>
        <p:spPr>
          <a:xfrm>
            <a:off x="8097738" y="4148460"/>
            <a:ext cx="3227967" cy="33273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1F5A7E"/>
                </a:solidFill>
                <a:latin typeface="Source Serif 4" pitchFamily="18" charset="0"/>
                <a:ea typeface="Source Serif 4" pitchFamily="18" charset="-122"/>
                <a:cs typeface="Source Serif 4" pitchFamily="18" charset="-120"/>
              </a:rPr>
              <a:t>0,25 · 0,33</a:t>
            </a:r>
            <a:endParaRPr lang="en-US" sz="2200" dirty="0"/>
          </a:p>
        </p:txBody>
      </p:sp>
      <p:sp>
        <p:nvSpPr>
          <p:cNvPr id="20" name="Text 16"/>
          <p:cNvSpPr/>
          <p:nvPr/>
        </p:nvSpPr>
        <p:spPr>
          <a:xfrm>
            <a:off x="8097738" y="4506516"/>
            <a:ext cx="3227967"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periodo (4 clases) · fuente (3 clases); aproximado</a:t>
            </a:r>
            <a:endParaRPr lang="en-US" sz="1200" dirty="0"/>
          </a:p>
        </p:txBody>
      </p:sp>
      <p:sp>
        <p:nvSpPr>
          <p:cNvPr id="21" name="Shape 17"/>
          <p:cNvSpPr/>
          <p:nvPr/>
        </p:nvSpPr>
        <p:spPr>
          <a:xfrm>
            <a:off x="812726" y="5167188"/>
            <a:ext cx="10566549" cy="639961"/>
          </a:xfrm>
          <a:prstGeom prst="roundRect">
            <a:avLst>
              <a:gd name="adj" fmla="val 15876"/>
            </a:avLst>
          </a:prstGeom>
          <a:solidFill>
            <a:srgbClr val="1B2430"/>
          </a:solidFill>
          <a:ln/>
        </p:spPr>
      </p:sp>
      <p:sp>
        <p:nvSpPr>
          <p:cNvPr id="22" name="Text 18"/>
          <p:cNvSpPr/>
          <p:nvPr/>
        </p:nvSpPr>
        <p:spPr>
          <a:xfrm>
            <a:off x="1003226" y="5380509"/>
            <a:ext cx="1257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LECTURA</a:t>
            </a:r>
            <a:endParaRPr lang="en-US" sz="1200" dirty="0"/>
          </a:p>
        </p:txBody>
      </p:sp>
      <p:sp>
        <p:nvSpPr>
          <p:cNvPr id="23" name="Text 19"/>
          <p:cNvSpPr/>
          <p:nvPr/>
        </p:nvSpPr>
        <p:spPr>
          <a:xfrm>
            <a:off x="2362026" y="5281414"/>
            <a:ext cx="909155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Un macro‑F1 de 0,56 (el mejor de nuestra comparación) está claramente por encima del azar, pero lejos de acertar siempre: periodo y fuente se confunden entre sí porque los años 80 son solo Semana.</a:t>
            </a:r>
            <a:endParaRPr lang="en-US" sz="1200" dirty="0"/>
          </a:p>
        </p:txBody>
      </p:sp>
      <p:sp>
        <p:nvSpPr>
          <p:cNvPr id="24" name="Text 20"/>
          <p:cNvSpPr/>
          <p:nvPr/>
        </p:nvSpPr>
        <p:spPr>
          <a:xfrm>
            <a:off x="812726" y="6238379"/>
            <a:ext cx="100077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Números inventados para mostrar el cálculo; los resultados reales están en la siguiente diapositiva · informe, sección 8.2</a:t>
            </a:r>
            <a:endParaRPr lang="en-US" sz="1200" dirty="0"/>
          </a:p>
        </p:txBody>
      </p:sp>
      <p:sp>
        <p:nvSpPr>
          <p:cNvPr id="25" name="Text 21"/>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1981"/>
          </a:xfrm>
          <a:prstGeom prst="rect">
            <a:avLst/>
          </a:prstGeom>
          <a:noFill/>
          <a:ln/>
        </p:spPr>
        <p:txBody>
          <a:bodyPr wrap="square" lIns="0" tIns="0" rIns="0" bIns="0" rtlCol="0" anchor="t">
            <a:normAutofit/>
          </a:bodyPr>
          <a:lstStyle/>
          <a:p>
            <a:pPr algn="l" indent="0" marL="0">
              <a:lnSpc>
                <a:spcPts val="3070"/>
              </a:lnSpc>
              <a:buNone/>
            </a:pPr>
            <a:r>
              <a:rPr lang="en-US" sz="2791" b="1" i="0" dirty="0">
                <a:solidFill>
                  <a:srgbClr val="1B2430"/>
                </a:solidFill>
                <a:latin typeface="Source Serif 4" pitchFamily="18" charset="0"/>
                <a:ea typeface="Source Serif 4" pitchFamily="18" charset="-122"/>
                <a:cs typeface="Source Serif 4" pitchFamily="18" charset="-120"/>
              </a:rPr>
              <a:t>Representación 4 · Resultados de la comparación y reservas</a:t>
            </a:r>
            <a:endParaRPr lang="en-US" sz="2791" dirty="0"/>
          </a:p>
        </p:txBody>
      </p:sp>
      <p:sp>
        <p:nvSpPr>
          <p:cNvPr id="3" name="Shape 1"/>
          <p:cNvSpPr/>
          <p:nvPr/>
        </p:nvSpPr>
        <p:spPr>
          <a:xfrm>
            <a:off x="815901" y="1202482"/>
            <a:ext cx="4883150" cy="2318097"/>
          </a:xfrm>
          <a:prstGeom prst="roundRect">
            <a:avLst>
              <a:gd name="adj" fmla="val 4246"/>
            </a:avLst>
          </a:prstGeom>
          <a:solidFill>
            <a:srgbClr val="FFFFFF"/>
          </a:solidFill>
          <a:ln w="6350">
            <a:solidFill>
              <a:srgbClr val="DDD7C8"/>
            </a:solidFill>
            <a:prstDash val="solid"/>
          </a:ln>
        </p:spPr>
      </p:sp>
      <p:pic>
        <p:nvPicPr>
          <p:cNvPr id="4" name="Image 0" descr="preencoded.png">    </p:cNvPr>
          <p:cNvPicPr>
            <a:picLocks noChangeAspect="1"/>
          </p:cNvPicPr>
          <p:nvPr/>
        </p:nvPicPr>
        <p:blipFill>
          <a:blip r:embed="rId1"/>
          <a:srcRect l="-606" r="-606" t="0" b="0"/>
          <a:stretch/>
        </p:blipFill>
        <p:spPr>
          <a:xfrm>
            <a:off x="939726" y="1296045"/>
            <a:ext cx="4635500" cy="1882180"/>
          </a:xfrm>
          <a:prstGeom prst="rect">
            <a:avLst/>
          </a:prstGeom>
        </p:spPr>
      </p:pic>
      <p:sp>
        <p:nvSpPr>
          <p:cNvPr id="5" name="Text 2"/>
          <p:cNvSpPr/>
          <p:nvPr/>
        </p:nvSpPr>
        <p:spPr>
          <a:xfrm>
            <a:off x="1275531" y="3216300"/>
            <a:ext cx="3963888" cy="236116"/>
          </a:xfrm>
          <a:prstGeom prst="rect">
            <a:avLst/>
          </a:prstGeom>
          <a:noFill/>
          <a:ln/>
        </p:spPr>
        <p:txBody>
          <a:bodyPr wrap="square" lIns="0" tIns="0" rIns="0" bIns="0" rtlCol="0" anchor="t">
            <a:normAutofit/>
          </a:bodyPr>
          <a:lstStyle/>
          <a:p>
            <a:pPr algn="ctr" indent="0" marL="0">
              <a:lnSpc>
                <a:spcPts val="1675"/>
              </a:lnSpc>
              <a:buNone/>
            </a:pPr>
            <a:r>
              <a:rPr lang="en-US" sz="1196" dirty="0">
                <a:solidFill>
                  <a:srgbClr val="4A5361"/>
                </a:solidFill>
                <a:latin typeface="Inter" pitchFamily="34" charset="0"/>
                <a:ea typeface="Inter" pitchFamily="34" charset="-122"/>
                <a:cs typeface="Inter" pitchFamily="34" charset="-120"/>
              </a:rPr>
              <a:t>Macro‑F1, validación cruzada de 5 particiones</a:t>
            </a:r>
            <a:endParaRPr lang="en-US" sz="1196"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887889" y="1207244"/>
          <a:ext cx="5491386" cy="1187152"/>
        </p:xfrm>
        <a:graphic>
          <a:graphicData uri="http://schemas.openxmlformats.org/drawingml/2006/table">
            <a:tbl>
              <a:tblPr/>
              <a:tblGrid>
                <a:gridCol w="2251468"/>
                <a:gridCol w="713880"/>
                <a:gridCol w="1592502"/>
                <a:gridCol w="933536"/>
              </a:tblGrid>
              <a:tr h="296788">
                <a:tc>
                  <a:txBody>
                    <a:bodyPr/>
                    <a:lstStyle/>
                    <a:p>
                      <a:pPr indent="0" marL="0">
                        <a:lnSpc>
                          <a:spcPts val="1654"/>
                        </a:lnSpc>
                        <a:buNone/>
                      </a:pPr>
                      <a:r>
                        <a:rPr lang="en-US" sz="1181" b="1" dirty="0">
                          <a:solidFill>
                            <a:srgbClr val="F6F3EC"/>
                          </a:solidFill>
                          <a:latin typeface="Inter" pitchFamily="34" charset="0"/>
                          <a:ea typeface="Inter" pitchFamily="34" charset="-122"/>
                          <a:cs typeface="Inter" pitchFamily="34" charset="-120"/>
                        </a:rPr>
                        <a:t>Repr.</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54"/>
                        </a:lnSpc>
                        <a:buNone/>
                      </a:pPr>
                      <a:r>
                        <a:rPr lang="en-US" sz="1181" b="1" dirty="0">
                          <a:solidFill>
                            <a:srgbClr val="F6F3EC"/>
                          </a:solidFill>
                          <a:latin typeface="Inter" pitchFamily="34" charset="0"/>
                          <a:ea typeface="Inter" pitchFamily="34" charset="-122"/>
                          <a:cs typeface="Inter" pitchFamily="34" charset="-120"/>
                        </a:rPr>
                        <a:t>Dim.</a:t>
                      </a:r>
                      <a:endParaRPr lang="en-US" sz="1181"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54"/>
                        </a:lnSpc>
                        <a:buNone/>
                      </a:pPr>
                      <a:r>
                        <a:rPr lang="en-US" sz="1181" b="1" dirty="0">
                          <a:solidFill>
                            <a:srgbClr val="F6F3EC"/>
                          </a:solidFill>
                          <a:latin typeface="Inter" pitchFamily="34" charset="0"/>
                          <a:ea typeface="Inter" pitchFamily="34" charset="-122"/>
                          <a:cs typeface="Inter" pitchFamily="34" charset="-120"/>
                        </a:rPr>
                        <a:t>Cómputo</a:t>
                      </a:r>
                      <a:endParaRPr lang="en-US" sz="1181"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54"/>
                        </a:lnSpc>
                        <a:buNone/>
                      </a:pPr>
                      <a:r>
                        <a:rPr lang="en-US" sz="1181" b="1" dirty="0">
                          <a:solidFill>
                            <a:srgbClr val="F6F3EC"/>
                          </a:solidFill>
                          <a:latin typeface="Inter" pitchFamily="34" charset="0"/>
                          <a:ea typeface="Inter" pitchFamily="34" charset="-122"/>
                          <a:cs typeface="Inter" pitchFamily="34" charset="-120"/>
                        </a:rPr>
                        <a:t>Interp.</a:t>
                      </a:r>
                      <a:endParaRPr lang="en-US" sz="1181"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296788">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TF‑IDF · LinearSVC</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22.196</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~0 s</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Sí</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6788">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SVD · reg. log.</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128</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1,7 s</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Parcial</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6788">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MiniLM · reg. log.</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384</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10,1 s (GPU)</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54"/>
                        </a:lnSpc>
                        <a:buNone/>
                      </a:pPr>
                      <a:r>
                        <a:rPr lang="en-US" sz="1181" dirty="0">
                          <a:solidFill>
                            <a:srgbClr val="1B2430"/>
                          </a:solidFill>
                          <a:latin typeface="Inter" pitchFamily="34" charset="0"/>
                          <a:ea typeface="Inter" pitchFamily="34" charset="-122"/>
                          <a:cs typeface="Inter" pitchFamily="34" charset="-120"/>
                        </a:rPr>
                        <a:t>No</a:t>
                      </a:r>
                      <a:endParaRPr lang="en-US" sz="118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7" name="Text 3"/>
          <p:cNvSpPr/>
          <p:nvPr/>
        </p:nvSpPr>
        <p:spPr>
          <a:xfrm>
            <a:off x="5883126" y="2495798"/>
            <a:ext cx="5492973" cy="1024781"/>
          </a:xfrm>
          <a:prstGeom prst="roundRect">
            <a:avLst>
              <a:gd name="adj" fmla="val 9604"/>
            </a:avLst>
          </a:prstGeom>
          <a:solidFill>
            <a:srgbClr val="FFFDF8"/>
          </a:solidFill>
          <a:ln w="6350">
            <a:solidFill>
              <a:srgbClr val="DDD7C8"/>
            </a:solidFill>
            <a:prstDash val="solid"/>
          </a:ln>
        </p:spPr>
        <p:txBody>
          <a:bodyPr wrap="square" lIns="115585" tIns="77535" rIns="0" bIns="52085" rtlCol="0" anchor="t">
            <a:normAutofit/>
          </a:bodyPr>
          <a:lstStyle/>
          <a:p>
            <a:pPr algn="l" indent="0" marL="0">
              <a:lnSpc>
                <a:spcPts val="1605"/>
              </a:lnSpc>
              <a:buNone/>
            </a:pPr>
            <a:r>
              <a:rPr lang="en-US" sz="1189" b="1" dirty="0">
                <a:solidFill>
                  <a:srgbClr val="1B2430"/>
                </a:solidFill>
                <a:latin typeface="Inter" pitchFamily="34" charset="0"/>
                <a:ea typeface="Inter" pitchFamily="34" charset="-122"/>
                <a:cs typeface="Inter" pitchFamily="34" charset="-120"/>
              </a:rPr>
              <a:t>Cómo leerlo.</a:t>
            </a:r>
            <a:r>
              <a:rPr lang="en-US" sz="1189" dirty="0">
                <a:solidFill>
                  <a:srgbClr val="1B2430"/>
                </a:solidFill>
                <a:latin typeface="Inter" pitchFamily="34" charset="0"/>
                <a:ea typeface="Inter" pitchFamily="34" charset="-122"/>
                <a:cs typeface="Inter" pitchFamily="34" charset="-120"/>
              </a:rPr>
              <a:t> Periodo y fuente se distinguen por nombres propios, formato y estilo: justo lo que los embeddings de oración están entrenados para ignorar. Que pierdan aquí no significa que pierdan en una tarea semántica.</a:t>
            </a:r>
            <a:endParaRPr lang="en-US" sz="1189" dirty="0"/>
          </a:p>
        </p:txBody>
      </p:sp>
      <p:sp>
        <p:nvSpPr>
          <p:cNvPr id="8" name="Shape 4"/>
          <p:cNvSpPr/>
          <p:nvPr/>
        </p:nvSpPr>
        <p:spPr>
          <a:xfrm>
            <a:off x="815901" y="3628504"/>
            <a:ext cx="3431084" cy="1473374"/>
          </a:xfrm>
          <a:prstGeom prst="roundRect">
            <a:avLst>
              <a:gd name="adj" fmla="val 6680"/>
            </a:avLst>
          </a:prstGeom>
          <a:solidFill>
            <a:srgbClr val="FFFDF8"/>
          </a:solidFill>
          <a:ln w="6350">
            <a:solidFill>
              <a:srgbClr val="A8402B"/>
            </a:solidFill>
            <a:prstDash val="solid"/>
          </a:ln>
        </p:spPr>
      </p:sp>
      <p:sp>
        <p:nvSpPr>
          <p:cNvPr id="9" name="Text 5"/>
          <p:cNvSpPr/>
          <p:nvPr/>
        </p:nvSpPr>
        <p:spPr>
          <a:xfrm>
            <a:off x="960313" y="3734842"/>
            <a:ext cx="3236526" cy="220737"/>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Reserva 1 · Clasificadores distintos</a:t>
            </a:r>
            <a:endParaRPr lang="en-US" sz="1300" dirty="0"/>
          </a:p>
        </p:txBody>
      </p:sp>
      <p:sp>
        <p:nvSpPr>
          <p:cNvPr id="10" name="Text 6"/>
          <p:cNvSpPr/>
          <p:nvPr/>
        </p:nvSpPr>
        <p:spPr>
          <a:xfrm>
            <a:off x="960313" y="3980904"/>
            <a:ext cx="3236526" cy="1040036"/>
          </a:xfrm>
          <a:prstGeom prst="rect">
            <a:avLst/>
          </a:prstGeom>
          <a:noFill/>
          <a:ln/>
        </p:spPr>
        <p:txBody>
          <a:bodyPr wrap="square" lIns="0" tIns="0" rIns="0" bIns="0" rtlCol="0" anchor="t">
            <a:normAutofit/>
          </a:bodyPr>
          <a:lstStyle/>
          <a:p>
            <a:pPr algn="l" indent="0" marL="0">
              <a:lnSpc>
                <a:spcPts val="1605"/>
              </a:lnSpc>
              <a:buNone/>
            </a:pPr>
            <a:r>
              <a:rPr lang="en-US" sz="1189" dirty="0">
                <a:solidFill>
                  <a:srgbClr val="1B2430"/>
                </a:solidFill>
                <a:latin typeface="Inter" pitchFamily="34" charset="0"/>
                <a:ea typeface="Inter" pitchFamily="34" charset="-122"/>
                <a:cs typeface="Inter" pitchFamily="34" charset="-120"/>
              </a:rPr>
              <a:t>TF‑IDF usó LinearSVC y los otros dos regresión logística: parte de la brecha puede ser del clasificador. Hay una celda de control en el cuaderno 06, aún sin correr.</a:t>
            </a:r>
            <a:endParaRPr lang="en-US" sz="1189" dirty="0"/>
          </a:p>
        </p:txBody>
      </p:sp>
      <p:sp>
        <p:nvSpPr>
          <p:cNvPr id="11" name="Shape 7"/>
          <p:cNvSpPr/>
          <p:nvPr/>
        </p:nvSpPr>
        <p:spPr>
          <a:xfrm>
            <a:off x="4380334" y="3628504"/>
            <a:ext cx="3431208" cy="1473374"/>
          </a:xfrm>
          <a:prstGeom prst="roundRect">
            <a:avLst>
              <a:gd name="adj" fmla="val 6680"/>
            </a:avLst>
          </a:prstGeom>
          <a:solidFill>
            <a:srgbClr val="FFFDF8"/>
          </a:solidFill>
          <a:ln w="6350">
            <a:solidFill>
              <a:srgbClr val="A8402B"/>
            </a:solidFill>
            <a:prstDash val="solid"/>
          </a:ln>
        </p:spPr>
      </p:sp>
      <p:sp>
        <p:nvSpPr>
          <p:cNvPr id="12" name="Text 8"/>
          <p:cNvSpPr/>
          <p:nvPr/>
        </p:nvSpPr>
        <p:spPr>
          <a:xfrm>
            <a:off x="4524747" y="3734842"/>
            <a:ext cx="3236653" cy="220737"/>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Reserva 2 · Muestra pequeña</a:t>
            </a:r>
            <a:endParaRPr lang="en-US" sz="1300" dirty="0"/>
          </a:p>
        </p:txBody>
      </p:sp>
      <p:sp>
        <p:nvSpPr>
          <p:cNvPr id="13" name="Text 9"/>
          <p:cNvSpPr/>
          <p:nvPr/>
        </p:nvSpPr>
        <p:spPr>
          <a:xfrm>
            <a:off x="4524747" y="3980904"/>
            <a:ext cx="3236653" cy="1040036"/>
          </a:xfrm>
          <a:prstGeom prst="rect">
            <a:avLst/>
          </a:prstGeom>
          <a:noFill/>
          <a:ln/>
        </p:spPr>
        <p:txBody>
          <a:bodyPr wrap="square" lIns="0" tIns="0" rIns="0" bIns="0" rtlCol="0" anchor="t">
            <a:normAutofit/>
          </a:bodyPr>
          <a:lstStyle/>
          <a:p>
            <a:pPr algn="l" indent="0" marL="0">
              <a:lnSpc>
                <a:spcPts val="1615"/>
              </a:lnSpc>
              <a:buNone/>
            </a:pPr>
            <a:r>
              <a:rPr lang="en-US" sz="1196" dirty="0">
                <a:solidFill>
                  <a:srgbClr val="1B2430"/>
                </a:solidFill>
                <a:latin typeface="Inter" pitchFamily="34" charset="0"/>
                <a:ea typeface="Inter" pitchFamily="34" charset="-122"/>
                <a:cs typeface="Inter" pitchFamily="34" charset="-120"/>
              </a:rPr>
              <a:t>Con ~4.000 artículos y 5 particiones no hay intervalos de confianza: pocas centésimas no son concluyentes. La brecha es amplia, pero no está cuantificada.</a:t>
            </a:r>
            <a:endParaRPr lang="en-US" sz="1196" dirty="0"/>
          </a:p>
        </p:txBody>
      </p:sp>
      <p:sp>
        <p:nvSpPr>
          <p:cNvPr id="14" name="Shape 10"/>
          <p:cNvSpPr/>
          <p:nvPr/>
        </p:nvSpPr>
        <p:spPr>
          <a:xfrm>
            <a:off x="7944892" y="3628504"/>
            <a:ext cx="3431208" cy="1473374"/>
          </a:xfrm>
          <a:prstGeom prst="roundRect">
            <a:avLst>
              <a:gd name="adj" fmla="val 6680"/>
            </a:avLst>
          </a:prstGeom>
          <a:solidFill>
            <a:srgbClr val="FFFDF8"/>
          </a:solidFill>
          <a:ln w="6350">
            <a:solidFill>
              <a:srgbClr val="A8402B"/>
            </a:solidFill>
            <a:prstDash val="solid"/>
          </a:ln>
        </p:spPr>
      </p:sp>
      <p:sp>
        <p:nvSpPr>
          <p:cNvPr id="15" name="Text 11"/>
          <p:cNvSpPr/>
          <p:nvPr/>
        </p:nvSpPr>
        <p:spPr>
          <a:xfrm>
            <a:off x="8089305" y="3734842"/>
            <a:ext cx="3236653"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Reserva 3 · Qué no prueba</a:t>
            </a:r>
            <a:endParaRPr lang="en-US" sz="1300" dirty="0"/>
          </a:p>
        </p:txBody>
      </p:sp>
      <p:sp>
        <p:nvSpPr>
          <p:cNvPr id="16" name="Text 12"/>
          <p:cNvSpPr/>
          <p:nvPr/>
        </p:nvSpPr>
        <p:spPr>
          <a:xfrm>
            <a:off x="8089305" y="3983633"/>
            <a:ext cx="3236653" cy="84842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Distinguir época y medio no demuestra capturar mejor el tema: es separabilidad léxica, la que necesita un análisis de cambio de vocabulario.</a:t>
            </a:r>
            <a:endParaRPr lang="en-US" sz="1200" dirty="0"/>
          </a:p>
        </p:txBody>
      </p:sp>
      <p:sp>
        <p:nvSpPr>
          <p:cNvPr id="17" name="Shape 13"/>
          <p:cNvSpPr/>
          <p:nvPr/>
        </p:nvSpPr>
        <p:spPr>
          <a:xfrm>
            <a:off x="812726" y="5206628"/>
            <a:ext cx="10566549" cy="635372"/>
          </a:xfrm>
          <a:prstGeom prst="roundRect">
            <a:avLst>
              <a:gd name="adj" fmla="val 15991"/>
            </a:avLst>
          </a:prstGeom>
          <a:solidFill>
            <a:srgbClr val="1B2430"/>
          </a:solidFill>
          <a:ln/>
        </p:spPr>
      </p:sp>
      <p:sp>
        <p:nvSpPr>
          <p:cNvPr id="18" name="Text 14"/>
          <p:cNvSpPr/>
          <p:nvPr/>
        </p:nvSpPr>
        <p:spPr>
          <a:xfrm>
            <a:off x="1003226" y="5417592"/>
            <a:ext cx="1257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DECISIÓN</a:t>
            </a:r>
            <a:endParaRPr lang="en-US" sz="1200" dirty="0"/>
          </a:p>
        </p:txBody>
      </p:sp>
      <p:sp>
        <p:nvSpPr>
          <p:cNvPr id="19" name="Text 15"/>
          <p:cNvSpPr/>
          <p:nvPr/>
        </p:nvSpPr>
        <p:spPr>
          <a:xfrm>
            <a:off x="2362026" y="5318621"/>
            <a:ext cx="909155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TF‑IDF + NMF: separa mejor, cuesta menos y es la entrada que NMF convierte en tópicos legibles. Embeddings: mejora futura (BERTopic).</a:t>
            </a:r>
            <a:endParaRPr lang="en-US" sz="1200" dirty="0"/>
          </a:p>
        </p:txBody>
      </p:sp>
      <p:sp>
        <p:nvSpPr>
          <p:cNvPr id="20" name="Text 16"/>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Cuaderno 06 · informe, secciones 8.3 y 8.4</a:t>
            </a:r>
            <a:endParaRPr lang="en-US" sz="1200" dirty="0"/>
          </a:p>
        </p:txBody>
      </p:sp>
      <p:sp>
        <p:nvSpPr>
          <p:cNvPr id="21" name="Text 17"/>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4447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B2430"/>
                </a:solidFill>
                <a:latin typeface="Source Serif 4" pitchFamily="18" charset="0"/>
                <a:ea typeface="Source Serif 4" pitchFamily="18" charset="-122"/>
                <a:cs typeface="Source Serif 4" pitchFamily="18" charset="-120"/>
              </a:rPr>
              <a:t>Propuesta metodológica</a:t>
            </a:r>
            <a:endParaRPr lang="en-US" sz="3000" dirty="0"/>
          </a:p>
        </p:txBody>
      </p:sp>
      <p:sp>
        <p:nvSpPr>
          <p:cNvPr id="3" name="Shape 1"/>
          <p:cNvSpPr/>
          <p:nvPr/>
        </p:nvSpPr>
        <p:spPr>
          <a:xfrm>
            <a:off x="815901" y="1336551"/>
            <a:ext cx="3414216" cy="1310035"/>
          </a:xfrm>
          <a:prstGeom prst="roundRect">
            <a:avLst>
              <a:gd name="adj" fmla="val 7513"/>
            </a:avLst>
          </a:prstGeom>
          <a:solidFill>
            <a:srgbClr val="FFFDF8"/>
          </a:solidFill>
          <a:ln w="6350">
            <a:solidFill>
              <a:srgbClr val="DDD7C8"/>
            </a:solidFill>
            <a:prstDash val="solid"/>
          </a:ln>
        </p:spPr>
      </p:sp>
      <p:sp>
        <p:nvSpPr>
          <p:cNvPr id="4" name="Text 2"/>
          <p:cNvSpPr/>
          <p:nvPr/>
        </p:nvSpPr>
        <p:spPr>
          <a:xfrm>
            <a:off x="998389" y="1519039"/>
            <a:ext cx="3140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1 · Preparar</a:t>
            </a:r>
            <a:endParaRPr lang="en-US" sz="1200" dirty="0"/>
          </a:p>
        </p:txBody>
      </p:sp>
      <p:sp>
        <p:nvSpPr>
          <p:cNvPr id="5" name="Text 3"/>
          <p:cNvSpPr/>
          <p:nvPr/>
        </p:nvSpPr>
        <p:spPr>
          <a:xfrm>
            <a:off x="998389" y="1795859"/>
            <a:ext cx="3140717" cy="693638"/>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2430"/>
                </a:solidFill>
                <a:latin typeface="Inter" pitchFamily="34" charset="0"/>
                <a:ea typeface="Inter" pitchFamily="34" charset="-122"/>
                <a:cs typeface="Inter" pitchFamily="34" charset="-120"/>
              </a:rPr>
              <a:t>Tokenizar, quitar stopwords y construir TF‑IDF con muestra balanceada por año.</a:t>
            </a:r>
            <a:endParaRPr lang="en-US" sz="1300" dirty="0"/>
          </a:p>
        </p:txBody>
      </p:sp>
      <p:sp>
        <p:nvSpPr>
          <p:cNvPr id="6" name="Shape 4"/>
          <p:cNvSpPr/>
          <p:nvPr/>
        </p:nvSpPr>
        <p:spPr>
          <a:xfrm>
            <a:off x="4388768" y="1336551"/>
            <a:ext cx="3414340" cy="1310035"/>
          </a:xfrm>
          <a:prstGeom prst="roundRect">
            <a:avLst>
              <a:gd name="adj" fmla="val 7513"/>
            </a:avLst>
          </a:prstGeom>
          <a:solidFill>
            <a:srgbClr val="FFFDF8"/>
          </a:solidFill>
          <a:ln w="6350">
            <a:solidFill>
              <a:srgbClr val="DDD7C8"/>
            </a:solidFill>
            <a:prstDash val="solid"/>
          </a:ln>
        </p:spPr>
      </p:sp>
      <p:sp>
        <p:nvSpPr>
          <p:cNvPr id="7" name="Text 5"/>
          <p:cNvSpPr/>
          <p:nvPr/>
        </p:nvSpPr>
        <p:spPr>
          <a:xfrm>
            <a:off x="4571256" y="1519039"/>
            <a:ext cx="314084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2 · Tópicos</a:t>
            </a:r>
            <a:endParaRPr lang="en-US" sz="1200" dirty="0"/>
          </a:p>
        </p:txBody>
      </p:sp>
      <p:sp>
        <p:nvSpPr>
          <p:cNvPr id="8" name="Text 6"/>
          <p:cNvSpPr/>
          <p:nvPr/>
        </p:nvSpPr>
        <p:spPr>
          <a:xfrm>
            <a:off x="4571256" y="1795859"/>
            <a:ext cx="3140845" cy="47089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2430"/>
                </a:solidFill>
                <a:latin typeface="Inter" pitchFamily="34" charset="0"/>
                <a:ea typeface="Inter" pitchFamily="34" charset="-122"/>
                <a:cs typeface="Inter" pitchFamily="34" charset="-120"/>
              </a:rPr>
              <a:t>NMF; K entre 15 y 40 por coherencia NPMI y estabilidad entre semillas.</a:t>
            </a:r>
            <a:endParaRPr lang="en-US" sz="1300" dirty="0"/>
          </a:p>
        </p:txBody>
      </p:sp>
      <p:sp>
        <p:nvSpPr>
          <p:cNvPr id="9" name="Shape 7"/>
          <p:cNvSpPr/>
          <p:nvPr/>
        </p:nvSpPr>
        <p:spPr>
          <a:xfrm>
            <a:off x="7961759" y="1336551"/>
            <a:ext cx="3414216" cy="1310035"/>
          </a:xfrm>
          <a:prstGeom prst="roundRect">
            <a:avLst>
              <a:gd name="adj" fmla="val 7513"/>
            </a:avLst>
          </a:prstGeom>
          <a:solidFill>
            <a:srgbClr val="FFFDF8"/>
          </a:solidFill>
          <a:ln w="6350">
            <a:solidFill>
              <a:srgbClr val="DDD7C8"/>
            </a:solidFill>
            <a:prstDash val="solid"/>
          </a:ln>
        </p:spPr>
      </p:sp>
      <p:sp>
        <p:nvSpPr>
          <p:cNvPr id="10" name="Text 8"/>
          <p:cNvSpPr/>
          <p:nvPr/>
        </p:nvSpPr>
        <p:spPr>
          <a:xfrm>
            <a:off x="8144247" y="1519039"/>
            <a:ext cx="3140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3 · Agenda</a:t>
            </a:r>
            <a:endParaRPr lang="en-US" sz="1200" dirty="0"/>
          </a:p>
        </p:txBody>
      </p:sp>
      <p:sp>
        <p:nvSpPr>
          <p:cNvPr id="11" name="Text 9"/>
          <p:cNvSpPr/>
          <p:nvPr/>
        </p:nvSpPr>
        <p:spPr>
          <a:xfrm>
            <a:off x="8144247" y="1795859"/>
            <a:ext cx="3140717" cy="693638"/>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2430"/>
                </a:solidFill>
                <a:latin typeface="Inter" pitchFamily="34" charset="0"/>
                <a:ea typeface="Inter" pitchFamily="34" charset="-122"/>
                <a:cs typeface="Inter" pitchFamily="34" charset="-120"/>
              </a:rPr>
              <a:t>Prevalencia anual: media de la proporción de cada tópico por documento.</a:t>
            </a:r>
            <a:endParaRPr lang="en-US" sz="1300" dirty="0"/>
          </a:p>
        </p:txBody>
      </p:sp>
      <p:sp>
        <p:nvSpPr>
          <p:cNvPr id="12" name="Shape 10"/>
          <p:cNvSpPr/>
          <p:nvPr/>
        </p:nvSpPr>
        <p:spPr>
          <a:xfrm>
            <a:off x="815901" y="2805237"/>
            <a:ext cx="3414216" cy="1087289"/>
          </a:xfrm>
          <a:prstGeom prst="roundRect">
            <a:avLst>
              <a:gd name="adj" fmla="val 9052"/>
            </a:avLst>
          </a:prstGeom>
          <a:solidFill>
            <a:srgbClr val="FFFDF8"/>
          </a:solidFill>
          <a:ln w="6350">
            <a:solidFill>
              <a:srgbClr val="DDD7C8"/>
            </a:solidFill>
            <a:prstDash val="solid"/>
          </a:ln>
        </p:spPr>
      </p:sp>
      <p:sp>
        <p:nvSpPr>
          <p:cNvPr id="13" name="Text 11"/>
          <p:cNvSpPr/>
          <p:nvPr/>
        </p:nvSpPr>
        <p:spPr>
          <a:xfrm>
            <a:off x="998389" y="2987725"/>
            <a:ext cx="3140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4 · Estabilidad</a:t>
            </a:r>
            <a:endParaRPr lang="en-US" sz="1200" dirty="0"/>
          </a:p>
        </p:txBody>
      </p:sp>
      <p:sp>
        <p:nvSpPr>
          <p:cNvPr id="14" name="Text 12"/>
          <p:cNvSpPr/>
          <p:nvPr/>
        </p:nvSpPr>
        <p:spPr>
          <a:xfrm>
            <a:off x="998389" y="3264545"/>
            <a:ext cx="3140717" cy="47089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2430"/>
                </a:solidFill>
                <a:latin typeface="Inter" pitchFamily="34" charset="0"/>
                <a:ea typeface="Inter" pitchFamily="34" charset="-122"/>
                <a:cs typeface="Inter" pitchFamily="34" charset="-120"/>
              </a:rPr>
              <a:t>JS entre años contra un nulo de 1 000 permutaciones por fuente, con BH.</a:t>
            </a:r>
            <a:endParaRPr lang="en-US" sz="1300" dirty="0"/>
          </a:p>
        </p:txBody>
      </p:sp>
      <p:sp>
        <p:nvSpPr>
          <p:cNvPr id="15" name="Shape 13"/>
          <p:cNvSpPr/>
          <p:nvPr/>
        </p:nvSpPr>
        <p:spPr>
          <a:xfrm>
            <a:off x="4388768" y="2805237"/>
            <a:ext cx="3414340" cy="1087289"/>
          </a:xfrm>
          <a:prstGeom prst="roundRect">
            <a:avLst>
              <a:gd name="adj" fmla="val 9052"/>
            </a:avLst>
          </a:prstGeom>
          <a:solidFill>
            <a:srgbClr val="FFFDF8"/>
          </a:solidFill>
          <a:ln w="6350">
            <a:solidFill>
              <a:srgbClr val="DDD7C8"/>
            </a:solidFill>
            <a:prstDash val="solid"/>
          </a:ln>
        </p:spPr>
      </p:sp>
      <p:sp>
        <p:nvSpPr>
          <p:cNvPr id="16" name="Text 14"/>
          <p:cNvSpPr/>
          <p:nvPr/>
        </p:nvSpPr>
        <p:spPr>
          <a:xfrm>
            <a:off x="4571256" y="2987725"/>
            <a:ext cx="314084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F5A7E"/>
                </a:solidFill>
                <a:latin typeface="Inter" pitchFamily="34" charset="0"/>
                <a:ea typeface="Inter" pitchFamily="34" charset="-122"/>
                <a:cs typeface="Inter" pitchFamily="34" charset="-120"/>
              </a:rPr>
              <a:t>5 · Cambios</a:t>
            </a:r>
            <a:endParaRPr lang="en-US" sz="1200" dirty="0"/>
          </a:p>
        </p:txBody>
      </p:sp>
      <p:sp>
        <p:nvSpPr>
          <p:cNvPr id="17" name="Text 15"/>
          <p:cNvSpPr/>
          <p:nvPr/>
        </p:nvSpPr>
        <p:spPr>
          <a:xfrm>
            <a:off x="4571256" y="3264545"/>
            <a:ext cx="3140845" cy="47089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2430"/>
                </a:solidFill>
                <a:latin typeface="Inter" pitchFamily="34" charset="0"/>
                <a:ea typeface="Inter" pitchFamily="34" charset="-122"/>
                <a:cs typeface="Inter" pitchFamily="34" charset="-120"/>
              </a:rPr>
              <a:t>Segmentación binaria con umbral calibrado y robustez en seis variantes.</a:t>
            </a:r>
            <a:endParaRPr lang="en-US" sz="1300" dirty="0"/>
          </a:p>
        </p:txBody>
      </p:sp>
      <p:sp>
        <p:nvSpPr>
          <p:cNvPr id="18" name="Shape 16"/>
          <p:cNvSpPr/>
          <p:nvPr/>
        </p:nvSpPr>
        <p:spPr>
          <a:xfrm>
            <a:off x="7961759" y="2805237"/>
            <a:ext cx="3414216" cy="1087289"/>
          </a:xfrm>
          <a:prstGeom prst="roundRect">
            <a:avLst>
              <a:gd name="adj" fmla="val 9052"/>
            </a:avLst>
          </a:prstGeom>
          <a:solidFill>
            <a:srgbClr val="FFFDF8"/>
          </a:solidFill>
          <a:ln w="6350">
            <a:solidFill>
              <a:srgbClr val="A8402B"/>
            </a:solidFill>
            <a:prstDash val="solid"/>
          </a:ln>
        </p:spPr>
      </p:sp>
      <p:sp>
        <p:nvSpPr>
          <p:cNvPr id="19" name="Text 17"/>
          <p:cNvSpPr/>
          <p:nvPr/>
        </p:nvSpPr>
        <p:spPr>
          <a:xfrm>
            <a:off x="8144247" y="2987725"/>
            <a:ext cx="314071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02B"/>
                </a:solidFill>
                <a:latin typeface="Inter" pitchFamily="34" charset="0"/>
                <a:ea typeface="Inter" pitchFamily="34" charset="-122"/>
                <a:cs typeface="Inter" pitchFamily="34" charset="-120"/>
              </a:rPr>
              <a:t>6 · Historia</a:t>
            </a:r>
            <a:endParaRPr lang="en-US" sz="1200" dirty="0"/>
          </a:p>
        </p:txBody>
      </p:sp>
      <p:sp>
        <p:nvSpPr>
          <p:cNvPr id="20" name="Text 18"/>
          <p:cNvSpPr/>
          <p:nvPr/>
        </p:nvSpPr>
        <p:spPr>
          <a:xfrm>
            <a:off x="8144247" y="3264545"/>
            <a:ext cx="3140717" cy="470892"/>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2430"/>
                </a:solidFill>
                <a:latin typeface="Inter" pitchFamily="34" charset="0"/>
                <a:ea typeface="Inter" pitchFamily="34" charset="-122"/>
                <a:cs typeface="Inter" pitchFamily="34" charset="-120"/>
              </a:rPr>
              <a:t>Eventos congelados de antemano y línea base aleatoria. Solo al final.</a:t>
            </a:r>
            <a:endParaRPr lang="en-US" sz="1300" dirty="0"/>
          </a:p>
        </p:txBody>
      </p:sp>
      <p:sp>
        <p:nvSpPr>
          <p:cNvPr id="21" name="Shape 19"/>
          <p:cNvSpPr/>
          <p:nvPr/>
        </p:nvSpPr>
        <p:spPr>
          <a:xfrm>
            <a:off x="812726" y="4098851"/>
            <a:ext cx="10566549" cy="1107033"/>
          </a:xfrm>
          <a:prstGeom prst="roundRect">
            <a:avLst>
              <a:gd name="adj" fmla="val 9178"/>
            </a:avLst>
          </a:prstGeom>
          <a:solidFill>
            <a:srgbClr val="1B2430"/>
          </a:solidFill>
          <a:ln/>
        </p:spPr>
      </p:sp>
      <p:sp>
        <p:nvSpPr>
          <p:cNvPr id="22" name="Text 20"/>
          <p:cNvSpPr/>
          <p:nvPr/>
        </p:nvSpPr>
        <p:spPr>
          <a:xfrm>
            <a:off x="1041301" y="4276576"/>
            <a:ext cx="1041268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0A43A"/>
                </a:solidFill>
                <a:latin typeface="Inter" pitchFamily="34" charset="0"/>
                <a:ea typeface="Inter" pitchFamily="34" charset="-122"/>
                <a:cs typeface="Inter" pitchFamily="34" charset="-120"/>
              </a:rPr>
              <a:t>CRITERIOS PARA COMPARAR MODELOS</a:t>
            </a:r>
            <a:endParaRPr lang="en-US" sz="1200" dirty="0"/>
          </a:p>
        </p:txBody>
      </p:sp>
      <p:sp>
        <p:nvSpPr>
          <p:cNvPr id="23" name="Text 21"/>
          <p:cNvSpPr/>
          <p:nvPr/>
        </p:nvSpPr>
        <p:spPr>
          <a:xfrm>
            <a:off x="1041301" y="4566047"/>
            <a:ext cx="10412680" cy="48751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3EC"/>
                </a:solidFill>
                <a:latin typeface="Inter" pitchFamily="34" charset="0"/>
                <a:ea typeface="Inter" pitchFamily="34" charset="-122"/>
                <a:cs typeface="Inter" pitchFamily="34" charset="-120"/>
              </a:rPr>
              <a:t>Coherencia NPMI · estabilidad entre semillas · macro‑F1 de periodo y fuente · acuerdo de los puntos de cambio · costo de cómputo</a:t>
            </a:r>
            <a:endParaRPr lang="en-US" sz="1300" dirty="0"/>
          </a:p>
        </p:txBody>
      </p:sp>
      <p:sp>
        <p:nvSpPr>
          <p:cNvPr id="24" name="Text 22"/>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Cada paso cuesta más que el anterior; el siguiente solo se ejecuta si el anterior lo justifica · cuaderno 06</a:t>
            </a:r>
            <a:endParaRPr lang="en-US" sz="1200" dirty="0"/>
          </a:p>
        </p:txBody>
      </p:sp>
      <p:sp>
        <p:nvSpPr>
          <p:cNvPr id="25" name="Text 23"/>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Método 1 · Tópicos con NMF y elección de K</a:t>
            </a:r>
            <a:endParaRPr lang="en-US" sz="2800" dirty="0"/>
          </a:p>
        </p:txBody>
      </p:sp>
      <p:sp>
        <p:nvSpPr>
          <p:cNvPr id="3" name="Shape 1"/>
          <p:cNvSpPr/>
          <p:nvPr/>
        </p:nvSpPr>
        <p:spPr>
          <a:xfrm>
            <a:off x="815901" y="1219597"/>
            <a:ext cx="6597650" cy="2433067"/>
          </a:xfrm>
          <a:prstGeom prst="roundRect">
            <a:avLst>
              <a:gd name="adj" fmla="val 4045"/>
            </a:avLst>
          </a:prstGeom>
          <a:solidFill>
            <a:srgbClr val="FFFFFF"/>
          </a:solidFill>
          <a:ln w="6350">
            <a:solidFill>
              <a:srgbClr val="DDD7C8"/>
            </a:solidFill>
            <a:prstDash val="solid"/>
          </a:ln>
        </p:spPr>
      </p:sp>
      <p:pic>
        <p:nvPicPr>
          <p:cNvPr id="4" name="Image 0" descr="preencoded.png">    </p:cNvPr>
          <p:cNvPicPr>
            <a:picLocks noChangeAspect="1"/>
          </p:cNvPicPr>
          <p:nvPr/>
        </p:nvPicPr>
        <p:blipFill>
          <a:blip r:embed="rId1"/>
          <a:srcRect l="0" r="0" t="0" b="0"/>
          <a:stretch/>
        </p:blipFill>
        <p:spPr>
          <a:xfrm>
            <a:off x="1098476" y="1300510"/>
            <a:ext cx="2984500" cy="2032000"/>
          </a:xfrm>
          <a:prstGeom prst="rect">
            <a:avLst/>
          </a:prstGeom>
        </p:spPr>
      </p:pic>
      <p:pic>
        <p:nvPicPr>
          <p:cNvPr id="5" name="Image 1" descr="preencoded.png">    </p:cNvPr>
          <p:cNvPicPr>
            <a:picLocks noChangeAspect="1"/>
          </p:cNvPicPr>
          <p:nvPr/>
        </p:nvPicPr>
        <p:blipFill>
          <a:blip r:embed="rId2"/>
          <a:srcRect l="0" r="0" t="0" b="0"/>
          <a:stretch/>
        </p:blipFill>
        <p:spPr>
          <a:xfrm>
            <a:off x="4146476" y="1300510"/>
            <a:ext cx="2984500" cy="2032000"/>
          </a:xfrm>
          <a:prstGeom prst="rect">
            <a:avLst/>
          </a:prstGeom>
        </p:spPr>
      </p:pic>
      <p:sp>
        <p:nvSpPr>
          <p:cNvPr id="6" name="Text 2"/>
          <p:cNvSpPr/>
          <p:nvPr/>
        </p:nvSpPr>
        <p:spPr>
          <a:xfrm>
            <a:off x="1760128" y="3357811"/>
            <a:ext cx="4709071" cy="231155"/>
          </a:xfrm>
          <a:prstGeom prst="rect">
            <a:avLst/>
          </a:prstGeom>
          <a:noFill/>
          <a:ln/>
        </p:spPr>
        <p:txBody>
          <a:bodyPr wrap="square" lIns="0" tIns="0" rIns="0" bIns="0" rtlCol="0" anchor="t">
            <a:normAutofit/>
          </a:bodyPr>
          <a:lstStyle/>
          <a:p>
            <a:pPr algn="ctr" indent="0" marL="0">
              <a:lnSpc>
                <a:spcPts val="1620"/>
              </a:lnSpc>
              <a:buNone/>
            </a:pPr>
            <a:r>
              <a:rPr lang="en-US" sz="1200" dirty="0">
                <a:solidFill>
                  <a:srgbClr val="4A5361"/>
                </a:solidFill>
                <a:latin typeface="Inter" pitchFamily="34" charset="0"/>
                <a:ea typeface="Inter" pitchFamily="34" charset="-122"/>
                <a:cs typeface="Inter" pitchFamily="34" charset="-120"/>
              </a:rPr>
              <a:t>Eje vertical truncado · punto grande: K = 40, el elegido</a:t>
            </a:r>
            <a:endParaRPr lang="en-US" sz="1200" dirty="0"/>
          </a:p>
        </p:txBody>
      </p:sp>
      <p:sp>
        <p:nvSpPr>
          <p:cNvPr id="7" name="Text 3"/>
          <p:cNvSpPr/>
          <p:nvPr/>
        </p:nvSpPr>
        <p:spPr>
          <a:xfrm>
            <a:off x="7569026" y="1216422"/>
            <a:ext cx="392455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Selección de K</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576964" y="1488405"/>
          <a:ext cx="3802311" cy="1499443"/>
        </p:xfrm>
        <a:graphic>
          <a:graphicData uri="http://schemas.openxmlformats.org/drawingml/2006/table">
            <a:tbl>
              <a:tblPr/>
              <a:tblGrid>
                <a:gridCol w="576108"/>
                <a:gridCol w="1075401"/>
                <a:gridCol w="1075401"/>
                <a:gridCol w="1075401"/>
              </a:tblGrid>
              <a:tr h="299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K</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Coher.</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Mínima</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Estab.</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0,284</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0,212</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0,787</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0,291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0,168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0,812</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30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0,297</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0,152</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0,828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40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0,301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0,146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0,825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9" name="Text 4"/>
          <p:cNvSpPr/>
          <p:nvPr/>
        </p:nvSpPr>
        <p:spPr>
          <a:xfrm>
            <a:off x="7569026" y="3038574"/>
            <a:ext cx="3924555"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361"/>
                </a:solidFill>
                <a:latin typeface="Inter" pitchFamily="34" charset="0"/>
                <a:ea typeface="Inter" pitchFamily="34" charset="-122"/>
                <a:cs typeface="Inter" pitchFamily="34" charset="-120"/>
              </a:rPr>
              <a:t>“Mínima” = coherencia del peor tópico. Coherencia máxima entre los K con estabilidad sobre la mediana.</a:t>
            </a:r>
            <a:endParaRPr lang="en-US" sz="1200" dirty="0"/>
          </a:p>
        </p:txBody>
      </p:sp>
      <p:sp>
        <p:nvSpPr>
          <p:cNvPr id="10" name="Shape 5"/>
          <p:cNvSpPr/>
          <p:nvPr/>
        </p:nvSpPr>
        <p:spPr>
          <a:xfrm>
            <a:off x="815901" y="3773239"/>
            <a:ext cx="4162822" cy="1761976"/>
          </a:xfrm>
          <a:prstGeom prst="roundRect">
            <a:avLst>
              <a:gd name="adj" fmla="val 5586"/>
            </a:avLst>
          </a:prstGeom>
          <a:solidFill>
            <a:srgbClr val="FFFDF8"/>
          </a:solidFill>
          <a:ln w="6350">
            <a:solidFill>
              <a:srgbClr val="DDD7C8"/>
            </a:solidFill>
            <a:prstDash val="solid"/>
          </a:ln>
        </p:spPr>
      </p:sp>
      <p:sp>
        <p:nvSpPr>
          <p:cNvPr id="11" name="Text 6"/>
          <p:cNvSpPr/>
          <p:nvPr/>
        </p:nvSpPr>
        <p:spPr>
          <a:xfrm>
            <a:off x="960313" y="3879577"/>
            <a:ext cx="3990216"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V ≈ W · H</a:t>
            </a:r>
            <a:endParaRPr lang="en-US" sz="1400" dirty="0"/>
          </a:p>
        </p:txBody>
      </p:sp>
      <p:sp>
        <p:nvSpPr>
          <p:cNvPr id="12" name="Text 7"/>
          <p:cNvSpPr/>
          <p:nvPr/>
        </p:nvSpPr>
        <p:spPr>
          <a:xfrm>
            <a:off x="960313" y="4143623"/>
            <a:ext cx="3990216" cy="1259929"/>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V</a:t>
            </a:r>
            <a:r>
              <a:rPr lang="en-US" sz="1200" dirty="0">
                <a:solidFill>
                  <a:srgbClr val="1B2430"/>
                </a:solidFill>
                <a:latin typeface="Inter" pitchFamily="34" charset="0"/>
                <a:ea typeface="Inter" pitchFamily="34" charset="-122"/>
                <a:cs typeface="Inter" pitchFamily="34" charset="-120"/>
              </a:rPr>
              <a:t>: artículos × 22.196 términos (TF‑IDF). </a:t>
            </a:r>
            <a:r>
              <a:rPr lang="en-US" sz="1200" b="1" dirty="0">
                <a:solidFill>
                  <a:srgbClr val="1B2430"/>
                </a:solidFill>
                <a:latin typeface="Inter" pitchFamily="34" charset="0"/>
                <a:ea typeface="Inter" pitchFamily="34" charset="-122"/>
                <a:cs typeface="Inter" pitchFamily="34" charset="-120"/>
              </a:rPr>
              <a:t>H</a:t>
            </a:r>
            <a:r>
              <a:rPr lang="en-US" sz="1200" dirty="0">
                <a:solidFill>
                  <a:srgbClr val="1B2430"/>
                </a:solidFill>
                <a:latin typeface="Inter" pitchFamily="34" charset="0"/>
                <a:ea typeface="Inter" pitchFamily="34" charset="-122"/>
                <a:cs typeface="Inter" pitchFamily="34" charset="-120"/>
              </a:rPr>
              <a:t>: K × términos; cada fila es un tópico (T05: farc, ejército, militares, guerrilleros, militar). </a:t>
            </a:r>
            <a:r>
              <a:rPr lang="en-US" sz="1200" b="1" dirty="0">
                <a:solidFill>
                  <a:srgbClr val="1B2430"/>
                </a:solidFill>
                <a:latin typeface="Inter" pitchFamily="34" charset="0"/>
                <a:ea typeface="Inter" pitchFamily="34" charset="-122"/>
                <a:cs typeface="Inter" pitchFamily="34" charset="-120"/>
              </a:rPr>
              <a:t>W</a:t>
            </a:r>
            <a:r>
              <a:rPr lang="en-US" sz="1200" dirty="0">
                <a:solidFill>
                  <a:srgbClr val="1B2430"/>
                </a:solidFill>
                <a:latin typeface="Inter" pitchFamily="34" charset="0"/>
                <a:ea typeface="Inter" pitchFamily="34" charset="-122"/>
                <a:cs typeface="Inter" pitchFamily="34" charset="-120"/>
              </a:rPr>
              <a:t>: artículos × K; cuánto de cada tópico hay en el artículo. Todo ≥ 0: un artículo es suma de partes. Minimiza ‖V − WH‖, ≤ 150 iteraciones; semilla 0 nndsvda, semilla 1 aleatoria.</a:t>
            </a:r>
            <a:endParaRPr lang="en-US" sz="1200" dirty="0"/>
          </a:p>
        </p:txBody>
      </p:sp>
      <p:sp>
        <p:nvSpPr>
          <p:cNvPr id="13" name="Shape 8"/>
          <p:cNvSpPr/>
          <p:nvPr/>
        </p:nvSpPr>
        <p:spPr>
          <a:xfrm>
            <a:off x="5099298" y="3773239"/>
            <a:ext cx="3388047" cy="1761976"/>
          </a:xfrm>
          <a:prstGeom prst="roundRect">
            <a:avLst>
              <a:gd name="adj" fmla="val 5586"/>
            </a:avLst>
          </a:prstGeom>
          <a:solidFill>
            <a:srgbClr val="FFFDF8"/>
          </a:solidFill>
          <a:ln w="6350">
            <a:solidFill>
              <a:srgbClr val="DDD7C8"/>
            </a:solidFill>
            <a:prstDash val="solid"/>
          </a:ln>
        </p:spPr>
      </p:sp>
      <p:sp>
        <p:nvSpPr>
          <p:cNvPr id="14" name="Text 9"/>
          <p:cNvSpPr/>
          <p:nvPr/>
        </p:nvSpPr>
        <p:spPr>
          <a:xfrm>
            <a:off x="5243711" y="3879577"/>
            <a:ext cx="319219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De tópicos a agenda</a:t>
            </a:r>
            <a:endParaRPr lang="en-US" sz="1400" dirty="0"/>
          </a:p>
        </p:txBody>
      </p:sp>
      <p:sp>
        <p:nvSpPr>
          <p:cNvPr id="15" name="Text 10"/>
          <p:cNvSpPr/>
          <p:nvPr/>
        </p:nvSpPr>
        <p:spPr>
          <a:xfrm>
            <a:off x="5243711" y="4143623"/>
            <a:ext cx="319219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Cada artículo se normaliza: </a:t>
            </a:r>
            <a:r>
              <a:rPr lang="en-US" sz="1200" b="1" dirty="0">
                <a:solidFill>
                  <a:srgbClr val="1B2430"/>
                </a:solidFill>
                <a:latin typeface="Inter" pitchFamily="34" charset="0"/>
                <a:ea typeface="Inter" pitchFamily="34" charset="-122"/>
                <a:cs typeface="Inter" pitchFamily="34" charset="-120"/>
              </a:rPr>
              <a:t>θdk ≥ 0, Σk θdk = 1</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6" name="Text 11"/>
          <p:cNvSpPr/>
          <p:nvPr/>
        </p:nvSpPr>
        <p:spPr>
          <a:xfrm>
            <a:off x="5243711" y="4605858"/>
            <a:ext cx="3192198" cy="84842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Prevalencia(k, t)</a:t>
            </a:r>
            <a:r>
              <a:rPr lang="en-US" sz="1200" dirty="0">
                <a:solidFill>
                  <a:srgbClr val="1B2430"/>
                </a:solidFill>
                <a:latin typeface="Inter" pitchFamily="34" charset="0"/>
                <a:ea typeface="Inter" pitchFamily="34" charset="-122"/>
                <a:cs typeface="Inter" pitchFamily="34" charset="-120"/>
              </a:rPr>
              <a:t> = promedio de θdk sobre los artículos del año t: fracción del año dedicada al tópico (0,03 = 3 %). Solo años con ≥ 40 artículos.</a:t>
            </a:r>
            <a:endParaRPr lang="en-US" sz="1200" dirty="0"/>
          </a:p>
        </p:txBody>
      </p:sp>
      <p:sp>
        <p:nvSpPr>
          <p:cNvPr id="17" name="Shape 12"/>
          <p:cNvSpPr/>
          <p:nvPr/>
        </p:nvSpPr>
        <p:spPr>
          <a:xfrm>
            <a:off x="8607921" y="3773239"/>
            <a:ext cx="2768178" cy="1761976"/>
          </a:xfrm>
          <a:prstGeom prst="roundRect">
            <a:avLst>
              <a:gd name="adj" fmla="val 5586"/>
            </a:avLst>
          </a:prstGeom>
          <a:solidFill>
            <a:srgbClr val="FFFDF8"/>
          </a:solidFill>
          <a:ln w="6350">
            <a:solidFill>
              <a:srgbClr val="DDD7C8"/>
            </a:solidFill>
            <a:prstDash val="solid"/>
          </a:ln>
        </p:spPr>
      </p:sp>
      <p:sp>
        <p:nvSpPr>
          <p:cNvPr id="18" name="Text 13"/>
          <p:cNvSpPr/>
          <p:nvPr/>
        </p:nvSpPr>
        <p:spPr>
          <a:xfrm>
            <a:off x="8752334" y="3879577"/>
            <a:ext cx="255373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Por qué NMF</a:t>
            </a:r>
            <a:endParaRPr lang="en-US" sz="1400" dirty="0"/>
          </a:p>
        </p:txBody>
      </p:sp>
      <p:sp>
        <p:nvSpPr>
          <p:cNvPr id="19" name="Text 14"/>
          <p:cNvSpPr/>
          <p:nvPr/>
        </p:nvSpPr>
        <p:spPr>
          <a:xfrm>
            <a:off x="8752334" y="4143623"/>
            <a:ext cx="2553733" cy="105417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Rápido en CPU, determinista dada la semilla, trabaja directo sobre TF‑IDF. K = 40 es el borde de la grilla: elección práctica, no un óptimo.</a:t>
            </a:r>
            <a:endParaRPr lang="en-US" sz="1200" dirty="0"/>
          </a:p>
        </p:txBody>
      </p:sp>
      <p:sp>
        <p:nvSpPr>
          <p:cNvPr id="20" name="Text 15"/>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Ajuste con muestra balanceada (≤ 1.000 artículos por año) · cuaderno 06 · informe, secciones 9.1 (pasos 1–3) y 9.2</a:t>
            </a:r>
            <a:endParaRPr lang="en-US" sz="1200" dirty="0"/>
          </a:p>
        </p:txBody>
      </p:sp>
      <p:sp>
        <p:nvSpPr>
          <p:cNvPr id="21" name="Text 16"/>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1379274"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Método 2 · Estabilidad: divergencia JS contra un modelo nulo</a:t>
            </a:r>
            <a:endParaRPr lang="en-US" sz="2800" dirty="0"/>
          </a:p>
        </p:txBody>
      </p:sp>
      <p:sp>
        <p:nvSpPr>
          <p:cNvPr id="3" name="Shape 1"/>
          <p:cNvSpPr/>
          <p:nvPr/>
        </p:nvSpPr>
        <p:spPr>
          <a:xfrm>
            <a:off x="815901" y="1245022"/>
            <a:ext cx="4928543" cy="1578173"/>
          </a:xfrm>
          <a:prstGeom prst="roundRect">
            <a:avLst>
              <a:gd name="adj" fmla="val 6237"/>
            </a:avLst>
          </a:prstGeom>
          <a:solidFill>
            <a:srgbClr val="FFFDF8"/>
          </a:solidFill>
          <a:ln w="6350">
            <a:solidFill>
              <a:srgbClr val="DDD7C8"/>
            </a:solidFill>
            <a:prstDash val="solid"/>
          </a:ln>
        </p:spPr>
      </p:sp>
      <p:sp>
        <p:nvSpPr>
          <p:cNvPr id="4" name="Text 2"/>
          <p:cNvSpPr/>
          <p:nvPr/>
        </p:nvSpPr>
        <p:spPr>
          <a:xfrm>
            <a:off x="960313" y="1351359"/>
            <a:ext cx="477890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Distancia entre agendas: Jensen–Shannon</a:t>
            </a:r>
            <a:endParaRPr lang="en-US" sz="1400" dirty="0"/>
          </a:p>
        </p:txBody>
      </p:sp>
      <p:sp>
        <p:nvSpPr>
          <p:cNvPr id="5" name="Text 3"/>
          <p:cNvSpPr/>
          <p:nvPr/>
        </p:nvSpPr>
        <p:spPr>
          <a:xfrm>
            <a:off x="963488" y="1618580"/>
            <a:ext cx="4633367" cy="427112"/>
          </a:xfrm>
          <a:prstGeom prst="roundRect">
            <a:avLst>
              <a:gd name="adj" fmla="val 17097"/>
            </a:avLst>
          </a:prstGeom>
          <a:solidFill>
            <a:srgbClr val="FFFFFF"/>
          </a:solidFill>
          <a:ln w="6350">
            <a:solidFill>
              <a:srgbClr val="DDD7C8"/>
            </a:solidFill>
            <a:prstDash val="solid"/>
          </a:ln>
        </p:spPr>
        <p:txBody>
          <a:bodyPr wrap="square" lIns="57856" tIns="72274" rIns="57856" bIns="46676" rtlCol="0" anchor="t">
            <a:normAutofit/>
          </a:bodyPr>
          <a:lstStyle/>
          <a:p>
            <a:pPr algn="ctr" indent="0" marL="0">
              <a:lnSpc>
                <a:spcPts val="1890"/>
              </a:lnSpc>
              <a:buNone/>
            </a:pPr>
            <a:r>
              <a:rPr lang="en-US" sz="1400" i="1" dirty="0">
                <a:solidFill>
                  <a:srgbClr val="1B2430"/>
                </a:solidFill>
                <a:latin typeface="Source Serif 4" pitchFamily="18" charset="0"/>
                <a:ea typeface="Source Serif 4" pitchFamily="18" charset="-122"/>
                <a:cs typeface="Source Serif 4" pitchFamily="18" charset="-120"/>
              </a:rPr>
              <a:t>JS(P,Q) = ½ KL(P‖M) + ½ KL(Q‖M), M = (P+Q)/2</a:t>
            </a:r>
            <a:endParaRPr lang="en-US" sz="1400" dirty="0"/>
          </a:p>
        </p:txBody>
      </p:sp>
      <p:sp>
        <p:nvSpPr>
          <p:cNvPr id="6" name="Text 4"/>
          <p:cNvSpPr/>
          <p:nvPr/>
        </p:nvSpPr>
        <p:spPr>
          <a:xfrm>
            <a:off x="960313" y="2099593"/>
            <a:ext cx="4778908"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Logaritmo base 2: va de </a:t>
            </a:r>
            <a:r>
              <a:rPr lang="en-US" sz="1200" b="1" dirty="0">
                <a:solidFill>
                  <a:srgbClr val="1B2430"/>
                </a:solidFill>
                <a:latin typeface="Inter" pitchFamily="34" charset="0"/>
                <a:ea typeface="Inter" pitchFamily="34" charset="-122"/>
                <a:cs typeface="Inter" pitchFamily="34" charset="-120"/>
              </a:rPr>
              <a:t>0</a:t>
            </a:r>
            <a:r>
              <a:rPr lang="en-US" sz="1200" dirty="0">
                <a:solidFill>
                  <a:srgbClr val="1B2430"/>
                </a:solidFill>
                <a:latin typeface="Inter" pitchFamily="34" charset="0"/>
                <a:ea typeface="Inter" pitchFamily="34" charset="-122"/>
                <a:cs typeface="Inter" pitchFamily="34" charset="-120"/>
              </a:rPr>
              <a:t> (agendas idénticas) a </a:t>
            </a:r>
            <a:r>
              <a:rPr lang="en-US" sz="1200" b="1" dirty="0">
                <a:solidFill>
                  <a:srgbClr val="1B2430"/>
                </a:solidFill>
                <a:latin typeface="Inter" pitchFamily="34" charset="0"/>
                <a:ea typeface="Inter" pitchFamily="34" charset="-122"/>
                <a:cs typeface="Inter" pitchFamily="34" charset="-120"/>
              </a:rPr>
              <a:t>1</a:t>
            </a:r>
            <a:r>
              <a:rPr lang="en-US" sz="1200" dirty="0">
                <a:solidFill>
                  <a:srgbClr val="1B2430"/>
                </a:solidFill>
                <a:latin typeface="Inter" pitchFamily="34" charset="0"/>
                <a:ea typeface="Inter" pitchFamily="34" charset="-122"/>
                <a:cs typeface="Inter" pitchFamily="34" charset="-120"/>
              </a:rPr>
              <a:t> (ningún tópico en común). P y Q son los vectores de 40 prevalencias de dos años.</a:t>
            </a:r>
            <a:endParaRPr lang="en-US" sz="1200" dirty="0"/>
          </a:p>
        </p:txBody>
      </p:sp>
      <p:sp>
        <p:nvSpPr>
          <p:cNvPr id="7" name="Shape 5"/>
          <p:cNvSpPr/>
          <p:nvPr/>
        </p:nvSpPr>
        <p:spPr>
          <a:xfrm>
            <a:off x="815901" y="2931120"/>
            <a:ext cx="4928543" cy="1812702"/>
          </a:xfrm>
          <a:prstGeom prst="roundRect">
            <a:avLst>
              <a:gd name="adj" fmla="val 5430"/>
            </a:avLst>
          </a:prstGeom>
          <a:solidFill>
            <a:srgbClr val="FFFDF8"/>
          </a:solidFill>
          <a:ln w="6350">
            <a:solidFill>
              <a:srgbClr val="DDD7C8"/>
            </a:solidFill>
            <a:prstDash val="solid"/>
          </a:ln>
        </p:spPr>
      </p:sp>
      <p:sp>
        <p:nvSpPr>
          <p:cNvPr id="8" name="Text 6"/>
          <p:cNvSpPr/>
          <p:nvPr/>
        </p:nvSpPr>
        <p:spPr>
          <a:xfrm>
            <a:off x="960313" y="3037458"/>
            <a:ext cx="477890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Para tener escala</a:t>
            </a:r>
            <a:endParaRPr lang="en-US" sz="1400" dirty="0"/>
          </a:p>
        </p:txBody>
      </p:sp>
      <p:sp>
        <p:nvSpPr>
          <p:cNvPr id="9" name="Text 7"/>
          <p:cNvSpPr/>
          <p:nvPr/>
        </p:nvSpPr>
        <p:spPr>
          <a:xfrm>
            <a:off x="960313" y="3301504"/>
            <a:ext cx="477890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 Un tópico pasa de 10 % a 11 % de la atención (agenda de dos temas): JS ≈ </a:t>
            </a:r>
            <a:r>
              <a:rPr lang="en-US" sz="1200" b="1" dirty="0">
                <a:solidFill>
                  <a:srgbClr val="1B2430"/>
                </a:solidFill>
                <a:latin typeface="Inter" pitchFamily="34" charset="0"/>
                <a:ea typeface="Inter" pitchFamily="34" charset="-122"/>
                <a:cs typeface="Inter" pitchFamily="34" charset="-120"/>
              </a:rPr>
              <a:t>0,0002</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0" name="Text 8"/>
          <p:cNvSpPr/>
          <p:nvPr/>
        </p:nvSpPr>
        <p:spPr>
          <a:xfrm>
            <a:off x="960313" y="3763739"/>
            <a:ext cx="477890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 Un tópico pasa de 10 % a 15 % y otro de 20 % a 15 % (agenda de tres): JS ≈ </a:t>
            </a:r>
            <a:r>
              <a:rPr lang="en-US" sz="1200" b="1" dirty="0">
                <a:solidFill>
                  <a:srgbClr val="1B2430"/>
                </a:solidFill>
                <a:latin typeface="Inter" pitchFamily="34" charset="0"/>
                <a:ea typeface="Inter" pitchFamily="34" charset="-122"/>
                <a:cs typeface="Inter" pitchFamily="34" charset="-120"/>
              </a:rPr>
              <a:t>0,006</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1" name="Text 9"/>
          <p:cNvSpPr/>
          <p:nvPr/>
        </p:nvSpPr>
        <p:spPr>
          <a:xfrm>
            <a:off x="960313" y="4225975"/>
            <a:ext cx="477890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 Referencia del proyecto: El Tiempo–Semana en el mismo año, JS = </a:t>
            </a:r>
            <a:r>
              <a:rPr lang="en-US" sz="1200" b="1" dirty="0">
                <a:solidFill>
                  <a:srgbClr val="1B2430"/>
                </a:solidFill>
                <a:latin typeface="Inter" pitchFamily="34" charset="0"/>
                <a:ea typeface="Inter" pitchFamily="34" charset="-122"/>
                <a:cs typeface="Inter" pitchFamily="34" charset="-120"/>
              </a:rPr>
              <a:t>0,0497</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2" name="Text 10"/>
          <p:cNvSpPr/>
          <p:nvPr/>
        </p:nvSpPr>
        <p:spPr>
          <a:xfrm>
            <a:off x="5950769" y="1241847"/>
            <a:ext cx="5591361"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A8402B"/>
                </a:solidFill>
                <a:latin typeface="Inter" pitchFamily="34" charset="0"/>
                <a:ea typeface="Inter" pitchFamily="34" charset="-122"/>
                <a:cs typeface="Inter" pitchFamily="34" charset="-120"/>
              </a:rPr>
              <a:t>Cuánto es más que ruido: el modelo nulo</a:t>
            </a:r>
            <a:endParaRPr lang="en-US" sz="1400" dirty="0"/>
          </a:p>
        </p:txBody>
      </p:sp>
      <p:sp>
        <p:nvSpPr>
          <p:cNvPr id="13" name="Text 11"/>
          <p:cNvSpPr/>
          <p:nvPr/>
        </p:nvSpPr>
        <p:spPr>
          <a:xfrm>
            <a:off x="5950769" y="1518667"/>
            <a:ext cx="5591361"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Aunque la agenda no cambiara, dos muestras finitas darían JS &gt; 0. Se mide cuánto, por permutación:</a:t>
            </a:r>
            <a:endParaRPr lang="en-US" sz="1200" dirty="0"/>
          </a:p>
        </p:txBody>
      </p:sp>
      <p:sp>
        <p:nvSpPr>
          <p:cNvPr id="14" name="Text 12"/>
          <p:cNvSpPr/>
          <p:nvPr/>
        </p:nvSpPr>
        <p:spPr>
          <a:xfrm>
            <a:off x="5953944" y="1996852"/>
            <a:ext cx="5422156" cy="334590"/>
          </a:xfrm>
          <a:prstGeom prst="roundRect">
            <a:avLst>
              <a:gd name="adj" fmla="val 21825"/>
            </a:avLst>
          </a:prstGeom>
          <a:solidFill>
            <a:srgbClr val="FFFDF8"/>
          </a:solidFill>
          <a:ln w="6350">
            <a:solidFill>
              <a:srgbClr val="DDD7C8"/>
            </a:solidFill>
            <a:prstDash val="solid"/>
          </a:ln>
        </p:spPr>
        <p:txBody>
          <a:bodyPr wrap="square" lIns="97600" tIns="46874" rIns="0" bIns="21474"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1 · Juntar los artículos de los años t y t+1 con sus θ</a:t>
            </a:r>
            <a:endParaRPr lang="en-US" sz="1200" dirty="0"/>
          </a:p>
        </p:txBody>
      </p:sp>
      <p:sp>
        <p:nvSpPr>
          <p:cNvPr id="15" name="Text 13"/>
          <p:cNvSpPr/>
          <p:nvPr/>
        </p:nvSpPr>
        <p:spPr>
          <a:xfrm>
            <a:off x="5953944" y="2401292"/>
            <a:ext cx="5422156" cy="334590"/>
          </a:xfrm>
          <a:prstGeom prst="roundRect">
            <a:avLst>
              <a:gd name="adj" fmla="val 21825"/>
            </a:avLst>
          </a:prstGeom>
          <a:solidFill>
            <a:srgbClr val="FFFDF8"/>
          </a:solidFill>
          <a:ln w="6350">
            <a:solidFill>
              <a:srgbClr val="DDD7C8"/>
            </a:solidFill>
            <a:prstDash val="solid"/>
          </a:ln>
        </p:spPr>
        <p:txBody>
          <a:bodyPr wrap="square" lIns="97600" tIns="46874" rIns="0" bIns="21474"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2 · Barajar las etiquetas “año t / año t+1”, solo dentro de cada fuente</a:t>
            </a:r>
            <a:endParaRPr lang="en-US" sz="1200" dirty="0"/>
          </a:p>
        </p:txBody>
      </p:sp>
      <p:sp>
        <p:nvSpPr>
          <p:cNvPr id="16" name="Text 14"/>
          <p:cNvSpPr/>
          <p:nvPr/>
        </p:nvSpPr>
        <p:spPr>
          <a:xfrm>
            <a:off x="5953944" y="2805733"/>
            <a:ext cx="5422156" cy="334590"/>
          </a:xfrm>
          <a:prstGeom prst="roundRect">
            <a:avLst>
              <a:gd name="adj" fmla="val 21825"/>
            </a:avLst>
          </a:prstGeom>
          <a:solidFill>
            <a:srgbClr val="FFFDF8"/>
          </a:solidFill>
          <a:ln w="6350">
            <a:solidFill>
              <a:srgbClr val="DDD7C8"/>
            </a:solidFill>
            <a:prstDash val="solid"/>
          </a:ln>
        </p:spPr>
        <p:txBody>
          <a:bodyPr wrap="square" lIns="97600" tIns="46874" rIns="0" bIns="21474"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3 · Recalcular el JS con las etiquetas barajadas</a:t>
            </a:r>
            <a:endParaRPr lang="en-US" sz="1200" dirty="0"/>
          </a:p>
        </p:txBody>
      </p:sp>
      <p:sp>
        <p:nvSpPr>
          <p:cNvPr id="17" name="Text 15"/>
          <p:cNvSpPr/>
          <p:nvPr/>
        </p:nvSpPr>
        <p:spPr>
          <a:xfrm>
            <a:off x="5953944" y="3210173"/>
            <a:ext cx="5422156" cy="334590"/>
          </a:xfrm>
          <a:prstGeom prst="roundRect">
            <a:avLst>
              <a:gd name="adj" fmla="val 21825"/>
            </a:avLst>
          </a:prstGeom>
          <a:solidFill>
            <a:srgbClr val="FFFDF8"/>
          </a:solidFill>
          <a:ln w="6350">
            <a:solidFill>
              <a:srgbClr val="DDD7C8"/>
            </a:solidFill>
            <a:prstDash val="solid"/>
          </a:ln>
        </p:spPr>
        <p:txBody>
          <a:bodyPr wrap="square" lIns="97600" tIns="46874" rIns="0" bIns="21474"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4 · Repetir 1.000 veces: distribución nula (JS por azar)</a:t>
            </a:r>
            <a:endParaRPr lang="en-US" sz="1200" dirty="0"/>
          </a:p>
        </p:txBody>
      </p:sp>
      <p:sp>
        <p:nvSpPr>
          <p:cNvPr id="18" name="Text 16"/>
          <p:cNvSpPr/>
          <p:nvPr/>
        </p:nvSpPr>
        <p:spPr>
          <a:xfrm>
            <a:off x="5953944" y="3614613"/>
            <a:ext cx="5422156" cy="532656"/>
          </a:xfrm>
          <a:prstGeom prst="roundRect">
            <a:avLst>
              <a:gd name="adj" fmla="val 13710"/>
            </a:avLst>
          </a:prstGeom>
          <a:solidFill>
            <a:srgbClr val="FFFDF8"/>
          </a:solidFill>
          <a:ln w="6350">
            <a:solidFill>
              <a:srgbClr val="DDD7C8"/>
            </a:solidFill>
            <a:prstDash val="solid"/>
          </a:ln>
        </p:spPr>
        <p:txBody>
          <a:bodyPr wrap="square" lIns="97600" tIns="46874" rIns="0" bIns="21474"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5 · p = (1 + #{JS nulo ≥ JS observado}) / 1.001; corregir con Benjamini–Hochberg (5 %)</a:t>
            </a:r>
            <a:endParaRPr lang="en-US" sz="1200" dirty="0"/>
          </a:p>
        </p:txBody>
      </p:sp>
      <p:sp>
        <p:nvSpPr>
          <p:cNvPr id="19" name="Shape 17"/>
          <p:cNvSpPr/>
          <p:nvPr/>
        </p:nvSpPr>
        <p:spPr>
          <a:xfrm>
            <a:off x="812726" y="4886647"/>
            <a:ext cx="10566549" cy="639961"/>
          </a:xfrm>
          <a:prstGeom prst="roundRect">
            <a:avLst>
              <a:gd name="adj" fmla="val 15876"/>
            </a:avLst>
          </a:prstGeom>
          <a:solidFill>
            <a:srgbClr val="1B2430"/>
          </a:solidFill>
          <a:ln/>
        </p:spPr>
      </p:sp>
      <p:sp>
        <p:nvSpPr>
          <p:cNvPr id="20" name="Text 18"/>
          <p:cNvSpPr/>
          <p:nvPr/>
        </p:nvSpPr>
        <p:spPr>
          <a:xfrm>
            <a:off x="1003226" y="5099968"/>
            <a:ext cx="1257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CÓMO SE LEE</a:t>
            </a:r>
            <a:endParaRPr lang="en-US" sz="1200" dirty="0"/>
          </a:p>
        </p:txBody>
      </p:sp>
      <p:sp>
        <p:nvSpPr>
          <p:cNvPr id="21" name="Text 19"/>
          <p:cNvSpPr/>
          <p:nvPr/>
        </p:nvSpPr>
        <p:spPr>
          <a:xfrm>
            <a:off x="2362026" y="5000873"/>
            <a:ext cx="909155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Un punto rojo = una transición que supera el ruido. Con ~4.000 artículos por año el nulo es muy estrecho (≈ 0,0008) y casi todo es “significativo”: lo que informa es la magnitud frente a la escala de referencia, no el p‑valor.</a:t>
            </a:r>
            <a:endParaRPr lang="en-US" sz="1200" dirty="0"/>
          </a:p>
        </p:txBody>
      </p:sp>
      <p:sp>
        <p:nvSpPr>
          <p:cNvPr id="22" name="Text 20"/>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Se prueban 21 pares de años a la vez, de ahí la corrección BH · cuaderno 06 · informe, pasos 4 y 5</a:t>
            </a:r>
            <a:endParaRPr lang="en-US" sz="1200" dirty="0"/>
          </a:p>
        </p:txBody>
      </p:sp>
      <p:sp>
        <p:nvSpPr>
          <p:cNvPr id="23" name="Text 21"/>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03920"/>
          </a:xfrm>
          <a:prstGeom prst="rect">
            <a:avLst/>
          </a:prstGeom>
          <a:noFill/>
          <a:ln/>
        </p:spPr>
        <p:txBody>
          <a:bodyPr wrap="square" lIns="0" tIns="0" rIns="0" bIns="0" rtlCol="0" anchor="t">
            <a:normAutofit/>
          </a:bodyPr>
          <a:lstStyle/>
          <a:p>
            <a:pPr algn="l" indent="0" marL="0">
              <a:lnSpc>
                <a:spcPts val="3022"/>
              </a:lnSpc>
              <a:buNone/>
            </a:pPr>
            <a:r>
              <a:rPr lang="en-US" sz="2748" b="1" i="0" dirty="0">
                <a:solidFill>
                  <a:srgbClr val="1B2430"/>
                </a:solidFill>
                <a:latin typeface="Source Serif 4" pitchFamily="18" charset="0"/>
                <a:ea typeface="Source Serif 4" pitchFamily="18" charset="-122"/>
                <a:cs typeface="Source Serif 4" pitchFamily="18" charset="-120"/>
              </a:rPr>
              <a:t>Método 3 · Puntos de cambio, robustez y varianza explicada</a:t>
            </a:r>
            <a:endParaRPr lang="en-US" sz="2748" dirty="0"/>
          </a:p>
        </p:txBody>
      </p:sp>
      <p:sp>
        <p:nvSpPr>
          <p:cNvPr id="3" name="Text 1"/>
          <p:cNvSpPr/>
          <p:nvPr/>
        </p:nvSpPr>
        <p:spPr>
          <a:xfrm>
            <a:off x="812726" y="1229320"/>
            <a:ext cx="570952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Segmentación binaria (paso 7)</a:t>
            </a:r>
            <a:endParaRPr lang="en-US" sz="1400" dirty="0"/>
          </a:p>
        </p:txBody>
      </p:sp>
      <p:sp>
        <p:nvSpPr>
          <p:cNvPr id="4" name="Text 2"/>
          <p:cNvSpPr/>
          <p:nvPr/>
        </p:nvSpPr>
        <p:spPr>
          <a:xfrm>
            <a:off x="812726" y="1518791"/>
            <a:ext cx="22852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02B"/>
                </a:solidFill>
                <a:latin typeface="Inter" pitchFamily="34" charset="0"/>
                <a:ea typeface="Inter" pitchFamily="34" charset="-122"/>
                <a:cs typeface="Inter" pitchFamily="34" charset="-120"/>
              </a:rPr>
              <a:t>1</a:t>
            </a:r>
            <a:endParaRPr lang="en-US" sz="1200" dirty="0"/>
          </a:p>
        </p:txBody>
      </p:sp>
      <p:sp>
        <p:nvSpPr>
          <p:cNvPr id="5" name="Text 3"/>
          <p:cNvSpPr/>
          <p:nvPr/>
        </p:nvSpPr>
        <p:spPr>
          <a:xfrm>
            <a:off x="1079252" y="1518791"/>
            <a:ext cx="5435002"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Raíz cuadrada de las prevalencias (aproxima la distancia de Hellinger, coherente con JS).</a:t>
            </a:r>
            <a:endParaRPr lang="en-US" sz="1200" dirty="0"/>
          </a:p>
        </p:txBody>
      </p:sp>
      <p:sp>
        <p:nvSpPr>
          <p:cNvPr id="6" name="Text 4"/>
          <p:cNvSpPr/>
          <p:nvPr/>
        </p:nvSpPr>
        <p:spPr>
          <a:xfrm>
            <a:off x="812726" y="1991072"/>
            <a:ext cx="22852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02B"/>
                </a:solidFill>
                <a:latin typeface="Inter" pitchFamily="34" charset="0"/>
                <a:ea typeface="Inter" pitchFamily="34" charset="-122"/>
                <a:cs typeface="Inter" pitchFamily="34" charset="-120"/>
              </a:rPr>
              <a:t>2</a:t>
            </a:r>
            <a:endParaRPr lang="en-US" sz="1200" dirty="0"/>
          </a:p>
        </p:txBody>
      </p:sp>
      <p:sp>
        <p:nvSpPr>
          <p:cNvPr id="7" name="Text 5"/>
          <p:cNvSpPr/>
          <p:nvPr/>
        </p:nvSpPr>
        <p:spPr>
          <a:xfrm>
            <a:off x="1079252" y="1991072"/>
            <a:ext cx="5435002" cy="61959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Para cada año de corte: cuánto baja el error cuadrático al reemplazar cada tramo por su promedio. Cada año pesa por su N (tope 3.000). Esa reducción es la </a:t>
            </a:r>
            <a:r>
              <a:rPr lang="en-US" sz="1200" b="1" dirty="0">
                <a:solidFill>
                  <a:srgbClr val="1B2430"/>
                </a:solidFill>
                <a:latin typeface="Inter" pitchFamily="34" charset="0"/>
                <a:ea typeface="Inter" pitchFamily="34" charset="-122"/>
                <a:cs typeface="Inter" pitchFamily="34" charset="-120"/>
              </a:rPr>
              <a:t>ganancia</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8" name="Text 6"/>
          <p:cNvSpPr/>
          <p:nvPr/>
        </p:nvSpPr>
        <p:spPr>
          <a:xfrm>
            <a:off x="812726" y="2661419"/>
            <a:ext cx="22852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02B"/>
                </a:solidFill>
                <a:latin typeface="Inter" pitchFamily="34" charset="0"/>
                <a:ea typeface="Inter" pitchFamily="34" charset="-122"/>
                <a:cs typeface="Inter" pitchFamily="34" charset="-120"/>
              </a:rPr>
              <a:t>3</a:t>
            </a:r>
            <a:endParaRPr lang="en-US" sz="1200" dirty="0"/>
          </a:p>
        </p:txBody>
      </p:sp>
      <p:sp>
        <p:nvSpPr>
          <p:cNvPr id="9" name="Text 7"/>
          <p:cNvSpPr/>
          <p:nvPr/>
        </p:nvSpPr>
        <p:spPr>
          <a:xfrm>
            <a:off x="1079252" y="2661419"/>
            <a:ext cx="5435002"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Umbral: se baraja 200 veces el orden de los años y se toma el </a:t>
            </a:r>
            <a:r>
              <a:rPr lang="en-US" sz="1200" b="1" dirty="0">
                <a:solidFill>
                  <a:srgbClr val="1B2430"/>
                </a:solidFill>
                <a:latin typeface="Inter" pitchFamily="34" charset="0"/>
                <a:ea typeface="Inter" pitchFamily="34" charset="-122"/>
                <a:cs typeface="Inter" pitchFamily="34" charset="-120"/>
              </a:rPr>
              <a:t>percentil 95</a:t>
            </a:r>
            <a:r>
              <a:rPr lang="en-US" sz="1200" dirty="0">
                <a:solidFill>
                  <a:srgbClr val="1B2430"/>
                </a:solidFill>
                <a:latin typeface="Inter" pitchFamily="34" charset="0"/>
                <a:ea typeface="Inter" pitchFamily="34" charset="-122"/>
                <a:cs typeface="Inter" pitchFamily="34" charset="-120"/>
              </a:rPr>
              <a:t> de la mejor ganancia. El corte se acepta solo si lo supera.</a:t>
            </a:r>
            <a:endParaRPr lang="en-US" sz="1200" dirty="0"/>
          </a:p>
        </p:txBody>
      </p:sp>
      <p:sp>
        <p:nvSpPr>
          <p:cNvPr id="10" name="Text 8"/>
          <p:cNvSpPr/>
          <p:nvPr/>
        </p:nvSpPr>
        <p:spPr>
          <a:xfrm>
            <a:off x="812726" y="3133700"/>
            <a:ext cx="22852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02B"/>
                </a:solidFill>
                <a:latin typeface="Inter" pitchFamily="34" charset="0"/>
                <a:ea typeface="Inter" pitchFamily="34" charset="-122"/>
                <a:cs typeface="Inter" pitchFamily="34" charset="-120"/>
              </a:rPr>
              <a:t>4</a:t>
            </a:r>
            <a:endParaRPr lang="en-US" sz="1200" dirty="0"/>
          </a:p>
        </p:txBody>
      </p:sp>
      <p:sp>
        <p:nvSpPr>
          <p:cNvPr id="11" name="Text 9"/>
          <p:cNvSpPr/>
          <p:nvPr/>
        </p:nvSpPr>
        <p:spPr>
          <a:xfrm>
            <a:off x="1079252" y="3133700"/>
            <a:ext cx="5479852" cy="223465"/>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B2430"/>
                </a:solidFill>
                <a:latin typeface="Inter" pitchFamily="34" charset="0"/>
                <a:ea typeface="Inter" pitchFamily="34" charset="-122"/>
                <a:cs typeface="Inter" pitchFamily="34" charset="-120"/>
              </a:rPr>
              <a:t>Se repite dentro de cada tramo, con mínimo de 2 años por tramo.</a:t>
            </a:r>
            <a:endParaRPr lang="en-US" sz="1200" dirty="0"/>
          </a:p>
        </p:txBody>
      </p:sp>
      <p:sp>
        <p:nvSpPr>
          <p:cNvPr id="12" name="Shape 10"/>
          <p:cNvSpPr/>
          <p:nvPr/>
        </p:nvSpPr>
        <p:spPr>
          <a:xfrm>
            <a:off x="815901" y="3426346"/>
            <a:ext cx="5536878" cy="2282627"/>
          </a:xfrm>
          <a:prstGeom prst="roundRect">
            <a:avLst>
              <a:gd name="adj" fmla="val 4312"/>
            </a:avLst>
          </a:prstGeom>
          <a:solidFill>
            <a:srgbClr val="FFFFFF"/>
          </a:solidFill>
          <a:ln w="6350">
            <a:solidFill>
              <a:srgbClr val="DDD7C8"/>
            </a:solidFill>
            <a:prstDash val="solid"/>
          </a:ln>
        </p:spPr>
      </p:sp>
      <p:pic>
        <p:nvPicPr>
          <p:cNvPr id="13" name="Image 0" descr="preencoded.png">    </p:cNvPr>
          <p:cNvPicPr>
            <a:picLocks noChangeAspect="1"/>
          </p:cNvPicPr>
          <p:nvPr/>
        </p:nvPicPr>
        <p:blipFill>
          <a:blip r:embed="rId1"/>
          <a:srcRect l="0" r="0" t="0" b="0"/>
          <a:stretch/>
        </p:blipFill>
        <p:spPr>
          <a:xfrm>
            <a:off x="1552277" y="3519909"/>
            <a:ext cx="4064000" cy="2095500"/>
          </a:xfrm>
          <a:prstGeom prst="rect">
            <a:avLst/>
          </a:prstGeom>
        </p:spPr>
      </p:pic>
      <p:sp>
        <p:nvSpPr>
          <p:cNvPr id="14" name="Shape 11"/>
          <p:cNvSpPr/>
          <p:nvPr/>
        </p:nvSpPr>
        <p:spPr>
          <a:xfrm>
            <a:off x="6562279" y="1232495"/>
            <a:ext cx="4813821" cy="1900138"/>
          </a:xfrm>
          <a:prstGeom prst="roundRect">
            <a:avLst>
              <a:gd name="adj" fmla="val 5180"/>
            </a:avLst>
          </a:prstGeom>
          <a:solidFill>
            <a:srgbClr val="FFFDF8"/>
          </a:solidFill>
          <a:ln w="6350">
            <a:solidFill>
              <a:srgbClr val="DDD7C8"/>
            </a:solidFill>
            <a:prstDash val="solid"/>
          </a:ln>
        </p:spPr>
      </p:sp>
      <p:sp>
        <p:nvSpPr>
          <p:cNvPr id="15" name="Text 12"/>
          <p:cNvSpPr/>
          <p:nvPr/>
        </p:nvSpPr>
        <p:spPr>
          <a:xfrm>
            <a:off x="6706691" y="1338833"/>
            <a:ext cx="4660745" cy="230039"/>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1F5A7E"/>
                </a:solidFill>
                <a:latin typeface="Inter" pitchFamily="34" charset="0"/>
                <a:ea typeface="Inter" pitchFamily="34" charset="-122"/>
                <a:cs typeface="Inter" pitchFamily="34" charset="-120"/>
              </a:rPr>
              <a:t>Robustez y consenso (paso 8)</a:t>
            </a:r>
            <a:endParaRPr lang="en-US" sz="1352" dirty="0"/>
          </a:p>
        </p:txBody>
      </p:sp>
      <p:sp>
        <p:nvSpPr>
          <p:cNvPr id="16" name="Text 13"/>
          <p:cNvSpPr/>
          <p:nvPr/>
        </p:nvSpPr>
        <p:spPr>
          <a:xfrm>
            <a:off x="6706691" y="1594197"/>
            <a:ext cx="4660745" cy="814809"/>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El paso 7 se repite en </a:t>
            </a:r>
            <a:r>
              <a:rPr lang="en-US" sz="1151" b="1" dirty="0">
                <a:solidFill>
                  <a:srgbClr val="1B2430"/>
                </a:solidFill>
                <a:latin typeface="Inter" pitchFamily="34" charset="0"/>
                <a:ea typeface="Inter" pitchFamily="34" charset="-122"/>
                <a:cs typeface="Inter" pitchFamily="34" charset="-120"/>
              </a:rPr>
              <a:t>6 variantes</a:t>
            </a:r>
            <a:r>
              <a:rPr lang="en-US" sz="1151" dirty="0">
                <a:solidFill>
                  <a:srgbClr val="1B2430"/>
                </a:solidFill>
                <a:latin typeface="Inter" pitchFamily="34" charset="0"/>
                <a:ea typeface="Inter" pitchFamily="34" charset="-122"/>
                <a:cs typeface="Inter" pitchFamily="34" charset="-120"/>
              </a:rPr>
              <a:t> de El Tiempo: principal (K = 40), K = 15, K = 20, K = 30, otra semilla y </a:t>
            </a:r>
            <a:r>
              <a:rPr lang="en-US" sz="1151" b="1" dirty="0">
                <a:solidFill>
                  <a:srgbClr val="1B2430"/>
                </a:solidFill>
                <a:latin typeface="Inter" pitchFamily="34" charset="0"/>
                <a:ea typeface="Inter" pitchFamily="34" charset="-122"/>
                <a:cs typeface="Inter" pitchFamily="34" charset="-120"/>
              </a:rPr>
              <a:t>sin entidades</a:t>
            </a:r>
            <a:r>
              <a:rPr lang="en-US" sz="1151" dirty="0">
                <a:solidFill>
                  <a:srgbClr val="1B2430"/>
                </a:solidFill>
                <a:latin typeface="Inter" pitchFamily="34" charset="0"/>
                <a:ea typeface="Inter" pitchFamily="34" charset="-122"/>
                <a:cs typeface="Inter" pitchFamily="34" charset="-120"/>
              </a:rPr>
              <a:t> (se quitan palabras con ≥ 5 apariciones que en ≥ 50 % van en mayúscula a mitad de oración).</a:t>
            </a:r>
            <a:endParaRPr lang="en-US" sz="1151" dirty="0"/>
          </a:p>
        </p:txBody>
      </p:sp>
      <p:sp>
        <p:nvSpPr>
          <p:cNvPr id="17" name="Text 14"/>
          <p:cNvSpPr/>
          <p:nvPr/>
        </p:nvSpPr>
        <p:spPr>
          <a:xfrm>
            <a:off x="6706691" y="2434332"/>
            <a:ext cx="4660745" cy="617364"/>
          </a:xfrm>
          <a:prstGeom prst="rect">
            <a:avLst/>
          </a:prstGeom>
          <a:noFill/>
          <a:ln/>
        </p:spPr>
        <p:txBody>
          <a:bodyPr wrap="square" lIns="0" tIns="0" rIns="0" bIns="0" rtlCol="0" anchor="t">
            <a:normAutofit/>
          </a:bodyPr>
          <a:lstStyle/>
          <a:p>
            <a:pPr algn="l" indent="0" marL="0">
              <a:lnSpc>
                <a:spcPts val="1554"/>
              </a:lnSpc>
              <a:buNone/>
            </a:pPr>
            <a:r>
              <a:rPr lang="en-US" sz="1151" b="1" dirty="0">
                <a:solidFill>
                  <a:srgbClr val="1B2430"/>
                </a:solidFill>
                <a:latin typeface="Inter" pitchFamily="34" charset="0"/>
                <a:ea typeface="Inter" pitchFamily="34" charset="-122"/>
                <a:cs typeface="Inter" pitchFamily="34" charset="-120"/>
              </a:rPr>
              <a:t>Cambio de consenso</a:t>
            </a:r>
            <a:r>
              <a:rPr lang="en-US" sz="1151" dirty="0">
                <a:solidFill>
                  <a:srgbClr val="1B2430"/>
                </a:solidFill>
                <a:latin typeface="Inter" pitchFamily="34" charset="0"/>
                <a:ea typeface="Inter" pitchFamily="34" charset="-122"/>
                <a:cs typeface="Inter" pitchFamily="34" charset="-120"/>
              </a:rPr>
              <a:t>: hay un cambio a ±1 año en al menos la mitad de las variantes; los contiguos se colapsan en el de mayor soporte.</a:t>
            </a:r>
            <a:endParaRPr lang="en-US" sz="1151" dirty="0"/>
          </a:p>
        </p:txBody>
      </p:sp>
      <p:sp>
        <p:nvSpPr>
          <p:cNvPr id="18" name="Shape 15"/>
          <p:cNvSpPr/>
          <p:nvPr/>
        </p:nvSpPr>
        <p:spPr>
          <a:xfrm>
            <a:off x="6562279" y="3227784"/>
            <a:ext cx="4813821" cy="1257945"/>
          </a:xfrm>
          <a:prstGeom prst="roundRect">
            <a:avLst>
              <a:gd name="adj" fmla="val 7824"/>
            </a:avLst>
          </a:prstGeom>
          <a:solidFill>
            <a:srgbClr val="FFFDF8"/>
          </a:solidFill>
          <a:ln w="6350">
            <a:solidFill>
              <a:srgbClr val="DDD7C8"/>
            </a:solidFill>
            <a:prstDash val="solid"/>
          </a:ln>
        </p:spPr>
      </p:sp>
      <p:sp>
        <p:nvSpPr>
          <p:cNvPr id="19" name="Text 16"/>
          <p:cNvSpPr/>
          <p:nvPr/>
        </p:nvSpPr>
        <p:spPr>
          <a:xfrm>
            <a:off x="6706691" y="3334122"/>
            <a:ext cx="4660745" cy="230163"/>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1F5A7E"/>
                </a:solidFill>
                <a:latin typeface="Inter" pitchFamily="34" charset="0"/>
                <a:ea typeface="Inter" pitchFamily="34" charset="-122"/>
                <a:cs typeface="Inter" pitchFamily="34" charset="-120"/>
              </a:rPr>
              <a:t>Contraste independiente</a:t>
            </a:r>
            <a:endParaRPr lang="en-US" sz="1352" dirty="0"/>
          </a:p>
        </p:txBody>
      </p:sp>
      <p:sp>
        <p:nvSpPr>
          <p:cNvPr id="20" name="Text 17"/>
          <p:cNvSpPr/>
          <p:nvPr/>
        </p:nvSpPr>
        <p:spPr>
          <a:xfrm>
            <a:off x="6706691" y="3589610"/>
            <a:ext cx="4660745" cy="815181"/>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Las variantes comparten vectorizador y muestra, así que no son independientes. Por eso se agregan Semana, Dinero y una serie estandarizada (El Tiempo + Semana, pesos fijos): son datos distintos.</a:t>
            </a:r>
            <a:endParaRPr lang="en-US" sz="1151" dirty="0"/>
          </a:p>
        </p:txBody>
      </p:sp>
      <p:sp>
        <p:nvSpPr>
          <p:cNvPr id="21" name="Shape 18"/>
          <p:cNvSpPr/>
          <p:nvPr/>
        </p:nvSpPr>
        <p:spPr>
          <a:xfrm>
            <a:off x="6562279" y="4580880"/>
            <a:ext cx="4813821" cy="1257945"/>
          </a:xfrm>
          <a:prstGeom prst="roundRect">
            <a:avLst>
              <a:gd name="adj" fmla="val 7824"/>
            </a:avLst>
          </a:prstGeom>
          <a:solidFill>
            <a:srgbClr val="FFFDF8"/>
          </a:solidFill>
          <a:ln w="6350">
            <a:solidFill>
              <a:srgbClr val="DDD7C8"/>
            </a:solidFill>
            <a:prstDash val="solid"/>
          </a:ln>
        </p:spPr>
      </p:sp>
      <p:sp>
        <p:nvSpPr>
          <p:cNvPr id="22" name="Text 19"/>
          <p:cNvSpPr/>
          <p:nvPr/>
        </p:nvSpPr>
        <p:spPr>
          <a:xfrm>
            <a:off x="6706691" y="4687218"/>
            <a:ext cx="4660745" cy="230163"/>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1F5A7E"/>
                </a:solidFill>
                <a:latin typeface="Inter" pitchFamily="34" charset="0"/>
                <a:ea typeface="Inter" pitchFamily="34" charset="-122"/>
                <a:cs typeface="Inter" pitchFamily="34" charset="-120"/>
              </a:rPr>
              <a:t>η²: ¿año o fuente? (paso 9)</a:t>
            </a:r>
            <a:endParaRPr lang="en-US" sz="1352" dirty="0"/>
          </a:p>
        </p:txBody>
      </p:sp>
      <p:sp>
        <p:nvSpPr>
          <p:cNvPr id="23" name="Text 20"/>
          <p:cNvSpPr/>
          <p:nvPr/>
        </p:nvSpPr>
        <p:spPr>
          <a:xfrm>
            <a:off x="6706691" y="4942706"/>
            <a:ext cx="4660745" cy="815181"/>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Para cada tópico: suma de cuadrados entre grupos / suma de cuadrados total, promediado con el peso del tópico. Año </a:t>
            </a:r>
            <a:r>
              <a:rPr lang="en-US" sz="1151" b="1" dirty="0">
                <a:solidFill>
                  <a:srgbClr val="1B2430"/>
                </a:solidFill>
                <a:latin typeface="Inter" pitchFamily="34" charset="0"/>
                <a:ea typeface="Inter" pitchFamily="34" charset="-122"/>
                <a:cs typeface="Inter" pitchFamily="34" charset="-120"/>
              </a:rPr>
              <a:t>0,41 %</a:t>
            </a:r>
            <a:r>
              <a:rPr lang="en-US" sz="1151" dirty="0">
                <a:solidFill>
                  <a:srgbClr val="1B2430"/>
                </a:solidFill>
                <a:latin typeface="Inter" pitchFamily="34" charset="0"/>
                <a:ea typeface="Inter" pitchFamily="34" charset="-122"/>
                <a:cs typeface="Inter" pitchFamily="34" charset="-120"/>
              </a:rPr>
              <a:t>, fuente </a:t>
            </a:r>
            <a:r>
              <a:rPr lang="en-US" sz="1151" b="1" dirty="0">
                <a:solidFill>
                  <a:srgbClr val="1B2430"/>
                </a:solidFill>
                <a:latin typeface="Inter" pitchFamily="34" charset="0"/>
                <a:ea typeface="Inter" pitchFamily="34" charset="-122"/>
                <a:cs typeface="Inter" pitchFamily="34" charset="-120"/>
              </a:rPr>
              <a:t>0,58 %</a:t>
            </a:r>
            <a:r>
              <a:rPr lang="en-US" sz="1151" dirty="0">
                <a:solidFill>
                  <a:srgbClr val="1B2430"/>
                </a:solidFill>
                <a:latin typeface="Inter" pitchFamily="34" charset="0"/>
                <a:ea typeface="Inter" pitchFamily="34" charset="-122"/>
                <a:cs typeface="Inter" pitchFamily="34" charset="-120"/>
              </a:rPr>
              <a:t>: bajos porque cada artículo es ruidoso; sirven para comparar entre sí.</a:t>
            </a:r>
            <a:endParaRPr lang="en-US" sz="1151" dirty="0"/>
          </a:p>
        </p:txBody>
      </p:sp>
      <p:sp>
        <p:nvSpPr>
          <p:cNvPr id="24" name="Text 2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El % de años marcados no se fija de antemano · cuaderno 06 · informe, pasos 7–9</a:t>
            </a:r>
            <a:endParaRPr lang="en-US" sz="1200" dirty="0"/>
          </a:p>
        </p:txBody>
      </p:sp>
      <p:sp>
        <p:nvSpPr>
          <p:cNvPr id="25" name="Text 2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379735"/>
          </a:xfrm>
          <a:prstGeom prst="rect">
            <a:avLst/>
          </a:prstGeom>
          <a:noFill/>
          <a:ln/>
        </p:spPr>
        <p:txBody>
          <a:bodyPr wrap="square" lIns="0" tIns="0" rIns="0" bIns="0" rtlCol="0" anchor="t">
            <a:normAutofit/>
          </a:bodyPr>
          <a:lstStyle/>
          <a:p>
            <a:pPr algn="l" indent="0" marL="0">
              <a:lnSpc>
                <a:spcPts val="2820"/>
              </a:lnSpc>
              <a:buNone/>
            </a:pPr>
            <a:r>
              <a:rPr lang="en-US" sz="2564" b="1" i="0" dirty="0">
                <a:solidFill>
                  <a:srgbClr val="1B2430"/>
                </a:solidFill>
                <a:latin typeface="Source Serif 4" pitchFamily="18" charset="0"/>
                <a:ea typeface="Source Serif 4" pitchFamily="18" charset="-122"/>
                <a:cs typeface="Source Serif 4" pitchFamily="18" charset="-120"/>
              </a:rPr>
              <a:t>Método 4 · Criterios para comparar modelos</a:t>
            </a:r>
            <a:endParaRPr lang="en-US" sz="2564"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187648"/>
          <a:ext cx="10558611" cy="2567409"/>
        </p:xfrm>
        <a:graphic>
          <a:graphicData uri="http://schemas.openxmlformats.org/drawingml/2006/table">
            <a:tbl>
              <a:tblPr/>
              <a:tblGrid>
                <a:gridCol w="1508373"/>
                <a:gridCol w="1508373"/>
                <a:gridCol w="1508373"/>
                <a:gridCol w="1508373"/>
                <a:gridCol w="1508373"/>
                <a:gridCol w="1508373"/>
                <a:gridCol w="1508373"/>
              </a:tblGrid>
              <a:tr h="477242">
                <a:tc>
                  <a:txBody>
                    <a:bodyPr/>
                    <a:lstStyle/>
                    <a:p>
                      <a:pPr indent="0" marL="0">
                        <a:lnSpc>
                          <a:spcPts val="1622"/>
                        </a:lnSpc>
                        <a:buNone/>
                      </a:pPr>
                      <a:r>
                        <a:rPr lang="en-US" sz="1159" b="1" dirty="0">
                          <a:solidFill>
                            <a:srgbClr val="F6F3EC"/>
                          </a:solidFill>
                          <a:latin typeface="Inter" pitchFamily="34" charset="0"/>
                          <a:ea typeface="Inter" pitchFamily="34" charset="-122"/>
                          <a:cs typeface="Inter" pitchFamily="34" charset="-120"/>
                        </a:rPr>
                        <a:t>Modelo</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22"/>
                        </a:lnSpc>
                        <a:buNone/>
                      </a:pPr>
                      <a:r>
                        <a:rPr lang="en-US" sz="1159" b="1" dirty="0">
                          <a:solidFill>
                            <a:srgbClr val="F6F3EC"/>
                          </a:solidFill>
                          <a:latin typeface="Inter" pitchFamily="34" charset="0"/>
                          <a:ea typeface="Inter" pitchFamily="34" charset="-122"/>
                          <a:cs typeface="Inter" pitchFamily="34" charset="-120"/>
                        </a:rPr>
                        <a:t>Estado</a:t>
                      </a:r>
                      <a:endParaRPr lang="en-US" sz="1159"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22"/>
                        </a:lnSpc>
                        <a:buNone/>
                      </a:pPr>
                      <a:r>
                        <a:rPr lang="en-US" sz="1159" b="1" dirty="0">
                          <a:solidFill>
                            <a:srgbClr val="F6F3EC"/>
                          </a:solidFill>
                          <a:latin typeface="Inter" pitchFamily="34" charset="0"/>
                          <a:ea typeface="Inter" pitchFamily="34" charset="-122"/>
                          <a:cs typeface="Inter" pitchFamily="34" charset="-120"/>
                        </a:rPr>
                        <a:t>Coherencia</a:t>
                      </a:r>
                      <a:endParaRPr lang="en-US" sz="1159"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22"/>
                        </a:lnSpc>
                        <a:buNone/>
                      </a:pPr>
                      <a:r>
                        <a:rPr lang="en-US" sz="1159" b="1" dirty="0">
                          <a:solidFill>
                            <a:srgbClr val="F6F3EC"/>
                          </a:solidFill>
                          <a:latin typeface="Inter" pitchFamily="34" charset="0"/>
                          <a:ea typeface="Inter" pitchFamily="34" charset="-122"/>
                          <a:cs typeface="Inter" pitchFamily="34" charset="-120"/>
                        </a:rPr>
                        <a:t>Estabilidad</a:t>
                      </a:r>
                      <a:endParaRPr lang="en-US" sz="1159"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22"/>
                        </a:lnSpc>
                        <a:buNone/>
                      </a:pPr>
                      <a:r>
                        <a:rPr lang="en-US" sz="1159" b="1" dirty="0">
                          <a:solidFill>
                            <a:srgbClr val="F6F3EC"/>
                          </a:solidFill>
                          <a:latin typeface="Inter" pitchFamily="34" charset="0"/>
                          <a:ea typeface="Inter" pitchFamily="34" charset="-122"/>
                          <a:cs typeface="Inter" pitchFamily="34" charset="-120"/>
                        </a:rPr>
                        <a:t>Interpretable</a:t>
                      </a:r>
                      <a:endParaRPr lang="en-US" sz="1159"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22"/>
                        </a:lnSpc>
                        <a:buNone/>
                      </a:pPr>
                      <a:r>
                        <a:rPr lang="en-US" sz="1159" b="1" dirty="0">
                          <a:solidFill>
                            <a:srgbClr val="F6F3EC"/>
                          </a:solidFill>
                          <a:latin typeface="Inter" pitchFamily="34" charset="0"/>
                          <a:ea typeface="Inter" pitchFamily="34" charset="-122"/>
                          <a:cs typeface="Inter" pitchFamily="34" charset="-120"/>
                        </a:rPr>
                        <a:t>Costo Colab</a:t>
                      </a:r>
                      <a:endParaRPr lang="en-US" sz="1159"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22"/>
                        </a:lnSpc>
                        <a:buNone/>
                      </a:pPr>
                      <a:r>
                        <a:rPr lang="en-US" sz="1159" b="1" dirty="0">
                          <a:solidFill>
                            <a:srgbClr val="F6F3EC"/>
                          </a:solidFill>
                          <a:latin typeface="Inter" pitchFamily="34" charset="0"/>
                          <a:ea typeface="Inter" pitchFamily="34" charset="-122"/>
                          <a:cs typeface="Inter" pitchFamily="34" charset="-120"/>
                        </a:rPr>
                        <a:t>Sensibilidad a fuente / entidades</a:t>
                      </a:r>
                      <a:endParaRPr lang="en-US" sz="1159"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477242">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Léxico temático (13)</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Implementado (05)</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n/a</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Determinista</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Sí</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Bajo</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Cubre 6,8 % de tokens</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77242">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TF‑IDF + NMF</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Implementado (06), base</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0,30</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0,82</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Sí</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~5 min</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Se mide sin entidades</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658440">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Embeddings + clustering / BERTopic</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Propuesto</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por medir</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por medir</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Parcial</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GPU; muestra</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Menos sensible a nombres</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77242">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Modelo con covariables (STM)</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Propuesto</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por medir</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por medir</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Sí</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Alto</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22"/>
                        </a:lnSpc>
                        <a:buNone/>
                      </a:pPr>
                      <a:r>
                        <a:rPr lang="en-US" sz="1159" dirty="0">
                          <a:solidFill>
                            <a:srgbClr val="1B2430"/>
                          </a:solidFill>
                          <a:latin typeface="Inter" pitchFamily="34" charset="0"/>
                          <a:ea typeface="Inter" pitchFamily="34" charset="-122"/>
                          <a:cs typeface="Inter" pitchFamily="34" charset="-120"/>
                        </a:rPr>
                        <a:t>Separa fuente y tiempo</a:t>
                      </a:r>
                      <a:endParaRPr lang="en-US" sz="1159"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5901" y="3872458"/>
            <a:ext cx="3448075" cy="565026"/>
          </a:xfrm>
          <a:prstGeom prst="roundRect">
            <a:avLst>
              <a:gd name="adj" fmla="val 17420"/>
            </a:avLst>
          </a:prstGeom>
          <a:solidFill>
            <a:srgbClr val="FFFDF8"/>
          </a:solidFill>
          <a:ln w="6350">
            <a:solidFill>
              <a:srgbClr val="DDD7C8"/>
            </a:solidFill>
            <a:prstDash val="solid"/>
          </a:ln>
        </p:spPr>
        <p:txBody>
          <a:bodyPr wrap="square" lIns="115585" tIns="77535" rIns="20808" bIns="52085" rtlCol="0" anchor="t">
            <a:normAutofit/>
          </a:bodyPr>
          <a:lstStyle/>
          <a:p>
            <a:pPr algn="l" indent="0" marL="0">
              <a:lnSpc>
                <a:spcPts val="1387"/>
              </a:lnSpc>
              <a:buNone/>
            </a:pPr>
            <a:r>
              <a:rPr lang="en-US" sz="1028" b="1" dirty="0">
                <a:solidFill>
                  <a:srgbClr val="1B2430"/>
                </a:solidFill>
                <a:latin typeface="Inter" pitchFamily="34" charset="0"/>
                <a:ea typeface="Inter" pitchFamily="34" charset="-122"/>
                <a:cs typeface="Inter" pitchFamily="34" charset="-120"/>
              </a:rPr>
              <a:t>Coherencia</a:t>
            </a:r>
            <a:r>
              <a:rPr lang="en-US" sz="1028" dirty="0">
                <a:solidFill>
                  <a:srgbClr val="1B2430"/>
                </a:solidFill>
                <a:latin typeface="Inter" pitchFamily="34" charset="0"/>
                <a:ea typeface="Inter" pitchFamily="34" charset="-122"/>
                <a:cs typeface="Inter" pitchFamily="34" charset="-120"/>
              </a:rPr>
              <a:t>: NPMI medio de las 10 palabras principales de cada tópico. ¿Son legibles?</a:t>
            </a:r>
            <a:endParaRPr lang="en-US" sz="1028" dirty="0"/>
          </a:p>
        </p:txBody>
      </p:sp>
      <p:sp>
        <p:nvSpPr>
          <p:cNvPr id="5" name="Text 2"/>
          <p:cNvSpPr/>
          <p:nvPr/>
        </p:nvSpPr>
        <p:spPr>
          <a:xfrm>
            <a:off x="4371901" y="3872458"/>
            <a:ext cx="3448199" cy="565026"/>
          </a:xfrm>
          <a:prstGeom prst="roundRect">
            <a:avLst>
              <a:gd name="adj" fmla="val 17420"/>
            </a:avLst>
          </a:prstGeom>
          <a:solidFill>
            <a:srgbClr val="FFFDF8"/>
          </a:solidFill>
          <a:ln w="6350">
            <a:solidFill>
              <a:srgbClr val="DDD7C8"/>
            </a:solidFill>
            <a:prstDash val="solid"/>
          </a:ln>
        </p:spPr>
        <p:txBody>
          <a:bodyPr wrap="square" lIns="115585" tIns="77535" rIns="20804" bIns="52085" rtlCol="0" anchor="t">
            <a:normAutofit/>
          </a:bodyPr>
          <a:lstStyle/>
          <a:p>
            <a:pPr algn="l" indent="0" marL="0">
              <a:lnSpc>
                <a:spcPts val="1387"/>
              </a:lnSpc>
              <a:buNone/>
            </a:pPr>
            <a:r>
              <a:rPr lang="en-US" sz="1028" b="1" dirty="0">
                <a:solidFill>
                  <a:srgbClr val="1B2430"/>
                </a:solidFill>
                <a:latin typeface="Inter" pitchFamily="34" charset="0"/>
                <a:ea typeface="Inter" pitchFamily="34" charset="-122"/>
                <a:cs typeface="Inter" pitchFamily="34" charset="-120"/>
              </a:rPr>
              <a:t>Estabilidad</a:t>
            </a:r>
            <a:r>
              <a:rPr lang="en-US" sz="1028" dirty="0">
                <a:solidFill>
                  <a:srgbClr val="1B2430"/>
                </a:solidFill>
                <a:latin typeface="Inter" pitchFamily="34" charset="0"/>
                <a:ea typeface="Inter" pitchFamily="34" charset="-122"/>
                <a:cs typeface="Inter" pitchFamily="34" charset="-120"/>
              </a:rPr>
              <a:t>: similitud entre los tópicos de dos semillas (0 a 1). ¿Encuentra lo mismo?</a:t>
            </a:r>
            <a:endParaRPr lang="en-US" sz="1028" dirty="0"/>
          </a:p>
        </p:txBody>
      </p:sp>
      <p:sp>
        <p:nvSpPr>
          <p:cNvPr id="6" name="Text 3"/>
          <p:cNvSpPr/>
          <p:nvPr/>
        </p:nvSpPr>
        <p:spPr>
          <a:xfrm>
            <a:off x="7928025" y="3872458"/>
            <a:ext cx="3448075" cy="565026"/>
          </a:xfrm>
          <a:prstGeom prst="roundRect">
            <a:avLst>
              <a:gd name="adj" fmla="val 17420"/>
            </a:avLst>
          </a:prstGeom>
          <a:solidFill>
            <a:srgbClr val="FFFDF8"/>
          </a:solidFill>
          <a:ln w="6350">
            <a:solidFill>
              <a:srgbClr val="DDD7C8"/>
            </a:solidFill>
            <a:prstDash val="solid"/>
          </a:ln>
        </p:spPr>
        <p:txBody>
          <a:bodyPr wrap="square" lIns="115585" tIns="77535" rIns="20808" bIns="52085" rtlCol="0" anchor="t">
            <a:normAutofit/>
          </a:bodyPr>
          <a:lstStyle/>
          <a:p>
            <a:pPr algn="l" indent="0" marL="0">
              <a:lnSpc>
                <a:spcPts val="1387"/>
              </a:lnSpc>
              <a:buNone/>
            </a:pPr>
            <a:r>
              <a:rPr lang="en-US" sz="1028" b="1" dirty="0">
                <a:solidFill>
                  <a:srgbClr val="1B2430"/>
                </a:solidFill>
                <a:latin typeface="Inter" pitchFamily="34" charset="0"/>
                <a:ea typeface="Inter" pitchFamily="34" charset="-122"/>
                <a:cs typeface="Inter" pitchFamily="34" charset="-120"/>
              </a:rPr>
              <a:t>Interpretable</a:t>
            </a:r>
            <a:r>
              <a:rPr lang="en-US" sz="1028" dirty="0">
                <a:solidFill>
                  <a:srgbClr val="1B2430"/>
                </a:solidFill>
                <a:latin typeface="Inter" pitchFamily="34" charset="0"/>
                <a:ea typeface="Inter" pitchFamily="34" charset="-122"/>
                <a:cs typeface="Inter" pitchFamily="34" charset="-120"/>
              </a:rPr>
              <a:t>: ¿se lee sin otra herramienta? NMF sí; los embeddings no.</a:t>
            </a:r>
            <a:endParaRPr lang="en-US" sz="1028" dirty="0"/>
          </a:p>
        </p:txBody>
      </p:sp>
      <p:sp>
        <p:nvSpPr>
          <p:cNvPr id="7" name="Shape 4"/>
          <p:cNvSpPr/>
          <p:nvPr/>
        </p:nvSpPr>
        <p:spPr>
          <a:xfrm>
            <a:off x="815901" y="4558060"/>
            <a:ext cx="3448075" cy="565150"/>
          </a:xfrm>
          <a:prstGeom prst="roundRect">
            <a:avLst>
              <a:gd name="adj" fmla="val 17416"/>
            </a:avLst>
          </a:prstGeom>
          <a:solidFill>
            <a:srgbClr val="FFFDF8"/>
          </a:solidFill>
          <a:ln w="6350">
            <a:solidFill>
              <a:srgbClr val="DDD7C8"/>
            </a:solidFill>
            <a:prstDash val="solid"/>
          </a:ln>
        </p:spPr>
      </p:sp>
      <p:sp>
        <p:nvSpPr>
          <p:cNvPr id="8" name="Text 5"/>
          <p:cNvSpPr/>
          <p:nvPr/>
        </p:nvSpPr>
        <p:spPr>
          <a:xfrm>
            <a:off x="960313" y="4664397"/>
            <a:ext cx="3254026" cy="377875"/>
          </a:xfrm>
          <a:prstGeom prst="rect">
            <a:avLst/>
          </a:prstGeom>
          <a:noFill/>
          <a:ln/>
        </p:spPr>
        <p:txBody>
          <a:bodyPr wrap="square" lIns="0" tIns="0" rIns="0" bIns="0" rtlCol="0" anchor="t">
            <a:normAutofit/>
          </a:bodyPr>
          <a:lstStyle/>
          <a:p>
            <a:pPr algn="l" indent="0" marL="0">
              <a:lnSpc>
                <a:spcPts val="1412"/>
              </a:lnSpc>
              <a:buNone/>
            </a:pPr>
            <a:r>
              <a:rPr lang="en-US" sz="1046" b="1" dirty="0">
                <a:solidFill>
                  <a:srgbClr val="1B2430"/>
                </a:solidFill>
                <a:latin typeface="Inter" pitchFamily="34" charset="0"/>
                <a:ea typeface="Inter" pitchFamily="34" charset="-122"/>
                <a:cs typeface="Inter" pitchFamily="34" charset="-120"/>
              </a:rPr>
              <a:t>Sensibilidad</a:t>
            </a:r>
            <a:r>
              <a:rPr lang="en-US" sz="1046" dirty="0">
                <a:solidFill>
                  <a:srgbClr val="1B2430"/>
                </a:solidFill>
                <a:latin typeface="Inter" pitchFamily="34" charset="0"/>
                <a:ea typeface="Inter" pitchFamily="34" charset="-122"/>
                <a:cs typeface="Inter" pitchFamily="34" charset="-120"/>
              </a:rPr>
              <a:t>: ¿confunde estilo o nombres propios con temas? Se repite sin entidades.</a:t>
            </a:r>
            <a:endParaRPr lang="en-US" sz="1046" dirty="0"/>
          </a:p>
        </p:txBody>
      </p:sp>
      <p:sp>
        <p:nvSpPr>
          <p:cNvPr id="9" name="Shape 6"/>
          <p:cNvSpPr/>
          <p:nvPr/>
        </p:nvSpPr>
        <p:spPr>
          <a:xfrm>
            <a:off x="4371901" y="4558060"/>
            <a:ext cx="3448199" cy="565150"/>
          </a:xfrm>
          <a:prstGeom prst="roundRect">
            <a:avLst>
              <a:gd name="adj" fmla="val 17416"/>
            </a:avLst>
          </a:prstGeom>
          <a:solidFill>
            <a:srgbClr val="FFFDF8"/>
          </a:solidFill>
          <a:ln w="6350">
            <a:solidFill>
              <a:srgbClr val="DDD7C8"/>
            </a:solidFill>
            <a:prstDash val="solid"/>
          </a:ln>
        </p:spPr>
      </p:sp>
      <p:sp>
        <p:nvSpPr>
          <p:cNvPr id="10" name="Text 7"/>
          <p:cNvSpPr/>
          <p:nvPr/>
        </p:nvSpPr>
        <p:spPr>
          <a:xfrm>
            <a:off x="4516313" y="4664397"/>
            <a:ext cx="3254154" cy="377875"/>
          </a:xfrm>
          <a:prstGeom prst="rect">
            <a:avLst/>
          </a:prstGeom>
          <a:noFill/>
          <a:ln/>
        </p:spPr>
        <p:txBody>
          <a:bodyPr wrap="square" lIns="0" tIns="0" rIns="0" bIns="0" rtlCol="0" anchor="t">
            <a:normAutofit/>
          </a:bodyPr>
          <a:lstStyle/>
          <a:p>
            <a:pPr algn="l" indent="0" marL="0">
              <a:lnSpc>
                <a:spcPts val="1412"/>
              </a:lnSpc>
              <a:buNone/>
            </a:pPr>
            <a:r>
              <a:rPr lang="en-US" sz="1046" b="1" dirty="0">
                <a:solidFill>
                  <a:srgbClr val="1B2430"/>
                </a:solidFill>
                <a:latin typeface="Inter" pitchFamily="34" charset="0"/>
                <a:ea typeface="Inter" pitchFamily="34" charset="-122"/>
                <a:cs typeface="Inter" pitchFamily="34" charset="-120"/>
              </a:rPr>
              <a:t>Macro‑F1</a:t>
            </a:r>
            <a:r>
              <a:rPr lang="en-US" sz="1046" dirty="0">
                <a:solidFill>
                  <a:srgbClr val="1B2430"/>
                </a:solidFill>
                <a:latin typeface="Inter" pitchFamily="34" charset="0"/>
                <a:ea typeface="Inter" pitchFamily="34" charset="-122"/>
                <a:cs typeface="Inter" pitchFamily="34" charset="-120"/>
              </a:rPr>
              <a:t> de periodo y fuente: solo elige la </a:t>
            </a:r>
            <a:r>
              <a:rPr lang="en-US" sz="1046" i="1" dirty="0">
                <a:solidFill>
                  <a:srgbClr val="1B2430"/>
                </a:solidFill>
                <a:latin typeface="Inter" pitchFamily="34" charset="0"/>
                <a:ea typeface="Inter" pitchFamily="34" charset="-122"/>
                <a:cs typeface="Inter" pitchFamily="34" charset="-120"/>
              </a:rPr>
              <a:t>entrada</a:t>
            </a:r>
            <a:r>
              <a:rPr lang="en-US" sz="1046" dirty="0">
                <a:solidFill>
                  <a:srgbClr val="1B2430"/>
                </a:solidFill>
                <a:latin typeface="Inter" pitchFamily="34" charset="0"/>
                <a:ea typeface="Inter" pitchFamily="34" charset="-122"/>
                <a:cs typeface="Inter" pitchFamily="34" charset="-120"/>
              </a:rPr>
              <a:t> del modelo (diapositivas 18–21).</a:t>
            </a:r>
            <a:endParaRPr lang="en-US" sz="1046" dirty="0"/>
          </a:p>
        </p:txBody>
      </p:sp>
      <p:sp>
        <p:nvSpPr>
          <p:cNvPr id="11" name="Shape 8"/>
          <p:cNvSpPr/>
          <p:nvPr/>
        </p:nvSpPr>
        <p:spPr>
          <a:xfrm>
            <a:off x="7928025" y="4558060"/>
            <a:ext cx="3448075" cy="565150"/>
          </a:xfrm>
          <a:prstGeom prst="roundRect">
            <a:avLst>
              <a:gd name="adj" fmla="val 17416"/>
            </a:avLst>
          </a:prstGeom>
          <a:solidFill>
            <a:srgbClr val="FFFDF8"/>
          </a:solidFill>
          <a:ln w="6350">
            <a:solidFill>
              <a:srgbClr val="DDD7C8"/>
            </a:solidFill>
            <a:prstDash val="solid"/>
          </a:ln>
        </p:spPr>
      </p:sp>
      <p:sp>
        <p:nvSpPr>
          <p:cNvPr id="12" name="Text 9"/>
          <p:cNvSpPr/>
          <p:nvPr/>
        </p:nvSpPr>
        <p:spPr>
          <a:xfrm>
            <a:off x="8072438" y="4664397"/>
            <a:ext cx="3254026" cy="377875"/>
          </a:xfrm>
          <a:prstGeom prst="rect">
            <a:avLst/>
          </a:prstGeom>
          <a:noFill/>
          <a:ln/>
        </p:spPr>
        <p:txBody>
          <a:bodyPr wrap="square" lIns="0" tIns="0" rIns="0" bIns="0" rtlCol="0" anchor="t">
            <a:normAutofit/>
          </a:bodyPr>
          <a:lstStyle/>
          <a:p>
            <a:pPr algn="l" indent="0" marL="0">
              <a:lnSpc>
                <a:spcPts val="1412"/>
              </a:lnSpc>
              <a:buNone/>
            </a:pPr>
            <a:r>
              <a:rPr lang="en-US" sz="1046" b="1" dirty="0">
                <a:solidFill>
                  <a:srgbClr val="1B2430"/>
                </a:solidFill>
                <a:latin typeface="Inter" pitchFamily="34" charset="0"/>
                <a:ea typeface="Inter" pitchFamily="34" charset="-122"/>
                <a:cs typeface="Inter" pitchFamily="34" charset="-120"/>
              </a:rPr>
              <a:t>Acuerdo de cambios</a:t>
            </a:r>
            <a:r>
              <a:rPr lang="en-US" sz="1046" dirty="0">
                <a:solidFill>
                  <a:srgbClr val="1B2430"/>
                </a:solidFill>
                <a:latin typeface="Inter" pitchFamily="34" charset="0"/>
                <a:ea typeface="Inter" pitchFamily="34" charset="-122"/>
                <a:cs typeface="Inter" pitchFamily="34" charset="-120"/>
              </a:rPr>
              <a:t>: cuántos cambios de consenso reproduce a ±1 año.</a:t>
            </a:r>
            <a:endParaRPr lang="en-US" sz="1046" dirty="0"/>
          </a:p>
        </p:txBody>
      </p:sp>
      <p:sp>
        <p:nvSpPr>
          <p:cNvPr id="13" name="Shape 10"/>
          <p:cNvSpPr/>
          <p:nvPr/>
        </p:nvSpPr>
        <p:spPr>
          <a:xfrm>
            <a:off x="812726" y="5240610"/>
            <a:ext cx="10566549" cy="601390"/>
          </a:xfrm>
          <a:prstGeom prst="roundRect">
            <a:avLst>
              <a:gd name="adj" fmla="val 16894"/>
            </a:avLst>
          </a:prstGeom>
          <a:solidFill>
            <a:srgbClr val="1B2430"/>
          </a:solidFill>
          <a:ln/>
        </p:spPr>
      </p:sp>
      <p:sp>
        <p:nvSpPr>
          <p:cNvPr id="14" name="Text 11"/>
          <p:cNvSpPr/>
          <p:nvPr/>
        </p:nvSpPr>
        <p:spPr>
          <a:xfrm>
            <a:off x="1003226" y="5434583"/>
            <a:ext cx="1003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REGLA</a:t>
            </a:r>
            <a:endParaRPr lang="en-US" sz="1200" dirty="0"/>
          </a:p>
        </p:txBody>
      </p:sp>
      <p:sp>
        <p:nvSpPr>
          <p:cNvPr id="15" name="Text 12"/>
          <p:cNvSpPr/>
          <p:nvPr/>
        </p:nvSpPr>
        <p:spPr>
          <a:xfrm>
            <a:off x="2108026" y="5335612"/>
            <a:ext cx="935317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Gana el modelo con coherencia y estabilidad al menos iguales a las del base, que reproduzca o explique los cambios de consenso y siga siendo interpretable. Los “por medir” no se corrieron.</a:t>
            </a:r>
            <a:endParaRPr lang="en-US" sz="1200" dirty="0"/>
          </a:p>
        </p:txBody>
      </p:sp>
      <p:sp>
        <p:nvSpPr>
          <p:cNvPr id="16" name="Text 13"/>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Criterios medibles con este corpus · informe, sección 9.3</a:t>
            </a:r>
            <a:endParaRPr lang="en-US" sz="1200" dirty="0"/>
          </a:p>
        </p:txBody>
      </p:sp>
      <p:sp>
        <p:nvSpPr>
          <p:cNvPr id="17" name="Text 14"/>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2601"/>
          </a:xfrm>
          <a:prstGeom prst="rect">
            <a:avLst/>
          </a:prstGeom>
          <a:noFill/>
          <a:ln/>
        </p:spPr>
        <p:txBody>
          <a:bodyPr wrap="square" lIns="0" tIns="0" rIns="0" bIns="0" rtlCol="0" anchor="t">
            <a:normAutofit/>
          </a:bodyPr>
          <a:lstStyle/>
          <a:p>
            <a:pPr algn="l" indent="0" marL="0">
              <a:lnSpc>
                <a:spcPts val="3070"/>
              </a:lnSpc>
              <a:buNone/>
            </a:pPr>
            <a:r>
              <a:rPr lang="en-US" sz="2791" b="1" i="0" dirty="0">
                <a:solidFill>
                  <a:srgbClr val="1B2430"/>
                </a:solidFill>
                <a:latin typeface="Source Serif 4" pitchFamily="18" charset="0"/>
                <a:ea typeface="Source Serif 4" pitchFamily="18" charset="-122"/>
                <a:cs typeface="Source Serif 4" pitchFamily="18" charset="-120"/>
              </a:rPr>
              <a:t>Resultado 1 · Los 40 tópicos: qué mide realmente la agenda</a:t>
            </a:r>
            <a:endParaRPr lang="en-US" sz="2791" dirty="0"/>
          </a:p>
        </p:txBody>
      </p:sp>
      <p:sp>
        <p:nvSpPr>
          <p:cNvPr id="3" name="Shape 1"/>
          <p:cNvSpPr/>
          <p:nvPr/>
        </p:nvSpPr>
        <p:spPr>
          <a:xfrm>
            <a:off x="815901" y="1203102"/>
            <a:ext cx="10560199" cy="3036565"/>
          </a:xfrm>
          <a:prstGeom prst="roundRect">
            <a:avLst>
              <a:gd name="adj" fmla="val 3241"/>
            </a:avLst>
          </a:prstGeom>
          <a:solidFill>
            <a:srgbClr val="FFFFFF"/>
          </a:solidFill>
          <a:ln w="6350">
            <a:solidFill>
              <a:srgbClr val="DDD7C8"/>
            </a:solidFill>
            <a:prstDash val="solid"/>
          </a:ln>
        </p:spPr>
      </p:sp>
      <p:pic>
        <p:nvPicPr>
          <p:cNvPr id="4" name="Image 0" descr="Prevalencia anual de tópicos seleccionados del modelo NMF con K = 40">    </p:cNvPr>
          <p:cNvPicPr>
            <a:picLocks noChangeAspect="1"/>
          </p:cNvPicPr>
          <p:nvPr/>
        </p:nvPicPr>
        <p:blipFill>
          <a:blip r:embed="rId1"/>
          <a:srcRect l="-21" r="-21" t="0" b="0"/>
          <a:stretch/>
        </p:blipFill>
        <p:spPr>
          <a:xfrm>
            <a:off x="1873250" y="1284015"/>
            <a:ext cx="8445500" cy="2901900"/>
          </a:xfrm>
          <a:prstGeom prst="rect">
            <a:avLst/>
          </a:prstGeom>
        </p:spPr>
      </p:pic>
      <p:sp>
        <p:nvSpPr>
          <p:cNvPr id="5" name="Shape 2"/>
          <p:cNvSpPr/>
          <p:nvPr/>
        </p:nvSpPr>
        <p:spPr>
          <a:xfrm>
            <a:off x="815901" y="4347592"/>
            <a:ext cx="3903117" cy="1491233"/>
          </a:xfrm>
          <a:prstGeom prst="roundRect">
            <a:avLst>
              <a:gd name="adj" fmla="val 6600"/>
            </a:avLst>
          </a:prstGeom>
          <a:solidFill>
            <a:srgbClr val="FFFDF8"/>
          </a:solidFill>
          <a:ln w="6350">
            <a:solidFill>
              <a:srgbClr val="DDD7C8"/>
            </a:solidFill>
            <a:prstDash val="solid"/>
          </a:ln>
        </p:spPr>
      </p:sp>
      <p:sp>
        <p:nvSpPr>
          <p:cNvPr id="6" name="Text 3"/>
          <p:cNvSpPr/>
          <p:nvPr/>
        </p:nvSpPr>
        <p:spPr>
          <a:xfrm>
            <a:off x="960313" y="4453930"/>
            <a:ext cx="3722720" cy="236240"/>
          </a:xfrm>
          <a:prstGeom prst="rect">
            <a:avLst/>
          </a:prstGeom>
          <a:noFill/>
          <a:ln/>
        </p:spPr>
        <p:txBody>
          <a:bodyPr wrap="square" lIns="0" tIns="0" rIns="0" bIns="0" rtlCol="0" anchor="t">
            <a:normAutofit/>
          </a:bodyPr>
          <a:lstStyle/>
          <a:p>
            <a:pPr algn="l" indent="0" marL="0">
              <a:lnSpc>
                <a:spcPts val="1675"/>
              </a:lnSpc>
              <a:buNone/>
            </a:pPr>
            <a:r>
              <a:rPr lang="en-US" sz="1396" b="1" dirty="0">
                <a:solidFill>
                  <a:srgbClr val="1F5A7E"/>
                </a:solidFill>
                <a:latin typeface="Inter" pitchFamily="34" charset="0"/>
                <a:ea typeface="Inter" pitchFamily="34" charset="-122"/>
                <a:cs typeface="Inter" pitchFamily="34" charset="-120"/>
              </a:rPr>
              <a:t>Temáticos y legibles</a:t>
            </a:r>
            <a:endParaRPr lang="en-US" sz="1396" dirty="0"/>
          </a:p>
        </p:txBody>
      </p:sp>
      <p:sp>
        <p:nvSpPr>
          <p:cNvPr id="7" name="Text 4"/>
          <p:cNvSpPr/>
          <p:nvPr/>
        </p:nvSpPr>
        <p:spPr>
          <a:xfrm>
            <a:off x="960313" y="4715495"/>
            <a:ext cx="3722720" cy="1042392"/>
          </a:xfrm>
          <a:prstGeom prst="rect">
            <a:avLst/>
          </a:prstGeom>
          <a:noFill/>
          <a:ln/>
        </p:spPr>
        <p:txBody>
          <a:bodyPr wrap="square" lIns="0" tIns="0" rIns="0" bIns="0" rtlCol="0" anchor="t">
            <a:normAutofit/>
          </a:bodyPr>
          <a:lstStyle/>
          <a:p>
            <a:pPr algn="l" indent="0" marL="0">
              <a:lnSpc>
                <a:spcPts val="1605"/>
              </a:lnSpc>
              <a:buNone/>
            </a:pPr>
            <a:r>
              <a:rPr lang="en-US" sz="1189" dirty="0">
                <a:solidFill>
                  <a:srgbClr val="1B2430"/>
                </a:solidFill>
                <a:latin typeface="Inter" pitchFamily="34" charset="0"/>
                <a:ea typeface="Inter" pitchFamily="34" charset="-122"/>
                <a:cs typeface="Inter" pitchFamily="34" charset="-120"/>
              </a:rPr>
              <a:t>conflicto (farc ejército militares), paz y derechos humanos, justicia (corte justicia fiscalía), Congreso, elecciones, fútbol, torneos, cine, arte, salud, educación, internet, banca, Venezuela, Estados Unidos.</a:t>
            </a:r>
            <a:endParaRPr lang="en-US" sz="1189" dirty="0"/>
          </a:p>
        </p:txBody>
      </p:sp>
      <p:sp>
        <p:nvSpPr>
          <p:cNvPr id="8" name="Shape 5"/>
          <p:cNvSpPr/>
          <p:nvPr/>
        </p:nvSpPr>
        <p:spPr>
          <a:xfrm>
            <a:off x="4839593" y="4347592"/>
            <a:ext cx="3346996" cy="1491233"/>
          </a:xfrm>
          <a:prstGeom prst="roundRect">
            <a:avLst>
              <a:gd name="adj" fmla="val 6600"/>
            </a:avLst>
          </a:prstGeom>
          <a:solidFill>
            <a:srgbClr val="FFFDF8"/>
          </a:solidFill>
          <a:ln w="6350">
            <a:solidFill>
              <a:srgbClr val="A8402B"/>
            </a:solidFill>
            <a:prstDash val="solid"/>
          </a:ln>
        </p:spPr>
      </p:sp>
      <p:sp>
        <p:nvSpPr>
          <p:cNvPr id="9" name="Text 6"/>
          <p:cNvSpPr/>
          <p:nvPr/>
        </p:nvSpPr>
        <p:spPr>
          <a:xfrm>
            <a:off x="4984006" y="4453930"/>
            <a:ext cx="314991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A8402B"/>
                </a:solidFill>
                <a:latin typeface="Inter" pitchFamily="34" charset="0"/>
                <a:ea typeface="Inter" pitchFamily="34" charset="-122"/>
                <a:cs typeface="Inter" pitchFamily="34" charset="-120"/>
              </a:rPr>
              <a:t>De estilo o sección (no temáticos)</a:t>
            </a:r>
            <a:endParaRPr lang="en-US" sz="1400" dirty="0"/>
          </a:p>
        </p:txBody>
      </p:sp>
      <p:sp>
        <p:nvSpPr>
          <p:cNvPr id="10" name="Text 7"/>
          <p:cNvSpPr/>
          <p:nvPr/>
        </p:nvSpPr>
        <p:spPr>
          <a:xfrm>
            <a:off x="4984006" y="4717976"/>
            <a:ext cx="3149915" cy="84842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T00</a:t>
            </a:r>
            <a:r>
              <a:rPr lang="en-US" sz="1200" dirty="0">
                <a:solidFill>
                  <a:srgbClr val="1B2430"/>
                </a:solidFill>
                <a:latin typeface="Inter" pitchFamily="34" charset="0"/>
                <a:ea typeface="Inter" pitchFamily="34" charset="-122"/>
                <a:cs typeface="Inter" pitchFamily="34" charset="-120"/>
              </a:rPr>
              <a:t> “tan cómo vez” (opinión) · </a:t>
            </a:r>
            <a:r>
              <a:rPr lang="en-US" sz="1200" b="1" dirty="0">
                <a:solidFill>
                  <a:srgbClr val="1B2430"/>
                </a:solidFill>
                <a:latin typeface="Inter" pitchFamily="34" charset="0"/>
                <a:ea typeface="Inter" pitchFamily="34" charset="-122"/>
                <a:cs typeface="Inter" pitchFamily="34" charset="-120"/>
              </a:rPr>
              <a:t>T18</a:t>
            </a:r>
            <a:r>
              <a:rPr lang="en-US" sz="1200" dirty="0">
                <a:solidFill>
                  <a:srgbClr val="1B2430"/>
                </a:solidFill>
                <a:latin typeface="Inter" pitchFamily="34" charset="0"/>
                <a:ea typeface="Inter" pitchFamily="34" charset="-122"/>
                <a:cs typeface="Inter" pitchFamily="34" charset="-120"/>
              </a:rPr>
              <a:t> nombres de pila · </a:t>
            </a:r>
            <a:r>
              <a:rPr lang="en-US" sz="1200" b="1" dirty="0">
                <a:solidFill>
                  <a:srgbClr val="1B2430"/>
                </a:solidFill>
                <a:latin typeface="Inter" pitchFamily="34" charset="0"/>
                <a:ea typeface="Inter" pitchFamily="34" charset="-122"/>
                <a:cs typeface="Inter" pitchFamily="34" charset="-120"/>
              </a:rPr>
              <a:t>T31</a:t>
            </a:r>
            <a:r>
              <a:rPr lang="en-US" sz="1200" dirty="0">
                <a:solidFill>
                  <a:srgbClr val="1B2430"/>
                </a:solidFill>
                <a:latin typeface="Inter" pitchFamily="34" charset="0"/>
                <a:ea typeface="Inter" pitchFamily="34" charset="-122"/>
                <a:cs typeface="Inter" pitchFamily="34" charset="-120"/>
              </a:rPr>
              <a:t> “realizará próximo mañana” (avisos de eventos) · </a:t>
            </a:r>
            <a:r>
              <a:rPr lang="en-US" sz="1200" b="1" dirty="0">
                <a:solidFill>
                  <a:srgbClr val="1B2430"/>
                </a:solidFill>
                <a:latin typeface="Inter" pitchFamily="34" charset="0"/>
                <a:ea typeface="Inter" pitchFamily="34" charset="-122"/>
                <a:cs typeface="Inter" pitchFamily="34" charset="-120"/>
              </a:rPr>
              <a:t>T37</a:t>
            </a:r>
            <a:r>
              <a:rPr lang="en-US" sz="1200" dirty="0">
                <a:solidFill>
                  <a:srgbClr val="1B2430"/>
                </a:solidFill>
                <a:latin typeface="Inter" pitchFamily="34" charset="0"/>
                <a:ea typeface="Inter" pitchFamily="34" charset="-122"/>
                <a:cs typeface="Inter" pitchFamily="34" charset="-120"/>
              </a:rPr>
              <a:t> “semana fin pasada”.</a:t>
            </a:r>
            <a:endParaRPr lang="en-US" sz="1200" dirty="0"/>
          </a:p>
        </p:txBody>
      </p:sp>
      <p:sp>
        <p:nvSpPr>
          <p:cNvPr id="11" name="Shape 8"/>
          <p:cNvSpPr/>
          <p:nvPr/>
        </p:nvSpPr>
        <p:spPr>
          <a:xfrm>
            <a:off x="8307164" y="4347592"/>
            <a:ext cx="3068935" cy="1491233"/>
          </a:xfrm>
          <a:prstGeom prst="roundRect">
            <a:avLst>
              <a:gd name="adj" fmla="val 6600"/>
            </a:avLst>
          </a:prstGeom>
          <a:solidFill>
            <a:srgbClr val="FFFDF8"/>
          </a:solidFill>
          <a:ln w="6350">
            <a:solidFill>
              <a:srgbClr val="A8402B"/>
            </a:solidFill>
            <a:prstDash val="solid"/>
          </a:ln>
        </p:spPr>
      </p:sp>
      <p:sp>
        <p:nvSpPr>
          <p:cNvPr id="12" name="Text 9"/>
          <p:cNvSpPr/>
          <p:nvPr/>
        </p:nvSpPr>
        <p:spPr>
          <a:xfrm>
            <a:off x="8451577" y="4453930"/>
            <a:ext cx="2863513" cy="452041"/>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A8402B"/>
                </a:solidFill>
                <a:latin typeface="Inter" pitchFamily="34" charset="0"/>
                <a:ea typeface="Inter" pitchFamily="34" charset="-122"/>
                <a:cs typeface="Inter" pitchFamily="34" charset="-120"/>
              </a:rPr>
              <a:t>Mercados (fragmentan economía)</a:t>
            </a:r>
            <a:endParaRPr lang="en-US" sz="1400" dirty="0"/>
          </a:p>
        </p:txBody>
      </p:sp>
      <p:sp>
        <p:nvSpPr>
          <p:cNvPr id="13" name="Text 10"/>
          <p:cNvSpPr/>
          <p:nvPr/>
        </p:nvSpPr>
        <p:spPr>
          <a:xfrm>
            <a:off x="8451577" y="4931296"/>
            <a:ext cx="2863513" cy="43691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T10</a:t>
            </a:r>
            <a:r>
              <a:rPr lang="en-US" sz="1200" dirty="0">
                <a:solidFill>
                  <a:srgbClr val="1B2430"/>
                </a:solidFill>
                <a:latin typeface="Inter" pitchFamily="34" charset="0"/>
                <a:ea typeface="Inter" pitchFamily="34" charset="-122"/>
                <a:cs typeface="Inter" pitchFamily="34" charset="-120"/>
              </a:rPr>
              <a:t> bolsa · </a:t>
            </a:r>
            <a:r>
              <a:rPr lang="en-US" sz="1200" b="1" dirty="0">
                <a:solidFill>
                  <a:srgbClr val="1B2430"/>
                </a:solidFill>
                <a:latin typeface="Inter" pitchFamily="34" charset="0"/>
                <a:ea typeface="Inter" pitchFamily="34" charset="-122"/>
                <a:cs typeface="Inter" pitchFamily="34" charset="-120"/>
              </a:rPr>
              <a:t>T17</a:t>
            </a:r>
            <a:r>
              <a:rPr lang="en-US" sz="1200" dirty="0">
                <a:solidFill>
                  <a:srgbClr val="1B2430"/>
                </a:solidFill>
                <a:latin typeface="Inter" pitchFamily="34" charset="0"/>
                <a:ea typeface="Inter" pitchFamily="34" charset="-122"/>
                <a:cs typeface="Inter" pitchFamily="34" charset="-120"/>
              </a:rPr>
              <a:t> café · </a:t>
            </a:r>
            <a:r>
              <a:rPr lang="en-US" sz="1200" b="1" dirty="0">
                <a:solidFill>
                  <a:srgbClr val="1B2430"/>
                </a:solidFill>
                <a:latin typeface="Inter" pitchFamily="34" charset="0"/>
                <a:ea typeface="Inter" pitchFamily="34" charset="-122"/>
                <a:cs typeface="Inter" pitchFamily="34" charset="-120"/>
              </a:rPr>
              <a:t>T19</a:t>
            </a:r>
            <a:r>
              <a:rPr lang="en-US" sz="1200" dirty="0">
                <a:solidFill>
                  <a:srgbClr val="1B2430"/>
                </a:solidFill>
                <a:latin typeface="Inter" pitchFamily="34" charset="0"/>
                <a:ea typeface="Inter" pitchFamily="34" charset="-122"/>
                <a:cs typeface="Inter" pitchFamily="34" charset="-120"/>
              </a:rPr>
              <a:t> petróleo · </a:t>
            </a:r>
            <a:r>
              <a:rPr lang="en-US" sz="1200" b="1" dirty="0">
                <a:solidFill>
                  <a:srgbClr val="1B2430"/>
                </a:solidFill>
                <a:latin typeface="Inter" pitchFamily="34" charset="0"/>
                <a:ea typeface="Inter" pitchFamily="34" charset="-122"/>
                <a:cs typeface="Inter" pitchFamily="34" charset="-120"/>
              </a:rPr>
              <a:t>T29</a:t>
            </a:r>
            <a:r>
              <a:rPr lang="en-US" sz="1200" dirty="0">
                <a:solidFill>
                  <a:srgbClr val="1B2430"/>
                </a:solidFill>
                <a:latin typeface="Inter" pitchFamily="34" charset="0"/>
                <a:ea typeface="Inter" pitchFamily="34" charset="-122"/>
                <a:cs typeface="Inter" pitchFamily="34" charset="-120"/>
              </a:rPr>
              <a:t> oro · </a:t>
            </a:r>
            <a:r>
              <a:rPr lang="en-US" sz="1200" b="1" dirty="0">
                <a:solidFill>
                  <a:srgbClr val="1B2430"/>
                </a:solidFill>
                <a:latin typeface="Inter" pitchFamily="34" charset="0"/>
                <a:ea typeface="Inter" pitchFamily="34" charset="-122"/>
                <a:cs typeface="Inter" pitchFamily="34" charset="-120"/>
              </a:rPr>
              <a:t>T27</a:t>
            </a:r>
            <a:r>
              <a:rPr lang="en-US" sz="1200" dirty="0">
                <a:solidFill>
                  <a:srgbClr val="1B2430"/>
                </a:solidFill>
                <a:latin typeface="Inter" pitchFamily="34" charset="0"/>
                <a:ea typeface="Inter" pitchFamily="34" charset="-122"/>
                <a:cs typeface="Inter" pitchFamily="34" charset="-120"/>
              </a:rPr>
              <a:t> Nueva York.</a:t>
            </a:r>
            <a:endParaRPr lang="en-US" sz="1200" dirty="0"/>
          </a:p>
        </p:txBody>
      </p:sp>
      <p:sp>
        <p:nvSpPr>
          <p:cNvPr id="14" name="Text 1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NMF K = 40, ajustado con muestra balanceada · cuaderno 06 · informe, sección 10.1</a:t>
            </a:r>
            <a:endParaRPr lang="en-US" sz="1200" dirty="0"/>
          </a:p>
        </p:txBody>
      </p:sp>
      <p:sp>
        <p:nvSpPr>
          <p:cNvPr id="15" name="Text 1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Resultado 2 · Estabilidad año a año</a:t>
            </a:r>
            <a:endParaRPr lang="en-US" sz="2800" dirty="0"/>
          </a:p>
        </p:txBody>
      </p:sp>
      <p:sp>
        <p:nvSpPr>
          <p:cNvPr id="3" name="Shape 1"/>
          <p:cNvSpPr/>
          <p:nvPr/>
        </p:nvSpPr>
        <p:spPr>
          <a:xfrm>
            <a:off x="815901" y="1245022"/>
            <a:ext cx="10560199" cy="2549401"/>
          </a:xfrm>
          <a:prstGeom prst="roundRect">
            <a:avLst>
              <a:gd name="adj" fmla="val 3861"/>
            </a:avLst>
          </a:prstGeom>
          <a:solidFill>
            <a:srgbClr val="FFFFFF"/>
          </a:solidFill>
          <a:ln w="6350">
            <a:solidFill>
              <a:srgbClr val="DDD7C8"/>
            </a:solidFill>
            <a:prstDash val="solid"/>
          </a:ln>
        </p:spPr>
      </p:sp>
      <p:pic>
        <p:nvPicPr>
          <p:cNvPr id="4" name="Image 0" descr="JS entre años consecutivos frente al nulo de permutaciones, para todas las fuentes, El Tiempo y Semana">    </p:cNvPr>
          <p:cNvPicPr>
            <a:picLocks noChangeAspect="1"/>
          </p:cNvPicPr>
          <p:nvPr/>
        </p:nvPicPr>
        <p:blipFill>
          <a:blip r:embed="rId1"/>
          <a:srcRect l="0" r="0" t="-127" b="-127"/>
          <a:stretch/>
        </p:blipFill>
        <p:spPr>
          <a:xfrm>
            <a:off x="1143000" y="1351359"/>
            <a:ext cx="9906000" cy="2336726"/>
          </a:xfrm>
          <a:prstGeom prst="rect">
            <a:avLst/>
          </a:prstGeom>
        </p:spPr>
      </p:pic>
      <p:sp>
        <p:nvSpPr>
          <p:cNvPr id="5" name="Shape 2"/>
          <p:cNvSpPr/>
          <p:nvPr/>
        </p:nvSpPr>
        <p:spPr>
          <a:xfrm>
            <a:off x="815901" y="3940423"/>
            <a:ext cx="3422650" cy="968226"/>
          </a:xfrm>
          <a:prstGeom prst="roundRect">
            <a:avLst>
              <a:gd name="adj" fmla="val 10165"/>
            </a:avLst>
          </a:prstGeom>
          <a:solidFill>
            <a:srgbClr val="FFFDF8"/>
          </a:solidFill>
          <a:ln w="6350">
            <a:solidFill>
              <a:srgbClr val="DDD7C8"/>
            </a:solidFill>
            <a:prstDash val="solid"/>
          </a:ln>
        </p:spPr>
      </p:sp>
      <p:sp>
        <p:nvSpPr>
          <p:cNvPr id="6" name="Text 3"/>
          <p:cNvSpPr/>
          <p:nvPr/>
        </p:nvSpPr>
        <p:spPr>
          <a:xfrm>
            <a:off x="960313" y="4046761"/>
            <a:ext cx="3227839"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1F5A7E"/>
                </a:solidFill>
                <a:latin typeface="Source Serif 4" pitchFamily="18" charset="0"/>
                <a:ea typeface="Source Serif 4" pitchFamily="18" charset="-122"/>
                <a:cs typeface="Source Serif 4" pitchFamily="18" charset="-120"/>
              </a:rPr>
              <a:t>0,0029</a:t>
            </a:r>
            <a:endParaRPr lang="en-US" sz="2200" dirty="0"/>
          </a:p>
        </p:txBody>
      </p:sp>
      <p:sp>
        <p:nvSpPr>
          <p:cNvPr id="7" name="Text 4"/>
          <p:cNvSpPr/>
          <p:nvPr/>
        </p:nvSpPr>
        <p:spPr>
          <a:xfrm>
            <a:off x="960313" y="4390802"/>
            <a:ext cx="3227839"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JS medio entre años consecutivos en El Tiempo (ruido ≈ 0,0008)</a:t>
            </a:r>
            <a:endParaRPr lang="en-US" sz="1200" dirty="0"/>
          </a:p>
        </p:txBody>
      </p:sp>
      <p:sp>
        <p:nvSpPr>
          <p:cNvPr id="8" name="Shape 5"/>
          <p:cNvSpPr/>
          <p:nvPr/>
        </p:nvSpPr>
        <p:spPr>
          <a:xfrm>
            <a:off x="4384551" y="3940423"/>
            <a:ext cx="3422774" cy="968226"/>
          </a:xfrm>
          <a:prstGeom prst="roundRect">
            <a:avLst>
              <a:gd name="adj" fmla="val 10165"/>
            </a:avLst>
          </a:prstGeom>
          <a:solidFill>
            <a:srgbClr val="FFFDF8"/>
          </a:solidFill>
          <a:ln w="6350">
            <a:solidFill>
              <a:srgbClr val="DDD7C8"/>
            </a:solidFill>
            <a:prstDash val="solid"/>
          </a:ln>
        </p:spPr>
      </p:sp>
      <p:sp>
        <p:nvSpPr>
          <p:cNvPr id="9" name="Text 6"/>
          <p:cNvSpPr/>
          <p:nvPr/>
        </p:nvSpPr>
        <p:spPr>
          <a:xfrm>
            <a:off x="4528964" y="4046761"/>
            <a:ext cx="3227967"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1F5A7E"/>
                </a:solidFill>
                <a:latin typeface="Source Serif 4" pitchFamily="18" charset="0"/>
                <a:ea typeface="Source Serif 4" pitchFamily="18" charset="-122"/>
                <a:cs typeface="Source Serif 4" pitchFamily="18" charset="-120"/>
              </a:rPr>
              <a:t>0,0497</a:t>
            </a:r>
            <a:endParaRPr lang="en-US" sz="2200" dirty="0"/>
          </a:p>
        </p:txBody>
      </p:sp>
      <p:sp>
        <p:nvSpPr>
          <p:cNvPr id="10" name="Text 7"/>
          <p:cNvSpPr/>
          <p:nvPr/>
        </p:nvSpPr>
        <p:spPr>
          <a:xfrm>
            <a:off x="4528964" y="4390802"/>
            <a:ext cx="3227967"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distancia El Tiempo–Semana en el mismo año</a:t>
            </a:r>
            <a:endParaRPr lang="en-US" sz="1200" dirty="0"/>
          </a:p>
        </p:txBody>
      </p:sp>
      <p:sp>
        <p:nvSpPr>
          <p:cNvPr id="11" name="Shape 8"/>
          <p:cNvSpPr/>
          <p:nvPr/>
        </p:nvSpPr>
        <p:spPr>
          <a:xfrm>
            <a:off x="7953325" y="3940423"/>
            <a:ext cx="3422774" cy="968226"/>
          </a:xfrm>
          <a:prstGeom prst="roundRect">
            <a:avLst>
              <a:gd name="adj" fmla="val 10165"/>
            </a:avLst>
          </a:prstGeom>
          <a:solidFill>
            <a:srgbClr val="FFFDF8"/>
          </a:solidFill>
          <a:ln w="6350">
            <a:solidFill>
              <a:srgbClr val="DDD7C8"/>
            </a:solidFill>
            <a:prstDash val="solid"/>
          </a:ln>
        </p:spPr>
      </p:sp>
      <p:sp>
        <p:nvSpPr>
          <p:cNvPr id="12" name="Text 9"/>
          <p:cNvSpPr/>
          <p:nvPr/>
        </p:nvSpPr>
        <p:spPr>
          <a:xfrm>
            <a:off x="8097738" y="4046761"/>
            <a:ext cx="3227967"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1F5A7E"/>
                </a:solidFill>
                <a:latin typeface="Source Serif 4" pitchFamily="18" charset="0"/>
                <a:ea typeface="Source Serif 4" pitchFamily="18" charset="-122"/>
                <a:cs typeface="Source Serif 4" pitchFamily="18" charset="-120"/>
              </a:rPr>
              <a:t>20 de 21</a:t>
            </a:r>
            <a:endParaRPr lang="en-US" sz="2200" dirty="0"/>
          </a:p>
        </p:txBody>
      </p:sp>
      <p:sp>
        <p:nvSpPr>
          <p:cNvPr id="13" name="Text 10"/>
          <p:cNvSpPr/>
          <p:nvPr/>
        </p:nvSpPr>
        <p:spPr>
          <a:xfrm>
            <a:off x="8097738" y="4390802"/>
            <a:ext cx="3227967"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transiciones de El Tiempo superan el nulo, con magnitud pequeña</a:t>
            </a:r>
            <a:endParaRPr lang="en-US" sz="1200" dirty="0"/>
          </a:p>
        </p:txBody>
      </p:sp>
      <p:sp>
        <p:nvSpPr>
          <p:cNvPr id="14" name="Shape 11"/>
          <p:cNvSpPr/>
          <p:nvPr/>
        </p:nvSpPr>
        <p:spPr>
          <a:xfrm>
            <a:off x="812726" y="5051475"/>
            <a:ext cx="10566549" cy="655092"/>
          </a:xfrm>
          <a:prstGeom prst="roundRect">
            <a:avLst>
              <a:gd name="adj" fmla="val 15509"/>
            </a:avLst>
          </a:prstGeom>
          <a:solidFill>
            <a:srgbClr val="1B2430"/>
          </a:solidFill>
          <a:ln/>
        </p:spPr>
      </p:sp>
      <p:sp>
        <p:nvSpPr>
          <p:cNvPr id="15" name="Text 12"/>
          <p:cNvSpPr/>
          <p:nvPr/>
        </p:nvSpPr>
        <p:spPr>
          <a:xfrm>
            <a:off x="1003226" y="5165700"/>
            <a:ext cx="1384300" cy="452041"/>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SALTOS MAYORES</a:t>
            </a:r>
            <a:endParaRPr lang="en-US" sz="1200" dirty="0"/>
          </a:p>
        </p:txBody>
      </p:sp>
      <p:sp>
        <p:nvSpPr>
          <p:cNvPr id="16" name="Text 13"/>
          <p:cNvSpPr/>
          <p:nvPr/>
        </p:nvSpPr>
        <p:spPr>
          <a:xfrm>
            <a:off x="2489026" y="5173266"/>
            <a:ext cx="896074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2005→06 (0,0078, 2,7 veces la media) · 1990→91 (0,0057; 1990 tiene solo 807 documentos) · 1994→95 (0,0043) · 2008→09 (0,0042) · 2001→02 (0,0040). En los años 80 ninguna transición es significativa: sin potencia.</a:t>
            </a:r>
            <a:endParaRPr lang="en-US" sz="1200" dirty="0"/>
          </a:p>
        </p:txBody>
      </p:sp>
      <p:sp>
        <p:nvSpPr>
          <p:cNvPr id="17" name="Text 14"/>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Rojo: significativo con BH &lt; 5 % · banda gris: nulo hasta el percentil 95 · el salto de 1990 es el cambio de fuente</a:t>
            </a:r>
            <a:endParaRPr lang="en-US" sz="1200" dirty="0"/>
          </a:p>
        </p:txBody>
      </p:sp>
      <p:sp>
        <p:nvSpPr>
          <p:cNvPr id="18" name="Text 15"/>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Resultado 3 · Deriva por rezago: cuánto se aleja la agenda</a:t>
            </a:r>
            <a:endParaRPr lang="en-US" sz="2800" dirty="0"/>
          </a:p>
        </p:txBody>
      </p:sp>
      <p:sp>
        <p:nvSpPr>
          <p:cNvPr id="3" name="Shape 1"/>
          <p:cNvSpPr/>
          <p:nvPr/>
        </p:nvSpPr>
        <p:spPr>
          <a:xfrm>
            <a:off x="815901" y="1232371"/>
            <a:ext cx="4819650" cy="3446959"/>
          </a:xfrm>
          <a:prstGeom prst="roundRect">
            <a:avLst>
              <a:gd name="adj" fmla="val 2855"/>
            </a:avLst>
          </a:prstGeom>
          <a:solidFill>
            <a:srgbClr val="FFFFFF"/>
          </a:solidFill>
          <a:ln w="6350">
            <a:solidFill>
              <a:srgbClr val="DDD7C8"/>
            </a:solidFill>
            <a:prstDash val="solid"/>
          </a:ln>
        </p:spPr>
      </p:sp>
      <p:pic>
        <p:nvPicPr>
          <p:cNvPr id="4" name="Image 0" descr="Curva de decaimiento: JS medio según el rezago en años">    </p:cNvPr>
          <p:cNvPicPr>
            <a:picLocks noChangeAspect="1"/>
          </p:cNvPicPr>
          <p:nvPr/>
        </p:nvPicPr>
        <p:blipFill>
          <a:blip r:embed="rId1"/>
          <a:srcRect l="-53" r="-53" t="0" b="0"/>
          <a:stretch/>
        </p:blipFill>
        <p:spPr>
          <a:xfrm>
            <a:off x="939726" y="1325935"/>
            <a:ext cx="4572000" cy="2609825"/>
          </a:xfrm>
          <a:prstGeom prst="rect">
            <a:avLst/>
          </a:prstGeom>
        </p:spPr>
      </p:pic>
      <p:sp>
        <p:nvSpPr>
          <p:cNvPr id="5" name="Text 2"/>
          <p:cNvSpPr/>
          <p:nvPr/>
        </p:nvSpPr>
        <p:spPr>
          <a:xfrm>
            <a:off x="819076" y="3986485"/>
            <a:ext cx="4813300" cy="231155"/>
          </a:xfrm>
          <a:prstGeom prst="rect">
            <a:avLst/>
          </a:prstGeom>
          <a:noFill/>
          <a:ln/>
        </p:spPr>
        <p:txBody>
          <a:bodyPr wrap="square" lIns="0" tIns="0" rIns="0" bIns="0" rtlCol="0" anchor="t">
            <a:normAutofit/>
          </a:bodyPr>
          <a:lstStyle/>
          <a:p>
            <a:pPr algn="ctr" indent="0" marL="0">
              <a:lnSpc>
                <a:spcPts val="1620"/>
              </a:lnSpc>
              <a:buNone/>
            </a:pPr>
            <a:r>
              <a:rPr lang="en-US" sz="1200" dirty="0">
                <a:solidFill>
                  <a:srgbClr val="4A5361"/>
                </a:solidFill>
                <a:latin typeface="Inter" pitchFamily="34" charset="0"/>
                <a:ea typeface="Inter" pitchFamily="34" charset="-122"/>
                <a:cs typeface="Inter" pitchFamily="34" charset="-120"/>
              </a:rPr>
              <a:t>La agenda se aleja gradualmente y luego queda acotada.</a:t>
            </a:r>
            <a:endParaRPr lang="en-US" sz="1200" dirty="0"/>
          </a:p>
        </p:txBody>
      </p:sp>
      <p:sp>
        <p:nvSpPr>
          <p:cNvPr id="6" name="Text 3"/>
          <p:cNvSpPr/>
          <p:nvPr/>
        </p:nvSpPr>
        <p:spPr>
          <a:xfrm>
            <a:off x="5816451" y="1229196"/>
            <a:ext cx="572970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Cómo se calcula (paso 6)</a:t>
            </a:r>
            <a:endParaRPr lang="en-US" sz="1400" dirty="0"/>
          </a:p>
        </p:txBody>
      </p:sp>
      <p:sp>
        <p:nvSpPr>
          <p:cNvPr id="7" name="Text 4"/>
          <p:cNvSpPr/>
          <p:nvPr/>
        </p:nvSpPr>
        <p:spPr>
          <a:xfrm>
            <a:off x="5816451" y="1518667"/>
            <a:ext cx="572970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Para cada rezago L = 1 a 15 se promedia el JS entre </a:t>
            </a:r>
            <a:r>
              <a:rPr lang="en-US" sz="1200" b="1" dirty="0">
                <a:solidFill>
                  <a:srgbClr val="1B2430"/>
                </a:solidFill>
                <a:latin typeface="Inter" pitchFamily="34" charset="0"/>
                <a:ea typeface="Inter" pitchFamily="34" charset="-122"/>
                <a:cs typeface="Inter" pitchFamily="34" charset="-120"/>
              </a:rPr>
              <a:t>todos</a:t>
            </a:r>
            <a:r>
              <a:rPr lang="en-US" sz="1200" dirty="0">
                <a:solidFill>
                  <a:srgbClr val="1B2430"/>
                </a:solidFill>
                <a:latin typeface="Inter" pitchFamily="34" charset="0"/>
                <a:ea typeface="Inter" pitchFamily="34" charset="-122"/>
                <a:cs typeface="Inter" pitchFamily="34" charset="-120"/>
              </a:rPr>
              <a:t> los pares de años separados por L años. La forma de la curva dice el tipo de cambio:</a:t>
            </a:r>
            <a:endParaRPr lang="en-US" sz="1200" dirty="0"/>
          </a:p>
        </p:txBody>
      </p:sp>
      <p:sp>
        <p:nvSpPr>
          <p:cNvPr id="8" name="Text 5"/>
          <p:cNvSpPr/>
          <p:nvPr/>
        </p:nvSpPr>
        <p:spPr>
          <a:xfrm>
            <a:off x="5819626" y="2009502"/>
            <a:ext cx="1788641" cy="624185"/>
          </a:xfrm>
          <a:prstGeom prst="roundRect">
            <a:avLst>
              <a:gd name="adj" fmla="val 15769"/>
            </a:avLst>
          </a:prstGeom>
          <a:solidFill>
            <a:srgbClr val="FFFDF8"/>
          </a:solidFill>
          <a:ln w="6350">
            <a:solidFill>
              <a:srgbClr val="DDD7C8"/>
            </a:solidFill>
            <a:prstDash val="solid"/>
          </a:ln>
        </p:spPr>
        <p:txBody>
          <a:bodyPr wrap="square" lIns="115585" tIns="77535" rIns="64785" bIns="52085"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Sube sin parar</a:t>
            </a:r>
            <a:r>
              <a:rPr lang="en-US" sz="1200" dirty="0">
                <a:solidFill>
                  <a:srgbClr val="1B2430"/>
                </a:solidFill>
                <a:latin typeface="Inter" pitchFamily="34" charset="0"/>
                <a:ea typeface="Inter" pitchFamily="34" charset="-122"/>
                <a:cs typeface="Inter" pitchFamily="34" charset="-120"/>
              </a:rPr>
              <a:t>: deriva acumulativa.</a:t>
            </a:r>
            <a:endParaRPr lang="en-US" sz="1200" dirty="0"/>
          </a:p>
        </p:txBody>
      </p:sp>
      <p:sp>
        <p:nvSpPr>
          <p:cNvPr id="9" name="Text 6"/>
          <p:cNvSpPr/>
          <p:nvPr/>
        </p:nvSpPr>
        <p:spPr>
          <a:xfrm>
            <a:off x="7703418" y="2009502"/>
            <a:ext cx="1788765" cy="624185"/>
          </a:xfrm>
          <a:prstGeom prst="roundRect">
            <a:avLst>
              <a:gd name="adj" fmla="val 15769"/>
            </a:avLst>
          </a:prstGeom>
          <a:solidFill>
            <a:srgbClr val="FFFDF8"/>
          </a:solidFill>
          <a:ln w="6350">
            <a:solidFill>
              <a:srgbClr val="A8402B"/>
            </a:solidFill>
            <a:prstDash val="solid"/>
          </a:ln>
        </p:spPr>
        <p:txBody>
          <a:bodyPr wrap="square" lIns="115585" tIns="77535" rIns="64785" bIns="52085"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Sube y se aplana</a:t>
            </a:r>
            <a:r>
              <a:rPr lang="en-US" sz="1200" dirty="0">
                <a:solidFill>
                  <a:srgbClr val="1B2430"/>
                </a:solidFill>
                <a:latin typeface="Inter" pitchFamily="34" charset="0"/>
                <a:ea typeface="Inter" pitchFamily="34" charset="-122"/>
                <a:cs typeface="Inter" pitchFamily="34" charset="-120"/>
              </a:rPr>
              <a:t>: variación acotada.</a:t>
            </a:r>
            <a:endParaRPr lang="en-US" sz="1200" dirty="0"/>
          </a:p>
        </p:txBody>
      </p:sp>
      <p:sp>
        <p:nvSpPr>
          <p:cNvPr id="10" name="Text 7"/>
          <p:cNvSpPr/>
          <p:nvPr/>
        </p:nvSpPr>
        <p:spPr>
          <a:xfrm>
            <a:off x="9587334" y="2009502"/>
            <a:ext cx="1788765" cy="624185"/>
          </a:xfrm>
          <a:prstGeom prst="roundRect">
            <a:avLst>
              <a:gd name="adj" fmla="val 15769"/>
            </a:avLst>
          </a:prstGeom>
          <a:solidFill>
            <a:srgbClr val="FFFDF8"/>
          </a:solidFill>
          <a:ln w="6350">
            <a:solidFill>
              <a:srgbClr val="DDD7C8"/>
            </a:solidFill>
            <a:prstDash val="solid"/>
          </a:ln>
        </p:spPr>
        <p:txBody>
          <a:bodyPr wrap="square" lIns="115585" tIns="77535" rIns="64785" bIns="52085"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Pegada al piso</a:t>
            </a:r>
            <a:r>
              <a:rPr lang="en-US" sz="1200" dirty="0">
                <a:solidFill>
                  <a:srgbClr val="1B2430"/>
                </a:solidFill>
                <a:latin typeface="Inter" pitchFamily="34" charset="0"/>
                <a:ea typeface="Inter" pitchFamily="34" charset="-122"/>
                <a:cs typeface="Inter" pitchFamily="34" charset="-120"/>
              </a:rPr>
              <a:t>: agenda estable.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24389" y="2720950"/>
          <a:ext cx="5554886" cy="1961555"/>
        </p:xfrm>
        <a:graphic>
          <a:graphicData uri="http://schemas.openxmlformats.org/drawingml/2006/table">
            <a:tbl>
              <a:tblPr/>
              <a:tblGrid>
                <a:gridCol w="2777443"/>
                <a:gridCol w="2777443"/>
              </a:tblGrid>
              <a:tr h="4903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Serie</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JS medio entre años separados por L</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680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Tiempo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0,0029 (L = 1) → 0,0105 (L = 5) → 0,0158 (L = 10); plano (~0,016) desde L ≈ 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Semana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sigue subiendo: 0,038 a 15 años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Dinero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llega a 0,08, con pocos años y fuerte crecimiento del volumen</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12" name="Shape 8"/>
          <p:cNvSpPr/>
          <p:nvPr/>
        </p:nvSpPr>
        <p:spPr>
          <a:xfrm>
            <a:off x="812726" y="4809505"/>
            <a:ext cx="10566549" cy="639961"/>
          </a:xfrm>
          <a:prstGeom prst="roundRect">
            <a:avLst>
              <a:gd name="adj" fmla="val 15876"/>
            </a:avLst>
          </a:prstGeom>
          <a:solidFill>
            <a:srgbClr val="1B2430"/>
          </a:solidFill>
          <a:ln/>
        </p:spPr>
      </p:sp>
      <p:sp>
        <p:nvSpPr>
          <p:cNvPr id="13" name="Text 9"/>
          <p:cNvSpPr/>
          <p:nvPr/>
        </p:nvSpPr>
        <p:spPr>
          <a:xfrm>
            <a:off x="1003226" y="5022825"/>
            <a:ext cx="622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OJO</a:t>
            </a:r>
            <a:endParaRPr lang="en-US" sz="1200" dirty="0"/>
          </a:p>
        </p:txBody>
      </p:sp>
      <p:sp>
        <p:nvSpPr>
          <p:cNvPr id="14" name="Text 10"/>
          <p:cNvSpPr/>
          <p:nvPr/>
        </p:nvSpPr>
        <p:spPr>
          <a:xfrm>
            <a:off x="1727026" y="4923730"/>
            <a:ext cx="974560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La línea de “piso de ruido” del gráfico (0,0093) es el promedio de la serie pooled, inflado por los años 80 con N pequeño. Para El Tiempo el piso real es ≈ 0,0008.</a:t>
            </a:r>
            <a:endParaRPr lang="en-US" sz="1200" dirty="0"/>
          </a:p>
        </p:txBody>
      </p:sp>
      <p:sp>
        <p:nvSpPr>
          <p:cNvPr id="15" name="Text 1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El Tiempo 1990–2011 · cuaderno 06 · informe, secciones 9.1 (paso 6) y 10.3</a:t>
            </a:r>
            <a:endParaRPr lang="en-US" sz="1200" dirty="0"/>
          </a:p>
        </p:txBody>
      </p:sp>
      <p:sp>
        <p:nvSpPr>
          <p:cNvPr id="16" name="Text 1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03175"/>
          </a:xfrm>
          <a:prstGeom prst="rect">
            <a:avLst/>
          </a:prstGeom>
          <a:noFill/>
          <a:ln/>
        </p:spPr>
        <p:txBody>
          <a:bodyPr wrap="square" lIns="0" tIns="0" rIns="0" bIns="0" rtlCol="0" anchor="t">
            <a:normAutofit/>
          </a:bodyPr>
          <a:lstStyle/>
          <a:p>
            <a:pPr algn="l" indent="0" marL="0">
              <a:lnSpc>
                <a:spcPts val="2974"/>
              </a:lnSpc>
              <a:buNone/>
            </a:pPr>
            <a:r>
              <a:rPr lang="en-US" sz="2704" b="1" i="0" dirty="0">
                <a:solidFill>
                  <a:srgbClr val="1B2430"/>
                </a:solidFill>
                <a:latin typeface="Source Serif 4" pitchFamily="18" charset="0"/>
                <a:ea typeface="Source Serif 4" pitchFamily="18" charset="-122"/>
                <a:cs typeface="Source Serif 4" pitchFamily="18" charset="-120"/>
              </a:rPr>
              <a:t>Resultado 4 · La fuente pesa más que el tiempo</a:t>
            </a:r>
            <a:endParaRPr lang="en-US" sz="2704" dirty="0"/>
          </a:p>
        </p:txBody>
      </p:sp>
      <p:sp>
        <p:nvSpPr>
          <p:cNvPr id="3" name="Shape 1"/>
          <p:cNvSpPr/>
          <p:nvPr/>
        </p:nvSpPr>
        <p:spPr>
          <a:xfrm>
            <a:off x="815901" y="1206326"/>
            <a:ext cx="10560199" cy="2623071"/>
          </a:xfrm>
          <a:prstGeom prst="roundRect">
            <a:avLst>
              <a:gd name="adj" fmla="val 3752"/>
            </a:avLst>
          </a:prstGeom>
          <a:solidFill>
            <a:srgbClr val="FFFFFF"/>
          </a:solidFill>
          <a:ln w="6350">
            <a:solidFill>
              <a:srgbClr val="DDD7C8"/>
            </a:solidFill>
            <a:prstDash val="solid"/>
          </a:ln>
        </p:spPr>
      </p:sp>
      <p:pic>
        <p:nvPicPr>
          <p:cNvPr id="4" name="Image 0" descr="Prevalencia de tópicos por fuente a lo largo de los años">    </p:cNvPr>
          <p:cNvPicPr>
            <a:picLocks noChangeAspect="1"/>
          </p:cNvPicPr>
          <p:nvPr/>
        </p:nvPicPr>
        <p:blipFill>
          <a:blip r:embed="rId1"/>
          <a:srcRect l="-8" r="-8" t="0" b="0"/>
          <a:stretch/>
        </p:blipFill>
        <p:spPr>
          <a:xfrm>
            <a:off x="1333500" y="1299890"/>
            <a:ext cx="9525000" cy="2520900"/>
          </a:xfrm>
          <a:prstGeom prst="rect">
            <a:avLst/>
          </a:prstGeom>
        </p:spPr>
      </p:pic>
      <p:sp>
        <p:nvSpPr>
          <p:cNvPr id="5" name="Shape 2"/>
          <p:cNvSpPr/>
          <p:nvPr/>
        </p:nvSpPr>
        <p:spPr>
          <a:xfrm>
            <a:off x="815901" y="3949973"/>
            <a:ext cx="3439641" cy="1133921"/>
          </a:xfrm>
          <a:prstGeom prst="roundRect">
            <a:avLst>
              <a:gd name="adj" fmla="val 8680"/>
            </a:avLst>
          </a:prstGeom>
          <a:solidFill>
            <a:srgbClr val="FFFDF8"/>
          </a:solidFill>
          <a:ln w="6350">
            <a:solidFill>
              <a:srgbClr val="DDD7C8"/>
            </a:solidFill>
            <a:prstDash val="solid"/>
          </a:ln>
        </p:spPr>
      </p:sp>
      <p:sp>
        <p:nvSpPr>
          <p:cNvPr id="6" name="Text 3"/>
          <p:cNvSpPr/>
          <p:nvPr/>
        </p:nvSpPr>
        <p:spPr>
          <a:xfrm>
            <a:off x="960313" y="4056311"/>
            <a:ext cx="3245340" cy="305817"/>
          </a:xfrm>
          <a:prstGeom prst="rect">
            <a:avLst/>
          </a:prstGeom>
          <a:noFill/>
          <a:ln/>
        </p:spPr>
        <p:txBody>
          <a:bodyPr wrap="square" lIns="0" tIns="0" rIns="0" bIns="0" rtlCol="0" anchor="t">
            <a:normAutofit/>
          </a:bodyPr>
          <a:lstStyle/>
          <a:p>
            <a:pPr algn="l" indent="0" marL="0">
              <a:lnSpc>
                <a:spcPts val="2223"/>
              </a:lnSpc>
              <a:buNone/>
            </a:pPr>
            <a:r>
              <a:rPr lang="en-US" sz="2117" b="1" dirty="0">
                <a:solidFill>
                  <a:srgbClr val="A8402B"/>
                </a:solidFill>
                <a:latin typeface="Source Serif 4" pitchFamily="18" charset="0"/>
                <a:ea typeface="Source Serif 4" pitchFamily="18" charset="-122"/>
                <a:cs typeface="Source Serif 4" pitchFamily="18" charset="-120"/>
              </a:rPr>
              <a:t>0,0497</a:t>
            </a:r>
            <a:endParaRPr lang="en-US" sz="2117" dirty="0"/>
          </a:p>
        </p:txBody>
      </p:sp>
      <p:sp>
        <p:nvSpPr>
          <p:cNvPr id="7" name="Text 4"/>
          <p:cNvSpPr/>
          <p:nvPr/>
        </p:nvSpPr>
        <p:spPr>
          <a:xfrm>
            <a:off x="960313" y="4387453"/>
            <a:ext cx="3245340" cy="615504"/>
          </a:xfrm>
          <a:prstGeom prst="rect">
            <a:avLst/>
          </a:prstGeom>
          <a:noFill/>
          <a:ln/>
        </p:spPr>
        <p:txBody>
          <a:bodyPr wrap="square" lIns="0" tIns="0" rIns="0" bIns="0" rtlCol="0" anchor="t">
            <a:normAutofit/>
          </a:bodyPr>
          <a:lstStyle/>
          <a:p>
            <a:pPr algn="l" indent="0" marL="0">
              <a:lnSpc>
                <a:spcPts val="1554"/>
              </a:lnSpc>
              <a:buNone/>
            </a:pPr>
            <a:r>
              <a:rPr lang="en-US" sz="1151" dirty="0">
                <a:solidFill>
                  <a:srgbClr val="1B2430"/>
                </a:solidFill>
                <a:latin typeface="Inter" pitchFamily="34" charset="0"/>
                <a:ea typeface="Inter" pitchFamily="34" charset="-122"/>
                <a:cs typeface="Inter" pitchFamily="34" charset="-120"/>
              </a:rPr>
              <a:t>JS El Tiempo–Semana en el mismo año: 17 veces el cambio anual de El Tiempo y 3 veces la deriva máxima a 10 años (0,0158)</a:t>
            </a:r>
            <a:endParaRPr lang="en-US" sz="1151" dirty="0"/>
          </a:p>
        </p:txBody>
      </p:sp>
      <p:sp>
        <p:nvSpPr>
          <p:cNvPr id="8" name="Shape 5"/>
          <p:cNvSpPr/>
          <p:nvPr/>
        </p:nvSpPr>
        <p:spPr>
          <a:xfrm>
            <a:off x="4376117" y="3949973"/>
            <a:ext cx="3439765" cy="1133921"/>
          </a:xfrm>
          <a:prstGeom prst="roundRect">
            <a:avLst>
              <a:gd name="adj" fmla="val 8680"/>
            </a:avLst>
          </a:prstGeom>
          <a:solidFill>
            <a:srgbClr val="FFFDF8"/>
          </a:solidFill>
          <a:ln w="6350">
            <a:solidFill>
              <a:srgbClr val="DDD7C8"/>
            </a:solidFill>
            <a:prstDash val="solid"/>
          </a:ln>
        </p:spPr>
      </p:sp>
      <p:sp>
        <p:nvSpPr>
          <p:cNvPr id="9" name="Text 6"/>
          <p:cNvSpPr/>
          <p:nvPr/>
        </p:nvSpPr>
        <p:spPr>
          <a:xfrm>
            <a:off x="4520530" y="4056311"/>
            <a:ext cx="3245468"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1F5A7E"/>
                </a:solidFill>
                <a:latin typeface="Source Serif 4" pitchFamily="18" charset="0"/>
                <a:ea typeface="Source Serif 4" pitchFamily="18" charset="-122"/>
                <a:cs typeface="Source Serif 4" pitchFamily="18" charset="-120"/>
              </a:rPr>
              <a:t>0,58 % vs 0,41 %</a:t>
            </a:r>
            <a:endParaRPr lang="en-US" sz="2200" dirty="0"/>
          </a:p>
        </p:txBody>
      </p:sp>
      <p:sp>
        <p:nvSpPr>
          <p:cNvPr id="10" name="Text 7"/>
          <p:cNvSpPr/>
          <p:nvPr/>
        </p:nvSpPr>
        <p:spPr>
          <a:xfrm>
            <a:off x="4520530" y="4400352"/>
            <a:ext cx="3245468"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varianza de la composición de tópicos explicada por la fuente (η²) frente al año</a:t>
            </a:r>
            <a:endParaRPr lang="en-US" sz="1200" dirty="0"/>
          </a:p>
        </p:txBody>
      </p:sp>
      <p:sp>
        <p:nvSpPr>
          <p:cNvPr id="11" name="Shape 8"/>
          <p:cNvSpPr/>
          <p:nvPr/>
        </p:nvSpPr>
        <p:spPr>
          <a:xfrm>
            <a:off x="7936458" y="3949973"/>
            <a:ext cx="3439641" cy="1133921"/>
          </a:xfrm>
          <a:prstGeom prst="roundRect">
            <a:avLst>
              <a:gd name="adj" fmla="val 8680"/>
            </a:avLst>
          </a:prstGeom>
          <a:solidFill>
            <a:srgbClr val="FFFDF8"/>
          </a:solidFill>
          <a:ln w="6350">
            <a:solidFill>
              <a:srgbClr val="DDD7C8"/>
            </a:solidFill>
            <a:prstDash val="solid"/>
          </a:ln>
        </p:spPr>
      </p:sp>
      <p:sp>
        <p:nvSpPr>
          <p:cNvPr id="12" name="Text 9"/>
          <p:cNvSpPr/>
          <p:nvPr/>
        </p:nvSpPr>
        <p:spPr>
          <a:xfrm>
            <a:off x="8080871" y="4056311"/>
            <a:ext cx="3245340"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1F5A7E"/>
                </a:solidFill>
                <a:latin typeface="Source Serif 4" pitchFamily="18" charset="0"/>
                <a:ea typeface="Source Serif 4" pitchFamily="18" charset="-122"/>
                <a:cs typeface="Source Serif 4" pitchFamily="18" charset="-120"/>
              </a:rPr>
              <a:t>0,129 · 0,163</a:t>
            </a:r>
            <a:endParaRPr lang="en-US" sz="2200" dirty="0"/>
          </a:p>
        </p:txBody>
      </p:sp>
      <p:sp>
        <p:nvSpPr>
          <p:cNvPr id="13" name="Text 10"/>
          <p:cNvSpPr/>
          <p:nvPr/>
        </p:nvSpPr>
        <p:spPr>
          <a:xfrm>
            <a:off x="8080871" y="4400352"/>
            <a:ext cx="324534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JS Dinero–El Tiempo · Dinero–Semana: la fuente más distinta es Dinero</a:t>
            </a:r>
            <a:endParaRPr lang="en-US" sz="1200" dirty="0"/>
          </a:p>
        </p:txBody>
      </p:sp>
      <p:sp>
        <p:nvSpPr>
          <p:cNvPr id="14" name="Shape 11"/>
          <p:cNvSpPr/>
          <p:nvPr/>
        </p:nvSpPr>
        <p:spPr>
          <a:xfrm>
            <a:off x="812726" y="5201295"/>
            <a:ext cx="10566549" cy="640705"/>
          </a:xfrm>
          <a:prstGeom prst="roundRect">
            <a:avLst>
              <a:gd name="adj" fmla="val 15858"/>
            </a:avLst>
          </a:prstGeom>
          <a:solidFill>
            <a:srgbClr val="1B2430"/>
          </a:solidFill>
          <a:ln/>
        </p:spPr>
      </p:sp>
      <p:sp>
        <p:nvSpPr>
          <p:cNvPr id="15" name="Text 12"/>
          <p:cNvSpPr/>
          <p:nvPr/>
        </p:nvSpPr>
        <p:spPr>
          <a:xfrm>
            <a:off x="1003226" y="5308327"/>
            <a:ext cx="1193800" cy="452041"/>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CONSECUENCIA</a:t>
            </a:r>
            <a:endParaRPr lang="en-US" sz="1200" dirty="0"/>
          </a:p>
        </p:txBody>
      </p:sp>
      <p:sp>
        <p:nvSpPr>
          <p:cNvPr id="16" name="Text 13"/>
          <p:cNvSpPr/>
          <p:nvPr/>
        </p:nvSpPr>
        <p:spPr>
          <a:xfrm>
            <a:off x="2298526" y="5315893"/>
            <a:ext cx="9156955"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Comparar años sin controlar la fuente confunde cambio de agenda con cambio de fuente: el salto 1989→1990 del pooled (JS 0,062) es solo la llegada de El Tiempo. Por eso la serie principal es El Tiempo y las permutaciones son por fuente.</a:t>
            </a:r>
            <a:endParaRPr lang="en-US" sz="1200" dirty="0"/>
          </a:p>
        </p:txBody>
      </p:sp>
      <p:sp>
        <p:nvSpPr>
          <p:cNvPr id="17" name="Text 14"/>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Los η² son bajos porque cada artículo es ruidoso; sirven para comparar entre sí · cuaderno 06 · informe, sección 10.5</a:t>
            </a:r>
            <a:endParaRPr lang="en-US" sz="1200" dirty="0"/>
          </a:p>
        </p:txBody>
      </p:sp>
      <p:sp>
        <p:nvSpPr>
          <p:cNvPr id="18" name="Text 15"/>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Resultado 5 · Cuándo cambia: tres regímenes en El Tiempo</a:t>
            </a:r>
            <a:endParaRPr lang="en-US" sz="2800" dirty="0"/>
          </a:p>
        </p:txBody>
      </p:sp>
      <p:sp>
        <p:nvSpPr>
          <p:cNvPr id="3" name="Shape 1"/>
          <p:cNvSpPr/>
          <p:nvPr/>
        </p:nvSpPr>
        <p:spPr>
          <a:xfrm>
            <a:off x="815901" y="1232371"/>
            <a:ext cx="10560199" cy="3578051"/>
          </a:xfrm>
          <a:prstGeom prst="roundRect">
            <a:avLst>
              <a:gd name="adj" fmla="val 2751"/>
            </a:avLst>
          </a:prstGeom>
          <a:solidFill>
            <a:srgbClr val="FFFFFF"/>
          </a:solidFill>
          <a:ln w="6350">
            <a:solidFill>
              <a:srgbClr val="DDD7C8"/>
            </a:solidFill>
            <a:prstDash val="solid"/>
          </a:ln>
        </p:spPr>
      </p:sp>
      <p:pic>
        <p:nvPicPr>
          <p:cNvPr id="4" name="Image 0" descr="Prevalencia relativa de 40 tópicos en El Tiempo con los cambios de consenso en 1995, 1999 y 2006">    </p:cNvPr>
          <p:cNvPicPr>
            <a:picLocks noChangeAspect="1"/>
          </p:cNvPicPr>
          <p:nvPr/>
        </p:nvPicPr>
        <p:blipFill>
          <a:blip r:embed="rId1"/>
          <a:srcRect l="0" r="0" t="-45" b="-45"/>
          <a:stretch/>
        </p:blipFill>
        <p:spPr>
          <a:xfrm>
            <a:off x="2000250" y="1313284"/>
            <a:ext cx="8191500" cy="3416226"/>
          </a:xfrm>
          <a:prstGeom prst="rect">
            <a:avLst/>
          </a:prstGeom>
        </p:spPr>
      </p:pic>
      <p:sp>
        <p:nvSpPr>
          <p:cNvPr id="5" name="Text 2"/>
          <p:cNvSpPr/>
          <p:nvPr/>
        </p:nvSpPr>
        <p:spPr>
          <a:xfrm>
            <a:off x="815901" y="4943773"/>
            <a:ext cx="5848672" cy="867891"/>
          </a:xfrm>
          <a:prstGeom prst="roundRect">
            <a:avLst>
              <a:gd name="adj" fmla="val 11341"/>
            </a:avLst>
          </a:prstGeom>
          <a:solidFill>
            <a:srgbClr val="FFFDF8"/>
          </a:solidFill>
          <a:ln w="6350">
            <a:solidFill>
              <a:srgbClr val="DDD7C8"/>
            </a:solidFill>
            <a:prstDash val="solid"/>
          </a:ln>
        </p:spPr>
        <p:txBody>
          <a:bodyPr wrap="square" lIns="115585" tIns="77535" rIns="0" bIns="77535"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Cómo leer el mapa</a:t>
            </a:r>
            <a:r>
              <a:rPr lang="en-US" sz="1200" dirty="0">
                <a:solidFill>
                  <a:srgbClr val="1B2430"/>
                </a:solidFill>
                <a:latin typeface="Inter" pitchFamily="34" charset="0"/>
                <a:ea typeface="Inter" pitchFamily="34" charset="-122"/>
                <a:cs typeface="Inter" pitchFamily="34" charset="-120"/>
              </a:rPr>
              <a:t>: cada fila es un tópico, cada columna un año. Rojo: por encima de su media; azul: por debajo. Líneas negras: cambios de consenso.</a:t>
            </a:r>
            <a:endParaRPr lang="en-US" sz="1200" dirty="0"/>
          </a:p>
        </p:txBody>
      </p:sp>
      <p:sp>
        <p:nvSpPr>
          <p:cNvPr id="6" name="Shape 3"/>
          <p:cNvSpPr/>
          <p:nvPr/>
        </p:nvSpPr>
        <p:spPr>
          <a:xfrm>
            <a:off x="6810573" y="4943773"/>
            <a:ext cx="4565526" cy="867891"/>
          </a:xfrm>
          <a:prstGeom prst="roundRect">
            <a:avLst>
              <a:gd name="adj" fmla="val 11341"/>
            </a:avLst>
          </a:prstGeom>
          <a:solidFill>
            <a:srgbClr val="1B2430"/>
          </a:solidFill>
          <a:ln w="6350">
            <a:solidFill>
              <a:srgbClr val="1B2430"/>
            </a:solidFill>
            <a:prstDash val="solid"/>
          </a:ln>
        </p:spPr>
      </p:sp>
      <p:sp>
        <p:nvSpPr>
          <p:cNvPr id="7" name="Text 4"/>
          <p:cNvSpPr/>
          <p:nvPr/>
        </p:nvSpPr>
        <p:spPr>
          <a:xfrm>
            <a:off x="6954986" y="5050110"/>
            <a:ext cx="440500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CAMBIOS DE CONSENSO</a:t>
            </a:r>
            <a:endParaRPr lang="en-US" sz="1200" dirty="0"/>
          </a:p>
        </p:txBody>
      </p:sp>
      <p:sp>
        <p:nvSpPr>
          <p:cNvPr id="8" name="Text 5"/>
          <p:cNvSpPr/>
          <p:nvPr/>
        </p:nvSpPr>
        <p:spPr>
          <a:xfrm>
            <a:off x="6954986" y="5314156"/>
            <a:ext cx="4405001" cy="41657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6F3EC"/>
                </a:solidFill>
                <a:latin typeface="Source Serif 4" pitchFamily="18" charset="0"/>
                <a:ea typeface="Source Serif 4" pitchFamily="18" charset="-122"/>
                <a:cs typeface="Source Serif 4" pitchFamily="18" charset="-120"/>
              </a:rPr>
              <a:t>1995 · 1999–2000 · 2006</a:t>
            </a:r>
            <a:endParaRPr lang="en-US" sz="2200" dirty="0"/>
          </a:p>
        </p:txBody>
      </p:sp>
      <p:sp>
        <p:nvSpPr>
          <p:cNvPr id="9" name="Text 6"/>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Segmentación binaria ponderada sobre la raíz de la prevalencia · El Tiempo 1990–2011 · cuaderno 06</a:t>
            </a:r>
            <a:endParaRPr lang="en-US" sz="1200" dirty="0"/>
          </a:p>
        </p:txBody>
      </p:sp>
      <p:sp>
        <p:nvSpPr>
          <p:cNvPr id="10" name="Text 7"/>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Resultado 6 · Qué cambia en cada régimen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249784"/>
          <a:ext cx="10558611" cy="2914055"/>
        </p:xfrm>
        <a:graphic>
          <a:graphicData uri="http://schemas.openxmlformats.org/drawingml/2006/table">
            <a:tbl>
              <a:tblPr/>
              <a:tblGrid>
                <a:gridCol w="2639653"/>
                <a:gridCol w="2639653"/>
                <a:gridCol w="2639653"/>
                <a:gridCol w="2639653"/>
              </a:tblGrid>
              <a:tr h="299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Cambio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Qué baja (puntos porcentuales)</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Qué sube</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Alerta</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871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EE. UU. (−1,1), policía (−1,0), torneos (−0,9), presidente‑gobierno (−0,8), elecciones (−0,8)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Internet (+1,2), empresas (+1,1), avisos de eventos (+0,8)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Cambio moderado: ningún tópico se mueve más de 1,2 puntos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871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1999</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Regional Cali‑Valle‑Medellín (−1,4), avisos de eventos (−1,2), río‑municipio (−0,5)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Indicadores económicos (+0,7), FARC‑ejército (+0,6), comercio (+0,5), internet (+0,5)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Tiempo cae a 2.231 documentos (la mitad que en 1998): posible cambio de cobertura del archivo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871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Empresas (−1,5), pago e impuestos (−1,2), bancos (−1,1), comercio (−1,1)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Casa y familia (+1,5), regional Cali‑Valle (+1,3), justicia (+1,1), policía (+1,0), fútbol (+0,9)</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salto más fuerte (JS 0,0078); coincide con el crecimiento de Dinero (167 → 560 documentos entre 2005 y 2007)</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Shape 1"/>
          <p:cNvSpPr/>
          <p:nvPr/>
        </p:nvSpPr>
        <p:spPr>
          <a:xfrm>
            <a:off x="812726" y="4303489"/>
            <a:ext cx="10566549" cy="845716"/>
          </a:xfrm>
          <a:prstGeom prst="roundRect">
            <a:avLst>
              <a:gd name="adj" fmla="val 12013"/>
            </a:avLst>
          </a:prstGeom>
          <a:solidFill>
            <a:srgbClr val="1B2430"/>
          </a:solidFill>
          <a:ln/>
        </p:spPr>
      </p:sp>
      <p:sp>
        <p:nvSpPr>
          <p:cNvPr id="5" name="Text 2"/>
          <p:cNvSpPr/>
          <p:nvPr/>
        </p:nvSpPr>
        <p:spPr>
          <a:xfrm>
            <a:off x="1003226" y="4619625"/>
            <a:ext cx="1003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A43A"/>
                </a:solidFill>
                <a:latin typeface="Inter" pitchFamily="34" charset="0"/>
                <a:ea typeface="Inter" pitchFamily="34" charset="-122"/>
                <a:cs typeface="Inter" pitchFamily="34" charset="-120"/>
              </a:rPr>
              <a:t>LECTURA</a:t>
            </a:r>
            <a:endParaRPr lang="en-US" sz="1200" dirty="0"/>
          </a:p>
        </p:txBody>
      </p:sp>
      <p:sp>
        <p:nvSpPr>
          <p:cNvPr id="6" name="Text 3"/>
          <p:cNvSpPr/>
          <p:nvPr/>
        </p:nvSpPr>
        <p:spPr>
          <a:xfrm>
            <a:off x="2108026" y="4417715"/>
            <a:ext cx="9353170"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F6F3EC"/>
                </a:solidFill>
                <a:latin typeface="Inter" pitchFamily="34" charset="0"/>
                <a:ea typeface="Inter" pitchFamily="34" charset="-122"/>
                <a:cs typeface="Inter" pitchFamily="34" charset="-120"/>
              </a:rPr>
              <a:t>En 2006 la cobertura de El Tiempo pasa de economía y negocios a justicia, policía, región, familia y deporte. Hipótesis plausible, no comprobada: parte del contenido económico migró a Dinero (que despega justo entonces) o a otra sección fuera del corpus. Si fuera así, el cambio sería editorial y de archivo, no de interés público. 1999 exige la misma cautela.</a:t>
            </a:r>
            <a:endParaRPr lang="en-US" sz="1200" dirty="0"/>
          </a:p>
        </p:txBody>
      </p:sp>
      <p:sp>
        <p:nvSpPr>
          <p:cNvPr id="7" name="Text 4"/>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Diferencia de prevalencia media entre regímenes de El Tiempo · cuaderno 06 · informe, sección 10.4</a:t>
            </a:r>
            <a:endParaRPr lang="en-US" sz="1200" dirty="0"/>
          </a:p>
        </p:txBody>
      </p:sp>
      <p:sp>
        <p:nvSpPr>
          <p:cNvPr id="8" name="Text 5"/>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Resultado 7 · Robustez: qué cambios sobreviven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249784"/>
          <a:ext cx="4609331" cy="2289721"/>
        </p:xfrm>
        <a:graphic>
          <a:graphicData uri="http://schemas.openxmlformats.org/drawingml/2006/table">
            <a:tbl>
              <a:tblPr/>
              <a:tblGrid>
                <a:gridCol w="2304666"/>
                <a:gridCol w="2304666"/>
              </a:tblGrid>
              <a:tr h="4903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Variante (El Tiempo)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Años en que empieza un nuevo régimen</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Principal (K = 40)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1995, 2000, 2006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K = 15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1992, 1995, 2000, 2006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K = 20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1995, 2000, 2006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K = 30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1995, 1999, 2006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Otra semilla (K = 40)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1995, 2000, 2006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Sin nombres propios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1995, 1999, 2002, 2006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2726" y="3628306"/>
            <a:ext cx="4755787"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361"/>
                </a:solidFill>
                <a:latin typeface="Inter" pitchFamily="34" charset="0"/>
                <a:ea typeface="Inter" pitchFamily="34" charset="-122"/>
                <a:cs typeface="Inter" pitchFamily="34" charset="-120"/>
              </a:rPr>
              <a:t>Las variantes comparten vectorizador y muestra: no son independientes entre sí.</a:t>
            </a:r>
            <a:endParaRPr lang="en-US" sz="12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5615657" y="1249784"/>
          <a:ext cx="5763617" cy="2533055"/>
        </p:xfrm>
        <a:graphic>
          <a:graphicData uri="http://schemas.openxmlformats.org/drawingml/2006/table">
            <a:tbl>
              <a:tblPr/>
              <a:tblGrid>
                <a:gridCol w="1152723"/>
                <a:gridCol w="1152723"/>
                <a:gridCol w="1152723"/>
                <a:gridCol w="1152723"/>
                <a:gridCol w="1152723"/>
              </a:tblGrid>
              <a:tr h="6808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Serie independiente</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Cambios</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1995</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1999–2000</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2006</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680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Semana (1982–2011)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1986, 1994, 1998, 2006, 2008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Sí (1994)</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Sí (1998)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Sí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Dinero (1998–2011)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2007</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No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No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Sí (2007)</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680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El Tiempo + Semana, pesos fijos</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1995, 1999, 2002, 2006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Sí</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Sí</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Sí</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6" name="Text 2"/>
          <p:cNvSpPr/>
          <p:nvPr/>
        </p:nvSpPr>
        <p:spPr>
          <a:xfrm>
            <a:off x="5607720" y="3871640"/>
            <a:ext cx="5944701"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361"/>
                </a:solidFill>
                <a:latin typeface="Inter" pitchFamily="34" charset="0"/>
                <a:ea typeface="Inter" pitchFamily="34" charset="-122"/>
                <a:cs typeface="Inter" pitchFamily="34" charset="-120"/>
              </a:rPr>
              <a:t>Cada serie se contrasta a ±1 año respecto a los cambios de El Tiempo. Dinero tiene solo 13 años.</a:t>
            </a:r>
            <a:endParaRPr lang="en-US" sz="1200" dirty="0"/>
          </a:p>
        </p:txBody>
      </p:sp>
      <p:sp>
        <p:nvSpPr>
          <p:cNvPr id="7" name="Shape 3"/>
          <p:cNvSpPr/>
          <p:nvPr/>
        </p:nvSpPr>
        <p:spPr>
          <a:xfrm>
            <a:off x="815901" y="4425975"/>
            <a:ext cx="3439641" cy="968226"/>
          </a:xfrm>
          <a:prstGeom prst="roundRect">
            <a:avLst>
              <a:gd name="adj" fmla="val 10165"/>
            </a:avLst>
          </a:prstGeom>
          <a:solidFill>
            <a:srgbClr val="FFFDF8"/>
          </a:solidFill>
          <a:ln w="6350">
            <a:solidFill>
              <a:srgbClr val="DDD7C8"/>
            </a:solidFill>
            <a:prstDash val="solid"/>
          </a:ln>
        </p:spPr>
      </p:sp>
      <p:sp>
        <p:nvSpPr>
          <p:cNvPr id="8" name="Text 4"/>
          <p:cNvSpPr/>
          <p:nvPr/>
        </p:nvSpPr>
        <p:spPr>
          <a:xfrm>
            <a:off x="960313" y="4532313"/>
            <a:ext cx="3245340"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A8402B"/>
                </a:solidFill>
                <a:latin typeface="Source Serif 4" pitchFamily="18" charset="0"/>
                <a:ea typeface="Source Serif 4" pitchFamily="18" charset="-122"/>
                <a:cs typeface="Source Serif 4" pitchFamily="18" charset="-120"/>
              </a:rPr>
              <a:t>6 de 6</a:t>
            </a:r>
            <a:endParaRPr lang="en-US" sz="2200" dirty="0"/>
          </a:p>
        </p:txBody>
      </p:sp>
      <p:sp>
        <p:nvSpPr>
          <p:cNvPr id="9" name="Text 5"/>
          <p:cNvSpPr/>
          <p:nvPr/>
        </p:nvSpPr>
        <p:spPr>
          <a:xfrm>
            <a:off x="960313" y="4876354"/>
            <a:ext cx="324534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variantes con cambio en 1995, 1999–2000 y 2006</a:t>
            </a:r>
            <a:endParaRPr lang="en-US" sz="1200" dirty="0"/>
          </a:p>
        </p:txBody>
      </p:sp>
      <p:sp>
        <p:nvSpPr>
          <p:cNvPr id="10" name="Shape 6"/>
          <p:cNvSpPr/>
          <p:nvPr/>
        </p:nvSpPr>
        <p:spPr>
          <a:xfrm>
            <a:off x="4376117" y="4425975"/>
            <a:ext cx="3439765" cy="968226"/>
          </a:xfrm>
          <a:prstGeom prst="roundRect">
            <a:avLst>
              <a:gd name="adj" fmla="val 10165"/>
            </a:avLst>
          </a:prstGeom>
          <a:solidFill>
            <a:srgbClr val="FFFDF8"/>
          </a:solidFill>
          <a:ln w="6350">
            <a:solidFill>
              <a:srgbClr val="DDD7C8"/>
            </a:solidFill>
            <a:prstDash val="solid"/>
          </a:ln>
        </p:spPr>
      </p:sp>
      <p:sp>
        <p:nvSpPr>
          <p:cNvPr id="11" name="Text 7"/>
          <p:cNvSpPr/>
          <p:nvPr/>
        </p:nvSpPr>
        <p:spPr>
          <a:xfrm>
            <a:off x="4520530" y="4532313"/>
            <a:ext cx="3245468"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1F5A7E"/>
                </a:solidFill>
                <a:latin typeface="Source Serif 4" pitchFamily="18" charset="0"/>
                <a:ea typeface="Source Serif 4" pitchFamily="18" charset="-122"/>
                <a:cs typeface="Source Serif 4" pitchFamily="18" charset="-120"/>
              </a:rPr>
              <a:t>1 de 6</a:t>
            </a:r>
            <a:endParaRPr lang="en-US" sz="2200" dirty="0"/>
          </a:p>
        </p:txBody>
      </p:sp>
      <p:sp>
        <p:nvSpPr>
          <p:cNvPr id="12" name="Text 8"/>
          <p:cNvSpPr/>
          <p:nvPr/>
        </p:nvSpPr>
        <p:spPr>
          <a:xfrm>
            <a:off x="4520530" y="4876354"/>
            <a:ext cx="3245468"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1992 y 2002: no se consideran</a:t>
            </a:r>
            <a:endParaRPr lang="en-US" sz="1200" dirty="0"/>
          </a:p>
        </p:txBody>
      </p:sp>
      <p:sp>
        <p:nvSpPr>
          <p:cNvPr id="13" name="Shape 9"/>
          <p:cNvSpPr/>
          <p:nvPr/>
        </p:nvSpPr>
        <p:spPr>
          <a:xfrm>
            <a:off x="7936458" y="4425975"/>
            <a:ext cx="3439641" cy="968226"/>
          </a:xfrm>
          <a:prstGeom prst="roundRect">
            <a:avLst>
              <a:gd name="adj" fmla="val 10165"/>
            </a:avLst>
          </a:prstGeom>
          <a:solidFill>
            <a:srgbClr val="FFFDF8"/>
          </a:solidFill>
          <a:ln w="6350">
            <a:solidFill>
              <a:srgbClr val="DDD7C8"/>
            </a:solidFill>
            <a:prstDash val="solid"/>
          </a:ln>
        </p:spPr>
      </p:sp>
      <p:sp>
        <p:nvSpPr>
          <p:cNvPr id="14" name="Text 10"/>
          <p:cNvSpPr/>
          <p:nvPr/>
        </p:nvSpPr>
        <p:spPr>
          <a:xfrm>
            <a:off x="8080871" y="4532313"/>
            <a:ext cx="3245340" cy="318715"/>
          </a:xfrm>
          <a:prstGeom prst="rect">
            <a:avLst/>
          </a:prstGeom>
          <a:noFill/>
          <a:ln/>
        </p:spPr>
        <p:txBody>
          <a:bodyPr wrap="square" lIns="0" tIns="0" rIns="0" bIns="0" rtlCol="0" anchor="t">
            <a:normAutofit/>
          </a:bodyPr>
          <a:lstStyle/>
          <a:p>
            <a:pPr algn="l" indent="0" marL="0">
              <a:lnSpc>
                <a:spcPts val="2310"/>
              </a:lnSpc>
              <a:buNone/>
            </a:pPr>
            <a:r>
              <a:rPr lang="en-US" sz="2200" b="1" dirty="0">
                <a:solidFill>
                  <a:srgbClr val="1F5A7E"/>
                </a:solidFill>
                <a:latin typeface="Source Serif 4" pitchFamily="18" charset="0"/>
                <a:ea typeface="Source Serif 4" pitchFamily="18" charset="-122"/>
                <a:cs typeface="Source Serif 4" pitchFamily="18" charset="-120"/>
              </a:rPr>
              <a:t>2006</a:t>
            </a:r>
            <a:endParaRPr lang="en-US" sz="2200" dirty="0"/>
          </a:p>
        </p:txBody>
      </p:sp>
      <p:sp>
        <p:nvSpPr>
          <p:cNvPr id="15" name="Text 11"/>
          <p:cNvSpPr/>
          <p:nvPr/>
        </p:nvSpPr>
        <p:spPr>
          <a:xfrm>
            <a:off x="8080871" y="4876354"/>
            <a:ext cx="3245340"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reproducido en Semana, Dinero y la serie estandarizada</a:t>
            </a:r>
            <a:endParaRPr lang="en-US" sz="1200" dirty="0"/>
          </a:p>
        </p:txBody>
      </p:sp>
      <p:sp>
        <p:nvSpPr>
          <p:cNvPr id="16" name="Text 12"/>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Soporte = variantes con un cambio a ±1 año · cuaderno 06 · informe, sección 10.4</a:t>
            </a:r>
            <a:endParaRPr lang="en-US" sz="1200" dirty="0"/>
          </a:p>
        </p:txBody>
      </p:sp>
      <p:sp>
        <p:nvSpPr>
          <p:cNvPr id="17" name="Text 13"/>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1379274"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Resultado 8 · Contraste histórico, al final y con lista congelada</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249784"/>
          <a:ext cx="6316886" cy="3570387"/>
        </p:xfrm>
        <a:graphic>
          <a:graphicData uri="http://schemas.openxmlformats.org/drawingml/2006/table">
            <a:tbl>
              <a:tblPr/>
              <a:tblGrid>
                <a:gridCol w="2105629"/>
                <a:gridCol w="2105629"/>
                <a:gridCol w="2105629"/>
              </a:tblGrid>
              <a:tr h="490389">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Evento de la lista congelada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Año</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680"/>
                        </a:lnSpc>
                        <a:buNone/>
                      </a:pPr>
                      <a:r>
                        <a:rPr lang="en-US" sz="1200" b="1" dirty="0">
                          <a:solidFill>
                            <a:srgbClr val="F6F3EC"/>
                          </a:solidFill>
                          <a:latin typeface="Inter" pitchFamily="34" charset="0"/>
                          <a:ea typeface="Inter" pitchFamily="34" charset="-122"/>
                          <a:cs typeface="Inter" pitchFamily="34" charset="-120"/>
                        </a:rPr>
                        <a:t>Cambio de consenso cercano</a:t>
                      </a:r>
                      <a:endParaRPr lang="en-US" sz="1200"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Palacio de Justicia, Armero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1985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años 80: sin potencia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Asesinato de Galán</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1989</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años 80: sin potencia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Constitución</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1991</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ninguno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Muerte de Escobar</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1993</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ninguno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Proceso 8000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1995</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Pastrana y Caguán</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1998</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1999–2000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903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Uribe, seguridad democrática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2002</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ninguno robusto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Reelección y parapolítica</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2006</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99889">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Santos, ola invernal</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2010</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680"/>
                        </a:lnSpc>
                        <a:buNone/>
                      </a:pPr>
                      <a:r>
                        <a:rPr lang="en-US" sz="1200" dirty="0">
                          <a:solidFill>
                            <a:srgbClr val="1B2430"/>
                          </a:solidFill>
                          <a:latin typeface="Inter" pitchFamily="34" charset="0"/>
                          <a:ea typeface="Inter" pitchFamily="34" charset="-122"/>
                          <a:cs typeface="Inter" pitchFamily="34" charset="-120"/>
                        </a:rPr>
                        <a:t>ninguno</a:t>
                      </a:r>
                      <a:endParaRPr lang="en-US" sz="1200"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Shape 1"/>
          <p:cNvSpPr/>
          <p:nvPr/>
        </p:nvSpPr>
        <p:spPr>
          <a:xfrm>
            <a:off x="7318449" y="1245022"/>
            <a:ext cx="4057650" cy="1982614"/>
          </a:xfrm>
          <a:prstGeom prst="roundRect">
            <a:avLst>
              <a:gd name="adj" fmla="val 4964"/>
            </a:avLst>
          </a:prstGeom>
          <a:solidFill>
            <a:srgbClr val="1B2430"/>
          </a:solidFill>
          <a:ln w="6350">
            <a:solidFill>
              <a:srgbClr val="1B2430"/>
            </a:solidFill>
            <a:prstDash val="solid"/>
          </a:ln>
        </p:spPr>
      </p:sp>
      <p:sp>
        <p:nvSpPr>
          <p:cNvPr id="5" name="Text 2"/>
          <p:cNvSpPr/>
          <p:nvPr/>
        </p:nvSpPr>
        <p:spPr>
          <a:xfrm>
            <a:off x="7513712" y="1414859"/>
            <a:ext cx="377713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E0A43A"/>
                </a:solidFill>
                <a:latin typeface="Inter" pitchFamily="34" charset="0"/>
                <a:ea typeface="Inter" pitchFamily="34" charset="-122"/>
                <a:cs typeface="Inter" pitchFamily="34" charset="-120"/>
              </a:rPr>
              <a:t>CONTRASTE HISTÓRICO · AL FINAL</a:t>
            </a:r>
            <a:endParaRPr lang="en-US" sz="1200" dirty="0"/>
          </a:p>
        </p:txBody>
      </p:sp>
      <p:sp>
        <p:nvSpPr>
          <p:cNvPr id="6" name="Text 3"/>
          <p:cNvSpPr/>
          <p:nvPr/>
        </p:nvSpPr>
        <p:spPr>
          <a:xfrm>
            <a:off x="7513712" y="1678905"/>
            <a:ext cx="3777139" cy="505371"/>
          </a:xfrm>
          <a:prstGeom prst="rect">
            <a:avLst/>
          </a:prstGeom>
          <a:noFill/>
          <a:ln/>
        </p:spPr>
        <p:txBody>
          <a:bodyPr wrap="square" lIns="0" tIns="0" rIns="0" bIns="0" rtlCol="0" anchor="t">
            <a:normAutofit/>
          </a:bodyPr>
          <a:lstStyle/>
          <a:p>
            <a:pPr algn="l" indent="0" marL="0">
              <a:lnSpc>
                <a:spcPts val="3780"/>
              </a:lnSpc>
              <a:buNone/>
            </a:pPr>
            <a:r>
              <a:rPr lang="en-US" sz="3600" b="1" dirty="0">
                <a:solidFill>
                  <a:srgbClr val="F6F3EC"/>
                </a:solidFill>
                <a:latin typeface="Source Serif 4" pitchFamily="18" charset="0"/>
                <a:ea typeface="Source Serif 4" pitchFamily="18" charset="-122"/>
                <a:cs typeface="Source Serif 4" pitchFamily="18" charset="-120"/>
              </a:rPr>
              <a:t>3 de 3</a:t>
            </a:r>
            <a:endParaRPr lang="en-US" sz="3600" dirty="0"/>
          </a:p>
        </p:txBody>
      </p:sp>
      <p:sp>
        <p:nvSpPr>
          <p:cNvPr id="7" name="Text 4"/>
          <p:cNvSpPr/>
          <p:nvPr/>
        </p:nvSpPr>
        <p:spPr>
          <a:xfrm>
            <a:off x="7513712" y="2209602"/>
            <a:ext cx="3777139"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D9D4C7"/>
                </a:solidFill>
                <a:latin typeface="Inter" pitchFamily="34" charset="0"/>
                <a:ea typeface="Inter" pitchFamily="34" charset="-122"/>
                <a:cs typeface="Inter" pitchFamily="34" charset="-120"/>
              </a:rPr>
              <a:t>cambios caen a ±1 año de un evento…</a:t>
            </a:r>
            <a:endParaRPr lang="en-US" sz="1200" dirty="0"/>
          </a:p>
        </p:txBody>
      </p:sp>
      <p:sp>
        <p:nvSpPr>
          <p:cNvPr id="8" name="Text 5"/>
          <p:cNvSpPr/>
          <p:nvPr/>
        </p:nvSpPr>
        <p:spPr>
          <a:xfrm>
            <a:off x="7513712" y="2466082"/>
            <a:ext cx="3777139" cy="360635"/>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E0A43A"/>
                </a:solidFill>
                <a:latin typeface="Source Serif 4" pitchFamily="18" charset="0"/>
                <a:ea typeface="Source Serif 4" pitchFamily="18" charset="-122"/>
                <a:cs typeface="Source Serif 4" pitchFamily="18" charset="-120"/>
              </a:rPr>
              <a:t>2,5 de 3 por azar</a:t>
            </a:r>
            <a:endParaRPr lang="en-US" sz="2400" dirty="0"/>
          </a:p>
        </p:txBody>
      </p:sp>
      <p:sp>
        <p:nvSpPr>
          <p:cNvPr id="9" name="Text 6"/>
          <p:cNvSpPr/>
          <p:nvPr/>
        </p:nvSpPr>
        <p:spPr>
          <a:xfrm>
            <a:off x="7513712" y="2852043"/>
            <a:ext cx="3859212"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D9D4C7"/>
                </a:solidFill>
                <a:latin typeface="Inter" pitchFamily="34" charset="0"/>
                <a:ea typeface="Inter" pitchFamily="34" charset="-122"/>
                <a:cs typeface="Inter" pitchFamily="34" charset="-120"/>
              </a:rPr>
              <a:t>5.000 sorteos de 3 años al azar: P(3 de 3) = 0,58.</a:t>
            </a:r>
            <a:endParaRPr lang="en-US" sz="1200" dirty="0"/>
          </a:p>
        </p:txBody>
      </p:sp>
      <p:sp>
        <p:nvSpPr>
          <p:cNvPr id="10" name="Text 7"/>
          <p:cNvSpPr/>
          <p:nvPr/>
        </p:nvSpPr>
        <p:spPr>
          <a:xfrm>
            <a:off x="7318449" y="3335561"/>
            <a:ext cx="4057650" cy="1447205"/>
          </a:xfrm>
          <a:prstGeom prst="roundRect">
            <a:avLst>
              <a:gd name="adj" fmla="val 6801"/>
            </a:avLst>
          </a:prstGeom>
          <a:solidFill>
            <a:srgbClr val="FFFDF8"/>
          </a:solidFill>
          <a:ln w="6350">
            <a:solidFill>
              <a:srgbClr val="DDD7C8"/>
            </a:solidFill>
            <a:prstDash val="solid"/>
          </a:ln>
        </p:spPr>
        <p:txBody>
          <a:bodyPr wrap="square" lIns="115585" tIns="77535" rIns="2520" bIns="52085"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Lectura</a:t>
            </a:r>
            <a:r>
              <a:rPr lang="en-US" sz="1200" dirty="0">
                <a:solidFill>
                  <a:srgbClr val="1B2430"/>
                </a:solidFill>
                <a:latin typeface="Inter" pitchFamily="34" charset="0"/>
                <a:ea typeface="Inter" pitchFamily="34" charset="-122"/>
                <a:cs typeface="Inter" pitchFamily="34" charset="-120"/>
              </a:rPr>
              <a:t>: la ventana de ±1 año con 9 eventos cubre buena parte de la serie, así que el azar ya acierta. No es evidencia a favor ni en contra. Los eventos más políticos (1991, 1993, 2002) no dejan huella; lo que cambia en 1995 y 2006 es económico, regional y de orden público.</a:t>
            </a:r>
            <a:endParaRPr lang="en-US" sz="1200" dirty="0"/>
          </a:p>
        </p:txBody>
      </p:sp>
      <p:sp>
        <p:nvSpPr>
          <p:cNvPr id="11" name="Text 8"/>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La lista se congeló antes de ver resultados · baseline con 5.000 sorteos · cuaderno 06 · informe, sección 10.6</a:t>
            </a:r>
            <a:endParaRPr lang="en-US" sz="1200" dirty="0"/>
          </a:p>
        </p:txBody>
      </p:sp>
      <p:sp>
        <p:nvSpPr>
          <p:cNvPr id="12" name="Text 9"/>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430"/>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6F3EC"/>
                </a:solidFill>
                <a:latin typeface="Source Serif 4" pitchFamily="18" charset="0"/>
                <a:ea typeface="Source Serif 4" pitchFamily="18" charset="-122"/>
                <a:cs typeface="Source Serif 4" pitchFamily="18" charset="-120"/>
              </a:rPr>
              <a:t>Conclusiones frente a la pregunta guía</a:t>
            </a:r>
            <a:endParaRPr lang="en-US" sz="2800" dirty="0"/>
          </a:p>
        </p:txBody>
      </p:sp>
      <p:sp>
        <p:nvSpPr>
          <p:cNvPr id="3" name="Shape 1"/>
          <p:cNvSpPr/>
          <p:nvPr/>
        </p:nvSpPr>
        <p:spPr>
          <a:xfrm>
            <a:off x="812726" y="1241847"/>
            <a:ext cx="5226100" cy="850677"/>
          </a:xfrm>
          <a:prstGeom prst="roundRect">
            <a:avLst>
              <a:gd name="adj" fmla="val 11943"/>
            </a:avLst>
          </a:prstGeom>
          <a:solidFill>
            <a:srgbClr val="26323F"/>
          </a:solidFill>
          <a:ln/>
        </p:spPr>
      </p:sp>
      <p:sp>
        <p:nvSpPr>
          <p:cNvPr id="4" name="Text 2"/>
          <p:cNvSpPr/>
          <p:nvPr/>
        </p:nvSpPr>
        <p:spPr>
          <a:xfrm>
            <a:off x="977801" y="1343422"/>
            <a:ext cx="5042828"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1 · ESTABLE A CORTO PLAZO</a:t>
            </a:r>
            <a:endParaRPr lang="en-US" sz="1200" dirty="0"/>
          </a:p>
        </p:txBody>
      </p:sp>
      <p:sp>
        <p:nvSpPr>
          <p:cNvPr id="5" name="Text 3"/>
          <p:cNvSpPr/>
          <p:nvPr/>
        </p:nvSpPr>
        <p:spPr>
          <a:xfrm>
            <a:off x="977801" y="1594817"/>
            <a:ext cx="5042828"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JS entre años consecutivos 0,0029: el 6 % de la distancia entre fuentes (0,0497).</a:t>
            </a:r>
            <a:endParaRPr lang="en-US" sz="1200" dirty="0"/>
          </a:p>
        </p:txBody>
      </p:sp>
      <p:sp>
        <p:nvSpPr>
          <p:cNvPr id="6" name="Shape 4"/>
          <p:cNvSpPr/>
          <p:nvPr/>
        </p:nvSpPr>
        <p:spPr>
          <a:xfrm>
            <a:off x="6153051" y="1241847"/>
            <a:ext cx="5226224" cy="850677"/>
          </a:xfrm>
          <a:prstGeom prst="roundRect">
            <a:avLst>
              <a:gd name="adj" fmla="val 11943"/>
            </a:avLst>
          </a:prstGeom>
          <a:solidFill>
            <a:srgbClr val="26323F"/>
          </a:solidFill>
          <a:ln/>
        </p:spPr>
      </p:sp>
      <p:sp>
        <p:nvSpPr>
          <p:cNvPr id="7" name="Text 5"/>
          <p:cNvSpPr/>
          <p:nvPr/>
        </p:nvSpPr>
        <p:spPr>
          <a:xfrm>
            <a:off x="6318126" y="1343422"/>
            <a:ext cx="5042955"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2 · DERIVA ACOTADA</a:t>
            </a:r>
            <a:endParaRPr lang="en-US" sz="1200" dirty="0"/>
          </a:p>
        </p:txBody>
      </p:sp>
      <p:sp>
        <p:nvSpPr>
          <p:cNvPr id="8" name="Text 6"/>
          <p:cNvSpPr/>
          <p:nvPr/>
        </p:nvSpPr>
        <p:spPr>
          <a:xfrm>
            <a:off x="6318126" y="1594817"/>
            <a:ext cx="5042955"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JS crece con el rezago (0,0029 → 0,0158 a 10 años) y se aplana desde ~8 años.</a:t>
            </a:r>
            <a:endParaRPr lang="en-US" sz="1200" dirty="0"/>
          </a:p>
        </p:txBody>
      </p:sp>
      <p:sp>
        <p:nvSpPr>
          <p:cNvPr id="9" name="Shape 7"/>
          <p:cNvSpPr/>
          <p:nvPr/>
        </p:nvSpPr>
        <p:spPr>
          <a:xfrm>
            <a:off x="812726" y="2206749"/>
            <a:ext cx="5226100" cy="850677"/>
          </a:xfrm>
          <a:prstGeom prst="roundRect">
            <a:avLst>
              <a:gd name="adj" fmla="val 11943"/>
            </a:avLst>
          </a:prstGeom>
          <a:solidFill>
            <a:srgbClr val="26323F"/>
          </a:solidFill>
          <a:ln/>
        </p:spPr>
      </p:sp>
      <p:sp>
        <p:nvSpPr>
          <p:cNvPr id="10" name="Text 8"/>
          <p:cNvSpPr/>
          <p:nvPr/>
        </p:nvSpPr>
        <p:spPr>
          <a:xfrm>
            <a:off x="977801" y="2308324"/>
            <a:ext cx="5042828"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3 · TRES CAMBIOS ROBUSTOS</a:t>
            </a:r>
            <a:endParaRPr lang="en-US" sz="1200" dirty="0"/>
          </a:p>
        </p:txBody>
      </p:sp>
      <p:sp>
        <p:nvSpPr>
          <p:cNvPr id="11" name="Text 9"/>
          <p:cNvSpPr/>
          <p:nvPr/>
        </p:nvSpPr>
        <p:spPr>
          <a:xfrm>
            <a:off x="977801" y="2559720"/>
            <a:ext cx="5042828"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1995, 1999–2000 y 2006 en 6 de 6 variantes; también en Semana y Dinero. 2006 es el mayor.</a:t>
            </a:r>
            <a:endParaRPr lang="en-US" sz="1200" dirty="0"/>
          </a:p>
        </p:txBody>
      </p:sp>
      <p:sp>
        <p:nvSpPr>
          <p:cNvPr id="12" name="Shape 10"/>
          <p:cNvSpPr/>
          <p:nvPr/>
        </p:nvSpPr>
        <p:spPr>
          <a:xfrm>
            <a:off x="6153051" y="2206749"/>
            <a:ext cx="5226224" cy="850677"/>
          </a:xfrm>
          <a:prstGeom prst="roundRect">
            <a:avLst>
              <a:gd name="adj" fmla="val 11943"/>
            </a:avLst>
          </a:prstGeom>
          <a:solidFill>
            <a:srgbClr val="26323F"/>
          </a:solidFill>
          <a:ln/>
        </p:spPr>
      </p:sp>
      <p:sp>
        <p:nvSpPr>
          <p:cNvPr id="13" name="Text 11"/>
          <p:cNvSpPr/>
          <p:nvPr/>
        </p:nvSpPr>
        <p:spPr>
          <a:xfrm>
            <a:off x="6318126" y="2308324"/>
            <a:ext cx="5042955"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4 · SON DE COMPOSICIÓN</a:t>
            </a:r>
            <a:endParaRPr lang="en-US" sz="1200" dirty="0"/>
          </a:p>
        </p:txBody>
      </p:sp>
      <p:sp>
        <p:nvSpPr>
          <p:cNvPr id="14" name="Text 12"/>
          <p:cNvSpPr/>
          <p:nvPr/>
        </p:nvSpPr>
        <p:spPr>
          <a:xfrm>
            <a:off x="6318126" y="2559720"/>
            <a:ext cx="5042955"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1999 y 2006 coinciden con caída del archivo o auge de Dinero: no prueban cambio de interés público.</a:t>
            </a:r>
            <a:endParaRPr lang="en-US" sz="1200" dirty="0"/>
          </a:p>
        </p:txBody>
      </p:sp>
      <p:sp>
        <p:nvSpPr>
          <p:cNvPr id="15" name="Shape 13"/>
          <p:cNvSpPr/>
          <p:nvPr/>
        </p:nvSpPr>
        <p:spPr>
          <a:xfrm>
            <a:off x="812726" y="3171651"/>
            <a:ext cx="5226100" cy="850677"/>
          </a:xfrm>
          <a:prstGeom prst="roundRect">
            <a:avLst>
              <a:gd name="adj" fmla="val 11943"/>
            </a:avLst>
          </a:prstGeom>
          <a:solidFill>
            <a:srgbClr val="26323F"/>
          </a:solidFill>
          <a:ln/>
        </p:spPr>
      </p:sp>
      <p:sp>
        <p:nvSpPr>
          <p:cNvPr id="16" name="Text 14"/>
          <p:cNvSpPr/>
          <p:nvPr/>
        </p:nvSpPr>
        <p:spPr>
          <a:xfrm>
            <a:off x="977801" y="3273227"/>
            <a:ext cx="5042828"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5 · SIN LECTURA HISTÓRICA</a:t>
            </a:r>
            <a:endParaRPr lang="en-US" sz="1200" dirty="0"/>
          </a:p>
        </p:txBody>
      </p:sp>
      <p:sp>
        <p:nvSpPr>
          <p:cNvPr id="17" name="Text 15"/>
          <p:cNvSpPr/>
          <p:nvPr/>
        </p:nvSpPr>
        <p:spPr>
          <a:xfrm>
            <a:off x="977801" y="3524622"/>
            <a:ext cx="5042828"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Coinciden con eventos (1996, 1998, 2006), pero el azar da 2,5 de 3 (P = 0,58).</a:t>
            </a:r>
            <a:endParaRPr lang="en-US" sz="1200" dirty="0"/>
          </a:p>
        </p:txBody>
      </p:sp>
      <p:sp>
        <p:nvSpPr>
          <p:cNvPr id="18" name="Shape 16"/>
          <p:cNvSpPr/>
          <p:nvPr/>
        </p:nvSpPr>
        <p:spPr>
          <a:xfrm>
            <a:off x="6153051" y="3171651"/>
            <a:ext cx="5226224" cy="850677"/>
          </a:xfrm>
          <a:prstGeom prst="roundRect">
            <a:avLst>
              <a:gd name="adj" fmla="val 11943"/>
            </a:avLst>
          </a:prstGeom>
          <a:solidFill>
            <a:srgbClr val="26323F"/>
          </a:solidFill>
          <a:ln/>
        </p:spPr>
      </p:sp>
      <p:sp>
        <p:nvSpPr>
          <p:cNvPr id="19" name="Text 17"/>
          <p:cNvSpPr/>
          <p:nvPr/>
        </p:nvSpPr>
        <p:spPr>
          <a:xfrm>
            <a:off x="6318126" y="3273227"/>
            <a:ext cx="5042955"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6 · LA FUENTE PESA MÁS</a:t>
            </a:r>
            <a:endParaRPr lang="en-US" sz="1200" dirty="0"/>
          </a:p>
        </p:txBody>
      </p:sp>
      <p:sp>
        <p:nvSpPr>
          <p:cNvPr id="20" name="Text 18"/>
          <p:cNvSpPr/>
          <p:nvPr/>
        </p:nvSpPr>
        <p:spPr>
          <a:xfrm>
            <a:off x="6318126" y="3524622"/>
            <a:ext cx="5042955"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η² fuente 0,58 % frente a año 0,41 %: el pooled 1980–2011 no responde la pregunta.</a:t>
            </a:r>
            <a:endParaRPr lang="en-US" sz="1200" dirty="0"/>
          </a:p>
        </p:txBody>
      </p:sp>
      <p:sp>
        <p:nvSpPr>
          <p:cNvPr id="21" name="Shape 19"/>
          <p:cNvSpPr/>
          <p:nvPr/>
        </p:nvSpPr>
        <p:spPr>
          <a:xfrm>
            <a:off x="812726" y="4136554"/>
            <a:ext cx="5226100" cy="850677"/>
          </a:xfrm>
          <a:prstGeom prst="roundRect">
            <a:avLst>
              <a:gd name="adj" fmla="val 11943"/>
            </a:avLst>
          </a:prstGeom>
          <a:solidFill>
            <a:srgbClr val="26323F"/>
          </a:solidFill>
          <a:ln/>
        </p:spPr>
      </p:sp>
      <p:sp>
        <p:nvSpPr>
          <p:cNvPr id="22" name="Text 20"/>
          <p:cNvSpPr/>
          <p:nvPr/>
        </p:nvSpPr>
        <p:spPr>
          <a:xfrm>
            <a:off x="977801" y="4238129"/>
            <a:ext cx="5042828"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7 · AÑOS 80: SIN RESPUESTA</a:t>
            </a:r>
            <a:endParaRPr lang="en-US" sz="1200" dirty="0"/>
          </a:p>
        </p:txBody>
      </p:sp>
      <p:sp>
        <p:nvSpPr>
          <p:cNvPr id="23" name="Text 21"/>
          <p:cNvSpPr/>
          <p:nvPr/>
        </p:nvSpPr>
        <p:spPr>
          <a:xfrm>
            <a:off x="977801" y="4489524"/>
            <a:ext cx="5042828"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Solo Semana, 31–166 documentos por año: ninguna transición es significativa.</a:t>
            </a:r>
            <a:endParaRPr lang="en-US" sz="1200" dirty="0"/>
          </a:p>
        </p:txBody>
      </p:sp>
      <p:sp>
        <p:nvSpPr>
          <p:cNvPr id="24" name="Shape 22"/>
          <p:cNvSpPr/>
          <p:nvPr/>
        </p:nvSpPr>
        <p:spPr>
          <a:xfrm>
            <a:off x="6153051" y="4136554"/>
            <a:ext cx="5226224" cy="850677"/>
          </a:xfrm>
          <a:prstGeom prst="roundRect">
            <a:avLst>
              <a:gd name="adj" fmla="val 11943"/>
            </a:avLst>
          </a:prstGeom>
          <a:solidFill>
            <a:srgbClr val="26323F"/>
          </a:solidFill>
          <a:ln/>
        </p:spPr>
      </p:sp>
      <p:sp>
        <p:nvSpPr>
          <p:cNvPr id="25" name="Text 23"/>
          <p:cNvSpPr/>
          <p:nvPr/>
        </p:nvSpPr>
        <p:spPr>
          <a:xfrm>
            <a:off x="6318126" y="4238129"/>
            <a:ext cx="5042955"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0A43A"/>
                </a:solidFill>
                <a:latin typeface="Inter" pitchFamily="34" charset="0"/>
                <a:ea typeface="Inter" pitchFamily="34" charset="-122"/>
                <a:cs typeface="Inter" pitchFamily="34" charset="-120"/>
              </a:rPr>
              <a:t>8 · QUÉ MIDE LA AGENDA</a:t>
            </a:r>
            <a:endParaRPr lang="en-US" sz="1200" dirty="0"/>
          </a:p>
        </p:txBody>
      </p:sp>
      <p:sp>
        <p:nvSpPr>
          <p:cNvPr id="26" name="Text 24"/>
          <p:cNvSpPr/>
          <p:nvPr/>
        </p:nvSpPr>
        <p:spPr>
          <a:xfrm>
            <a:off x="6318126" y="4489524"/>
            <a:ext cx="5042955" cy="42153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F6F3EC"/>
                </a:solidFill>
                <a:latin typeface="Inter" pitchFamily="34" charset="0"/>
                <a:ea typeface="Inter" pitchFamily="34" charset="-122"/>
                <a:cs typeface="Inter" pitchFamily="34" charset="-120"/>
              </a:rPr>
              <a:t>Prevalencia de tópicos, no importancia; incluye tópicos de estilo y de mercados.</a:t>
            </a:r>
            <a:endParaRPr lang="en-US" sz="1200" dirty="0"/>
          </a:p>
        </p:txBody>
      </p:sp>
      <p:sp>
        <p:nvSpPr>
          <p:cNvPr id="27" name="Text 25"/>
          <p:cNvSpPr/>
          <p:nvPr/>
        </p:nvSpPr>
        <p:spPr>
          <a:xfrm>
            <a:off x="812726" y="5126881"/>
            <a:ext cx="10883545" cy="520502"/>
          </a:xfrm>
          <a:prstGeom prst="rect">
            <a:avLst/>
          </a:prstGeom>
          <a:noFill/>
          <a:ln/>
        </p:spPr>
        <p:txBody>
          <a:bodyPr wrap="square" lIns="0" tIns="0" rIns="0" bIns="0" rtlCol="0" anchor="t">
            <a:normAutofit/>
          </a:bodyPr>
          <a:lstStyle/>
          <a:p>
            <a:pPr algn="l" indent="0" marL="0">
              <a:lnSpc>
                <a:spcPts val="1950"/>
              </a:lnSpc>
              <a:buNone/>
            </a:pPr>
            <a:r>
              <a:rPr lang="en-US" sz="1500" i="1" dirty="0">
                <a:solidFill>
                  <a:srgbClr val="D9D4C7"/>
                </a:solidFill>
                <a:latin typeface="Source Serif 4" pitchFamily="18" charset="0"/>
                <a:ea typeface="Source Serif 4" pitchFamily="18" charset="-122"/>
                <a:cs typeface="Source Serif 4" pitchFamily="18" charset="-120"/>
              </a:rPr>
              <a:t>Entre 1990 y 2011 la agenda de El Tiempo es muy estable a corto plazo, deriva de forma acotada y cambia de régimen en 1995, 1999–2000 y 2006; para 1980–1989 el corpus no permite responder.</a:t>
            </a:r>
            <a:endParaRPr lang="en-US" sz="1500" dirty="0"/>
          </a:p>
        </p:txBody>
      </p:sp>
      <p:sp>
        <p:nvSpPr>
          <p:cNvPr id="28" name="Text 26"/>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B4A7"/>
                </a:solidFill>
                <a:latin typeface="Inter" pitchFamily="34" charset="0"/>
                <a:ea typeface="Inter" pitchFamily="34" charset="-122"/>
                <a:cs typeface="Inter" pitchFamily="34" charset="-120"/>
              </a:rPr>
              <a:t>Respuesta a la pregunta inicial · cuadernos 05 y 06 · informe, sección 11</a:t>
            </a:r>
            <a:endParaRPr lang="en-US" sz="1200" dirty="0"/>
          </a:p>
        </p:txBody>
      </p:sp>
      <p:sp>
        <p:nvSpPr>
          <p:cNvPr id="29" name="Text 27"/>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B4A7"/>
                </a:solidFill>
                <a:latin typeface="Inter" pitchFamily="34" charset="0"/>
                <a:ea typeface="Inter" pitchFamily="34" charset="-122"/>
                <a:cs typeface="Inter"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Limitaciones inherentes · Del corpus</a:t>
            </a:r>
            <a:endParaRPr lang="en-US" sz="2800" dirty="0"/>
          </a:p>
        </p:txBody>
      </p:sp>
      <p:sp>
        <p:nvSpPr>
          <p:cNvPr id="3" name="Shape 1"/>
          <p:cNvSpPr/>
          <p:nvPr/>
        </p:nvSpPr>
        <p:spPr>
          <a:xfrm>
            <a:off x="815901" y="1232371"/>
            <a:ext cx="5226075" cy="1078731"/>
          </a:xfrm>
          <a:prstGeom prst="roundRect">
            <a:avLst>
              <a:gd name="adj" fmla="val 9124"/>
            </a:avLst>
          </a:prstGeom>
          <a:solidFill>
            <a:srgbClr val="FFFDF8"/>
          </a:solidFill>
          <a:ln w="6350">
            <a:solidFill>
              <a:srgbClr val="DDD7C8"/>
            </a:solidFill>
            <a:prstDash val="solid"/>
          </a:ln>
        </p:spPr>
      </p:sp>
      <p:sp>
        <p:nvSpPr>
          <p:cNvPr id="4" name="Text 2"/>
          <p:cNvSpPr/>
          <p:nvPr/>
        </p:nvSpPr>
        <p:spPr>
          <a:xfrm>
            <a:off x="960313" y="1338709"/>
            <a:ext cx="5085366"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Cobertura temporal desigual</a:t>
            </a:r>
            <a:endParaRPr lang="en-US" sz="1300" dirty="0"/>
          </a:p>
        </p:txBody>
      </p:sp>
      <p:sp>
        <p:nvSpPr>
          <p:cNvPr id="5" name="Text 3"/>
          <p:cNvSpPr/>
          <p:nvPr/>
        </p:nvSpPr>
        <p:spPr>
          <a:xfrm>
            <a:off x="960313" y="1587500"/>
            <a:ext cx="5085366"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Años 80 solo Semana (31–166 documentos por año); falta 1981; El Tiempo empieza en 1990 con 807. El “cambio” 1989→1990 es de fuente.</a:t>
            </a:r>
            <a:endParaRPr lang="en-US" sz="1200" dirty="0"/>
          </a:p>
        </p:txBody>
      </p:sp>
      <p:sp>
        <p:nvSpPr>
          <p:cNvPr id="6" name="Shape 4"/>
          <p:cNvSpPr/>
          <p:nvPr/>
        </p:nvSpPr>
        <p:spPr>
          <a:xfrm>
            <a:off x="6149901" y="1232371"/>
            <a:ext cx="5226199" cy="1078731"/>
          </a:xfrm>
          <a:prstGeom prst="roundRect">
            <a:avLst>
              <a:gd name="adj" fmla="val 9124"/>
            </a:avLst>
          </a:prstGeom>
          <a:solidFill>
            <a:srgbClr val="FFFDF8"/>
          </a:solidFill>
          <a:ln w="6350">
            <a:solidFill>
              <a:srgbClr val="DDD7C8"/>
            </a:solidFill>
            <a:prstDash val="solid"/>
          </a:ln>
        </p:spPr>
      </p:sp>
      <p:sp>
        <p:nvSpPr>
          <p:cNvPr id="7" name="Text 5"/>
          <p:cNvSpPr/>
          <p:nvPr/>
        </p:nvSpPr>
        <p:spPr>
          <a:xfrm>
            <a:off x="6294313" y="1338709"/>
            <a:ext cx="5085494"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Fuente y tiempo confundidos</a:t>
            </a:r>
            <a:endParaRPr lang="en-US" sz="1300" dirty="0"/>
          </a:p>
        </p:txBody>
      </p:sp>
      <p:sp>
        <p:nvSpPr>
          <p:cNvPr id="8" name="Text 6"/>
          <p:cNvSpPr/>
          <p:nvPr/>
        </p:nvSpPr>
        <p:spPr>
          <a:xfrm>
            <a:off x="6294313" y="1587500"/>
            <a:ext cx="508549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Una fuente por época: no se aísla el efecto temporal. El contraste entre fuentes solo existe en 1990–2011 y con N muy distinto.</a:t>
            </a:r>
            <a:endParaRPr lang="en-US" sz="1200" dirty="0"/>
          </a:p>
        </p:txBody>
      </p:sp>
      <p:sp>
        <p:nvSpPr>
          <p:cNvPr id="9" name="Shape 7"/>
          <p:cNvSpPr/>
          <p:nvPr/>
        </p:nvSpPr>
        <p:spPr>
          <a:xfrm>
            <a:off x="815901" y="2419028"/>
            <a:ext cx="5226075" cy="872976"/>
          </a:xfrm>
          <a:prstGeom prst="roundRect">
            <a:avLst>
              <a:gd name="adj" fmla="val 11275"/>
            </a:avLst>
          </a:prstGeom>
          <a:solidFill>
            <a:srgbClr val="FFFDF8"/>
          </a:solidFill>
          <a:ln w="6350">
            <a:solidFill>
              <a:srgbClr val="DDD7C8"/>
            </a:solidFill>
            <a:prstDash val="solid"/>
          </a:ln>
        </p:spPr>
      </p:sp>
      <p:sp>
        <p:nvSpPr>
          <p:cNvPr id="10" name="Text 8"/>
          <p:cNvSpPr/>
          <p:nvPr/>
        </p:nvSpPr>
        <p:spPr>
          <a:xfrm>
            <a:off x="960313" y="2525365"/>
            <a:ext cx="5085366"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Volumen y composición variables</a:t>
            </a:r>
            <a:endParaRPr lang="en-US" sz="1300" dirty="0"/>
          </a:p>
        </p:txBody>
      </p:sp>
      <p:sp>
        <p:nvSpPr>
          <p:cNvPr id="11" name="Text 9"/>
          <p:cNvSpPr/>
          <p:nvPr/>
        </p:nvSpPr>
        <p:spPr>
          <a:xfrm>
            <a:off x="960313" y="2774156"/>
            <a:ext cx="5085366"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El Tiempo cae a 2.231 documentos en 1999 y 2.358 en 2006; Dinero pasa de 167 a 560. No sabemos qué secciones faltan cada año.</a:t>
            </a:r>
            <a:endParaRPr lang="en-US" sz="1200" dirty="0"/>
          </a:p>
        </p:txBody>
      </p:sp>
      <p:sp>
        <p:nvSpPr>
          <p:cNvPr id="12" name="Shape 10"/>
          <p:cNvSpPr/>
          <p:nvPr/>
        </p:nvSpPr>
        <p:spPr>
          <a:xfrm>
            <a:off x="6149901" y="2419028"/>
            <a:ext cx="5226199" cy="872976"/>
          </a:xfrm>
          <a:prstGeom prst="roundRect">
            <a:avLst>
              <a:gd name="adj" fmla="val 11275"/>
            </a:avLst>
          </a:prstGeom>
          <a:solidFill>
            <a:srgbClr val="FFFDF8"/>
          </a:solidFill>
          <a:ln w="6350">
            <a:solidFill>
              <a:srgbClr val="DDD7C8"/>
            </a:solidFill>
            <a:prstDash val="solid"/>
          </a:ln>
        </p:spPr>
      </p:sp>
      <p:sp>
        <p:nvSpPr>
          <p:cNvPr id="13" name="Text 11"/>
          <p:cNvSpPr/>
          <p:nvPr/>
        </p:nvSpPr>
        <p:spPr>
          <a:xfrm>
            <a:off x="6294313" y="2525365"/>
            <a:ext cx="5085494"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Prevalencia, no importancia</a:t>
            </a:r>
            <a:endParaRPr lang="en-US" sz="1300" dirty="0"/>
          </a:p>
        </p:txBody>
      </p:sp>
      <p:sp>
        <p:nvSpPr>
          <p:cNvPr id="14" name="Text 12"/>
          <p:cNvSpPr/>
          <p:nvPr/>
        </p:nvSpPr>
        <p:spPr>
          <a:xfrm>
            <a:off x="6294313" y="2774156"/>
            <a:ext cx="508549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Un artículo cuenta igual sea portada o nota breve, sin audiencia. Mide qué se publicó, no qué le importó al público.</a:t>
            </a:r>
            <a:endParaRPr lang="en-US" sz="1200" dirty="0"/>
          </a:p>
        </p:txBody>
      </p:sp>
      <p:sp>
        <p:nvSpPr>
          <p:cNvPr id="15" name="Shape 13"/>
          <p:cNvSpPr/>
          <p:nvPr/>
        </p:nvSpPr>
        <p:spPr>
          <a:xfrm>
            <a:off x="815901" y="3399929"/>
            <a:ext cx="5226075" cy="1078731"/>
          </a:xfrm>
          <a:prstGeom prst="roundRect">
            <a:avLst>
              <a:gd name="adj" fmla="val 9124"/>
            </a:avLst>
          </a:prstGeom>
          <a:solidFill>
            <a:srgbClr val="FFFDF8"/>
          </a:solidFill>
          <a:ln w="6350">
            <a:solidFill>
              <a:srgbClr val="DDD7C8"/>
            </a:solidFill>
            <a:prstDash val="solid"/>
          </a:ln>
        </p:spPr>
      </p:sp>
      <p:sp>
        <p:nvSpPr>
          <p:cNvPr id="16" name="Text 14"/>
          <p:cNvSpPr/>
          <p:nvPr/>
        </p:nvSpPr>
        <p:spPr>
          <a:xfrm>
            <a:off x="960313" y="3506267"/>
            <a:ext cx="5085366"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Sesgos de selección y de medio</a:t>
            </a:r>
            <a:endParaRPr lang="en-US" sz="1300" dirty="0"/>
          </a:p>
        </p:txBody>
      </p:sp>
      <p:sp>
        <p:nvSpPr>
          <p:cNvPr id="17" name="Text 15"/>
          <p:cNvSpPr/>
          <p:nvPr/>
        </p:nvSpPr>
        <p:spPr>
          <a:xfrm>
            <a:off x="960313" y="3755058"/>
            <a:ext cx="5085366"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Dos semanarios y un diario nacional con sede en Bogotá no representan a la prensa colombiana; no hay prensa regional ni audiovisual.</a:t>
            </a:r>
            <a:endParaRPr lang="en-US" sz="1200" dirty="0"/>
          </a:p>
        </p:txBody>
      </p:sp>
      <p:sp>
        <p:nvSpPr>
          <p:cNvPr id="18" name="Shape 16"/>
          <p:cNvSpPr/>
          <p:nvPr/>
        </p:nvSpPr>
        <p:spPr>
          <a:xfrm>
            <a:off x="6149901" y="3399929"/>
            <a:ext cx="5226199" cy="1078731"/>
          </a:xfrm>
          <a:prstGeom prst="roundRect">
            <a:avLst>
              <a:gd name="adj" fmla="val 9124"/>
            </a:avLst>
          </a:prstGeom>
          <a:solidFill>
            <a:srgbClr val="FFFDF8"/>
          </a:solidFill>
          <a:ln w="6350">
            <a:solidFill>
              <a:srgbClr val="DDD7C8"/>
            </a:solidFill>
            <a:prstDash val="solid"/>
          </a:ln>
        </p:spPr>
      </p:sp>
      <p:sp>
        <p:nvSpPr>
          <p:cNvPr id="19" name="Text 17"/>
          <p:cNvSpPr/>
          <p:nvPr/>
        </p:nvSpPr>
        <p:spPr>
          <a:xfrm>
            <a:off x="6294313" y="3506267"/>
            <a:ext cx="5085494"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Texto tokenizado y con ruido</a:t>
            </a:r>
            <a:endParaRPr lang="en-US" sz="1300" dirty="0"/>
          </a:p>
        </p:txBody>
      </p:sp>
      <p:sp>
        <p:nvSpPr>
          <p:cNvPr id="20" name="Text 18"/>
          <p:cNvSpPr/>
          <p:nvPr/>
        </p:nvSpPr>
        <p:spPr>
          <a:xfrm>
            <a:off x="6294313" y="3755058"/>
            <a:ext cx="508549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Cifras y horas partidas, caracteres de control, firmas, avisos y cartas mezcladas con noticias; ~1 % de casi‑duplicados sin eliminar.</a:t>
            </a:r>
            <a:endParaRPr lang="en-US" sz="1200" dirty="0"/>
          </a:p>
        </p:txBody>
      </p:sp>
      <p:sp>
        <p:nvSpPr>
          <p:cNvPr id="21" name="Shape 19"/>
          <p:cNvSpPr/>
          <p:nvPr/>
        </p:nvSpPr>
        <p:spPr>
          <a:xfrm>
            <a:off x="815901" y="4586585"/>
            <a:ext cx="5226075" cy="872976"/>
          </a:xfrm>
          <a:prstGeom prst="roundRect">
            <a:avLst>
              <a:gd name="adj" fmla="val 11275"/>
            </a:avLst>
          </a:prstGeom>
          <a:solidFill>
            <a:srgbClr val="FFFDF8"/>
          </a:solidFill>
          <a:ln w="6350">
            <a:solidFill>
              <a:srgbClr val="DDD7C8"/>
            </a:solidFill>
            <a:prstDash val="solid"/>
          </a:ln>
        </p:spPr>
      </p:sp>
      <p:sp>
        <p:nvSpPr>
          <p:cNvPr id="22" name="Text 20"/>
          <p:cNvSpPr/>
          <p:nvPr/>
        </p:nvSpPr>
        <p:spPr>
          <a:xfrm>
            <a:off x="960313" y="4692923"/>
            <a:ext cx="5085366"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Resolución temporal</a:t>
            </a:r>
            <a:endParaRPr lang="en-US" sz="1300" dirty="0"/>
          </a:p>
        </p:txBody>
      </p:sp>
      <p:sp>
        <p:nvSpPr>
          <p:cNvPr id="23" name="Text 21"/>
          <p:cNvSpPr/>
          <p:nvPr/>
        </p:nvSpPr>
        <p:spPr>
          <a:xfrm>
            <a:off x="960313" y="4941714"/>
            <a:ext cx="5085366"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Las fechas llevan siempre hora 04:00 o 05:00: la unidad real es el día; se analiza por año por falta de documentos.</a:t>
            </a:r>
            <a:endParaRPr lang="en-US" sz="1200" dirty="0"/>
          </a:p>
        </p:txBody>
      </p:sp>
      <p:sp>
        <p:nvSpPr>
          <p:cNvPr id="24" name="Shape 22"/>
          <p:cNvSpPr/>
          <p:nvPr/>
        </p:nvSpPr>
        <p:spPr>
          <a:xfrm>
            <a:off x="6149901" y="4586585"/>
            <a:ext cx="5226199" cy="872976"/>
          </a:xfrm>
          <a:prstGeom prst="roundRect">
            <a:avLst>
              <a:gd name="adj" fmla="val 11275"/>
            </a:avLst>
          </a:prstGeom>
          <a:solidFill>
            <a:srgbClr val="FFFDF8"/>
          </a:solidFill>
          <a:ln w="6350">
            <a:solidFill>
              <a:srgbClr val="DDD7C8"/>
            </a:solidFill>
            <a:prstDash val="solid"/>
          </a:ln>
        </p:spPr>
      </p:sp>
      <p:sp>
        <p:nvSpPr>
          <p:cNvPr id="25" name="Text 23"/>
          <p:cNvSpPr/>
          <p:nvPr/>
        </p:nvSpPr>
        <p:spPr>
          <a:xfrm>
            <a:off x="6294313" y="4692923"/>
            <a:ext cx="5085494" cy="223465"/>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A8402B"/>
                </a:solidFill>
                <a:latin typeface="Inter" pitchFamily="34" charset="0"/>
                <a:ea typeface="Inter" pitchFamily="34" charset="-122"/>
                <a:cs typeface="Inter" pitchFamily="34" charset="-120"/>
              </a:rPr>
              <a:t>Sin etiquetas</a:t>
            </a:r>
            <a:endParaRPr lang="en-US" sz="1300" dirty="0"/>
          </a:p>
        </p:txBody>
      </p:sp>
      <p:sp>
        <p:nvSpPr>
          <p:cNvPr id="26" name="Text 24"/>
          <p:cNvSpPr/>
          <p:nvPr/>
        </p:nvSpPr>
        <p:spPr>
          <a:xfrm>
            <a:off x="6294313" y="4941714"/>
            <a:ext cx="508549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No hay temas anotados a mano: la validación de tópicos es interna (coherencia, estabilidad) y contra un léxico propio.</a:t>
            </a:r>
            <a:endParaRPr lang="en-US" sz="1200" dirty="0"/>
          </a:p>
        </p:txBody>
      </p:sp>
      <p:sp>
        <p:nvSpPr>
          <p:cNvPr id="27" name="Text 25"/>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La mayor limitación es del corpus, no del método · informe, sección 12.1</a:t>
            </a:r>
            <a:endParaRPr lang="en-US" sz="1200" dirty="0"/>
          </a:p>
        </p:txBody>
      </p:sp>
      <p:sp>
        <p:nvSpPr>
          <p:cNvPr id="28" name="Text 26"/>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Limitaciones inherentes · De las técnicas</a:t>
            </a:r>
            <a:endParaRPr lang="en-US" sz="2800" dirty="0"/>
          </a:p>
        </p:txBody>
      </p:sp>
      <p:sp>
        <p:nvSpPr>
          <p:cNvPr id="3" name="Shape 1"/>
          <p:cNvSpPr/>
          <p:nvPr/>
        </p:nvSpPr>
        <p:spPr>
          <a:xfrm>
            <a:off x="815901" y="1219597"/>
            <a:ext cx="5238849" cy="806872"/>
          </a:xfrm>
          <a:prstGeom prst="roundRect">
            <a:avLst>
              <a:gd name="adj" fmla="val 12198"/>
            </a:avLst>
          </a:prstGeom>
          <a:solidFill>
            <a:srgbClr val="FFFDF8"/>
          </a:solidFill>
          <a:ln w="6350">
            <a:solidFill>
              <a:srgbClr val="DDD7C8"/>
            </a:solidFill>
            <a:prstDash val="solid"/>
          </a:ln>
        </p:spPr>
      </p:sp>
      <p:sp>
        <p:nvSpPr>
          <p:cNvPr id="4" name="Text 2"/>
          <p:cNvSpPr/>
          <p:nvPr/>
        </p:nvSpPr>
        <p:spPr>
          <a:xfrm>
            <a:off x="947663" y="1300510"/>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NMF unigrama, sin lematizar</a:t>
            </a:r>
            <a:endParaRPr lang="en-US" sz="1200" dirty="0"/>
          </a:p>
        </p:txBody>
      </p:sp>
      <p:sp>
        <p:nvSpPr>
          <p:cNvPr id="5" name="Text 3"/>
          <p:cNvSpPr/>
          <p:nvPr/>
        </p:nvSpPr>
        <p:spPr>
          <a:xfrm>
            <a:off x="947663" y="1534046"/>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Las formas de una palabra se dispersan y las expresiones (derechos humanos) se parten.</a:t>
            </a:r>
            <a:endParaRPr lang="en-US" sz="1200" dirty="0"/>
          </a:p>
        </p:txBody>
      </p:sp>
      <p:sp>
        <p:nvSpPr>
          <p:cNvPr id="6" name="Shape 4"/>
          <p:cNvSpPr/>
          <p:nvPr/>
        </p:nvSpPr>
        <p:spPr>
          <a:xfrm>
            <a:off x="6137250" y="1219597"/>
            <a:ext cx="5238849" cy="806872"/>
          </a:xfrm>
          <a:prstGeom prst="roundRect">
            <a:avLst>
              <a:gd name="adj" fmla="val 12198"/>
            </a:avLst>
          </a:prstGeom>
          <a:solidFill>
            <a:srgbClr val="FFFDF8"/>
          </a:solidFill>
          <a:ln w="6350">
            <a:solidFill>
              <a:srgbClr val="DDD7C8"/>
            </a:solidFill>
            <a:prstDash val="solid"/>
          </a:ln>
        </p:spPr>
      </p:sp>
      <p:sp>
        <p:nvSpPr>
          <p:cNvPr id="7" name="Text 5"/>
          <p:cNvSpPr/>
          <p:nvPr/>
        </p:nvSpPr>
        <p:spPr>
          <a:xfrm>
            <a:off x="6269013" y="1300510"/>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Tópicos de sección y de estilo</a:t>
            </a:r>
            <a:endParaRPr lang="en-US" sz="1200" dirty="0"/>
          </a:p>
        </p:txBody>
      </p:sp>
      <p:sp>
        <p:nvSpPr>
          <p:cNvPr id="8" name="Text 6"/>
          <p:cNvSpPr/>
          <p:nvPr/>
        </p:nvSpPr>
        <p:spPr>
          <a:xfrm>
            <a:off x="6269013" y="1534046"/>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Opinión, avisos y cotizaciones son género y se confunden con “agenda”.</a:t>
            </a:r>
            <a:endParaRPr lang="en-US" sz="1200" dirty="0"/>
          </a:p>
        </p:txBody>
      </p:sp>
      <p:sp>
        <p:nvSpPr>
          <p:cNvPr id="9" name="Shape 7"/>
          <p:cNvSpPr/>
          <p:nvPr/>
        </p:nvSpPr>
        <p:spPr>
          <a:xfrm>
            <a:off x="815901" y="2108969"/>
            <a:ext cx="5238849" cy="806872"/>
          </a:xfrm>
          <a:prstGeom prst="roundRect">
            <a:avLst>
              <a:gd name="adj" fmla="val 12198"/>
            </a:avLst>
          </a:prstGeom>
          <a:solidFill>
            <a:srgbClr val="FFFDF8"/>
          </a:solidFill>
          <a:ln w="6350">
            <a:solidFill>
              <a:srgbClr val="DDD7C8"/>
            </a:solidFill>
            <a:prstDash val="solid"/>
          </a:ln>
        </p:spPr>
      </p:sp>
      <p:sp>
        <p:nvSpPr>
          <p:cNvPr id="10" name="Text 8"/>
          <p:cNvSpPr/>
          <p:nvPr/>
        </p:nvSpPr>
        <p:spPr>
          <a:xfrm>
            <a:off x="947663" y="2189882"/>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K y semilla</a:t>
            </a:r>
            <a:endParaRPr lang="en-US" sz="1200" dirty="0"/>
          </a:p>
        </p:txBody>
      </p:sp>
      <p:sp>
        <p:nvSpPr>
          <p:cNvPr id="11" name="Text 9"/>
          <p:cNvSpPr/>
          <p:nvPr/>
        </p:nvSpPr>
        <p:spPr>
          <a:xfrm>
            <a:off x="947663" y="2423418"/>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No hay K “correcto”: la coherencia sigue subiendo hasta K = 40; la estabilidad es 0,82, no 1.</a:t>
            </a:r>
            <a:endParaRPr lang="en-US" sz="1200" dirty="0"/>
          </a:p>
        </p:txBody>
      </p:sp>
      <p:sp>
        <p:nvSpPr>
          <p:cNvPr id="12" name="Shape 10"/>
          <p:cNvSpPr/>
          <p:nvPr/>
        </p:nvSpPr>
        <p:spPr>
          <a:xfrm>
            <a:off x="6137250" y="2108969"/>
            <a:ext cx="5238849" cy="806872"/>
          </a:xfrm>
          <a:prstGeom prst="roundRect">
            <a:avLst>
              <a:gd name="adj" fmla="val 12198"/>
            </a:avLst>
          </a:prstGeom>
          <a:solidFill>
            <a:srgbClr val="FFFDF8"/>
          </a:solidFill>
          <a:ln w="6350">
            <a:solidFill>
              <a:srgbClr val="DDD7C8"/>
            </a:solidFill>
            <a:prstDash val="solid"/>
          </a:ln>
        </p:spPr>
      </p:sp>
      <p:sp>
        <p:nvSpPr>
          <p:cNvPr id="13" name="Text 11"/>
          <p:cNvSpPr/>
          <p:nvPr/>
        </p:nvSpPr>
        <p:spPr>
          <a:xfrm>
            <a:off x="6269013" y="2189882"/>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Entidades</a:t>
            </a:r>
            <a:endParaRPr lang="en-US" sz="1200" dirty="0"/>
          </a:p>
        </p:txBody>
      </p:sp>
      <p:sp>
        <p:nvSpPr>
          <p:cNvPr id="14" name="Text 12"/>
          <p:cNvSpPr/>
          <p:nvPr/>
        </p:nvSpPr>
        <p:spPr>
          <a:xfrm>
            <a:off x="6269013" y="2423418"/>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El proxy por mayúscula es imperfecto; la variante sin entidades mide solo parte del efecto.</a:t>
            </a:r>
            <a:endParaRPr lang="en-US" sz="1200" dirty="0"/>
          </a:p>
        </p:txBody>
      </p:sp>
      <p:sp>
        <p:nvSpPr>
          <p:cNvPr id="15" name="Shape 13"/>
          <p:cNvSpPr/>
          <p:nvPr/>
        </p:nvSpPr>
        <p:spPr>
          <a:xfrm>
            <a:off x="815901" y="2998341"/>
            <a:ext cx="5238849" cy="806872"/>
          </a:xfrm>
          <a:prstGeom prst="roundRect">
            <a:avLst>
              <a:gd name="adj" fmla="val 12198"/>
            </a:avLst>
          </a:prstGeom>
          <a:solidFill>
            <a:srgbClr val="FFFDF8"/>
          </a:solidFill>
          <a:ln w="6350">
            <a:solidFill>
              <a:srgbClr val="DDD7C8"/>
            </a:solidFill>
            <a:prstDash val="solid"/>
          </a:ln>
        </p:spPr>
      </p:sp>
      <p:sp>
        <p:nvSpPr>
          <p:cNvPr id="16" name="Text 14"/>
          <p:cNvSpPr/>
          <p:nvPr/>
        </p:nvSpPr>
        <p:spPr>
          <a:xfrm>
            <a:off x="947663" y="3079254"/>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Prevalencia por promedio</a:t>
            </a:r>
            <a:endParaRPr lang="en-US" sz="1200" dirty="0"/>
          </a:p>
        </p:txBody>
      </p:sp>
      <p:sp>
        <p:nvSpPr>
          <p:cNvPr id="17" name="Text 15"/>
          <p:cNvSpPr/>
          <p:nvPr/>
        </p:nvSpPr>
        <p:spPr>
          <a:xfrm>
            <a:off x="947663" y="3312790"/>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Un artículo con varios temas se reparte entre tópicos; uno corto pesa igual que uno largo.</a:t>
            </a:r>
            <a:endParaRPr lang="en-US" sz="1200" dirty="0"/>
          </a:p>
        </p:txBody>
      </p:sp>
      <p:sp>
        <p:nvSpPr>
          <p:cNvPr id="18" name="Shape 16"/>
          <p:cNvSpPr/>
          <p:nvPr/>
        </p:nvSpPr>
        <p:spPr>
          <a:xfrm>
            <a:off x="6137250" y="2998341"/>
            <a:ext cx="5238849" cy="806872"/>
          </a:xfrm>
          <a:prstGeom prst="roundRect">
            <a:avLst>
              <a:gd name="adj" fmla="val 12198"/>
            </a:avLst>
          </a:prstGeom>
          <a:solidFill>
            <a:srgbClr val="FFFDF8"/>
          </a:solidFill>
          <a:ln w="6350">
            <a:solidFill>
              <a:srgbClr val="DDD7C8"/>
            </a:solidFill>
            <a:prstDash val="solid"/>
          </a:ln>
        </p:spPr>
      </p:sp>
      <p:sp>
        <p:nvSpPr>
          <p:cNvPr id="19" name="Text 17"/>
          <p:cNvSpPr/>
          <p:nvPr/>
        </p:nvSpPr>
        <p:spPr>
          <a:xfrm>
            <a:off x="6269013" y="3079254"/>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Nulo por permutación</a:t>
            </a:r>
            <a:endParaRPr lang="en-US" sz="1200" dirty="0"/>
          </a:p>
        </p:txBody>
      </p:sp>
      <p:sp>
        <p:nvSpPr>
          <p:cNvPr id="20" name="Text 18"/>
          <p:cNvSpPr/>
          <p:nvPr/>
        </p:nvSpPr>
        <p:spPr>
          <a:xfrm>
            <a:off x="6269013" y="3312790"/>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Supone artículos intercambiables; ignora la correlación por edición y subestima el ruido.</a:t>
            </a:r>
            <a:endParaRPr lang="en-US" sz="1200" dirty="0"/>
          </a:p>
        </p:txBody>
      </p:sp>
      <p:sp>
        <p:nvSpPr>
          <p:cNvPr id="21" name="Shape 19"/>
          <p:cNvSpPr/>
          <p:nvPr/>
        </p:nvSpPr>
        <p:spPr>
          <a:xfrm>
            <a:off x="815901" y="3887713"/>
            <a:ext cx="5238849" cy="806872"/>
          </a:xfrm>
          <a:prstGeom prst="roundRect">
            <a:avLst>
              <a:gd name="adj" fmla="val 12198"/>
            </a:avLst>
          </a:prstGeom>
          <a:solidFill>
            <a:srgbClr val="FFFDF8"/>
          </a:solidFill>
          <a:ln w="6350">
            <a:solidFill>
              <a:srgbClr val="DDD7C8"/>
            </a:solidFill>
            <a:prstDash val="solid"/>
          </a:ln>
        </p:spPr>
      </p:sp>
      <p:sp>
        <p:nvSpPr>
          <p:cNvPr id="22" name="Text 20"/>
          <p:cNvSpPr/>
          <p:nvPr/>
        </p:nvSpPr>
        <p:spPr>
          <a:xfrm>
            <a:off x="947663" y="3968626"/>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Segmentación binaria</a:t>
            </a:r>
            <a:endParaRPr lang="en-US" sz="1200" dirty="0"/>
          </a:p>
        </p:txBody>
      </p:sp>
      <p:sp>
        <p:nvSpPr>
          <p:cNvPr id="23" name="Text 21"/>
          <p:cNvSpPr/>
          <p:nvPr/>
        </p:nvSpPr>
        <p:spPr>
          <a:xfrm>
            <a:off x="947663" y="4202162"/>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Voraz: descompone una deriva en escalones; solo resolución anual; umbral sin corrección múltiple.</a:t>
            </a:r>
            <a:endParaRPr lang="en-US" sz="1200" dirty="0"/>
          </a:p>
        </p:txBody>
      </p:sp>
      <p:sp>
        <p:nvSpPr>
          <p:cNvPr id="24" name="Shape 22"/>
          <p:cNvSpPr/>
          <p:nvPr/>
        </p:nvSpPr>
        <p:spPr>
          <a:xfrm>
            <a:off x="6137250" y="3887713"/>
            <a:ext cx="5238849" cy="806872"/>
          </a:xfrm>
          <a:prstGeom prst="roundRect">
            <a:avLst>
              <a:gd name="adj" fmla="val 12198"/>
            </a:avLst>
          </a:prstGeom>
          <a:solidFill>
            <a:srgbClr val="FFFDF8"/>
          </a:solidFill>
          <a:ln w="6350">
            <a:solidFill>
              <a:srgbClr val="DDD7C8"/>
            </a:solidFill>
            <a:prstDash val="solid"/>
          </a:ln>
        </p:spPr>
      </p:sp>
      <p:sp>
        <p:nvSpPr>
          <p:cNvPr id="25" name="Text 23"/>
          <p:cNvSpPr/>
          <p:nvPr/>
        </p:nvSpPr>
        <p:spPr>
          <a:xfrm>
            <a:off x="6269013" y="3968626"/>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Robustez limitada</a:t>
            </a:r>
            <a:endParaRPr lang="en-US" sz="1200" dirty="0"/>
          </a:p>
        </p:txBody>
      </p:sp>
      <p:sp>
        <p:nvSpPr>
          <p:cNvPr id="26" name="Text 24"/>
          <p:cNvSpPr/>
          <p:nvPr/>
        </p:nvSpPr>
        <p:spPr>
          <a:xfrm>
            <a:off x="6269013" y="4202162"/>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Las variantes comparten vectorizador y muestra; Dinero aporta solo 13 años.</a:t>
            </a:r>
            <a:endParaRPr lang="en-US" sz="1200" dirty="0"/>
          </a:p>
        </p:txBody>
      </p:sp>
      <p:sp>
        <p:nvSpPr>
          <p:cNvPr id="27" name="Shape 25"/>
          <p:cNvSpPr/>
          <p:nvPr/>
        </p:nvSpPr>
        <p:spPr>
          <a:xfrm>
            <a:off x="815901" y="4777085"/>
            <a:ext cx="5238849" cy="806872"/>
          </a:xfrm>
          <a:prstGeom prst="roundRect">
            <a:avLst>
              <a:gd name="adj" fmla="val 12198"/>
            </a:avLst>
          </a:prstGeom>
          <a:solidFill>
            <a:srgbClr val="FFFDF8"/>
          </a:solidFill>
          <a:ln w="6350">
            <a:solidFill>
              <a:srgbClr val="DDD7C8"/>
            </a:solidFill>
            <a:prstDash val="solid"/>
          </a:ln>
        </p:spPr>
      </p:sp>
      <p:sp>
        <p:nvSpPr>
          <p:cNvPr id="28" name="Text 26"/>
          <p:cNvSpPr/>
          <p:nvPr/>
        </p:nvSpPr>
        <p:spPr>
          <a:xfrm>
            <a:off x="947663" y="4857998"/>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Embeddings</a:t>
            </a:r>
            <a:endParaRPr lang="en-US" sz="1200" dirty="0"/>
          </a:p>
        </p:txBody>
      </p:sp>
      <p:sp>
        <p:nvSpPr>
          <p:cNvPr id="29" name="Text 27"/>
          <p:cNvSpPr/>
          <p:nvPr/>
        </p:nvSpPr>
        <p:spPr>
          <a:xfrm>
            <a:off x="947663" y="5091534"/>
            <a:ext cx="5124584"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Modelo pequeño, 700 caracteres y ~4.000 documentos: no concluyente sobre su valor semántico.</a:t>
            </a:r>
            <a:endParaRPr lang="en-US" sz="1200" dirty="0"/>
          </a:p>
        </p:txBody>
      </p:sp>
      <p:sp>
        <p:nvSpPr>
          <p:cNvPr id="30" name="Shape 28"/>
          <p:cNvSpPr/>
          <p:nvPr/>
        </p:nvSpPr>
        <p:spPr>
          <a:xfrm>
            <a:off x="6137250" y="4777085"/>
            <a:ext cx="5238849" cy="806872"/>
          </a:xfrm>
          <a:prstGeom prst="roundRect">
            <a:avLst>
              <a:gd name="adj" fmla="val 12198"/>
            </a:avLst>
          </a:prstGeom>
          <a:solidFill>
            <a:srgbClr val="FFFDF8"/>
          </a:solidFill>
          <a:ln w="6350">
            <a:solidFill>
              <a:srgbClr val="DDD7C8"/>
            </a:solidFill>
            <a:prstDash val="solid"/>
          </a:ln>
        </p:spPr>
      </p:sp>
      <p:sp>
        <p:nvSpPr>
          <p:cNvPr id="31" name="Text 29"/>
          <p:cNvSpPr/>
          <p:nvPr/>
        </p:nvSpPr>
        <p:spPr>
          <a:xfrm>
            <a:off x="6269013" y="4857998"/>
            <a:ext cx="5124584" cy="208211"/>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F5A7E"/>
                </a:solidFill>
                <a:latin typeface="Inter" pitchFamily="34" charset="0"/>
                <a:ea typeface="Inter" pitchFamily="34" charset="-122"/>
                <a:cs typeface="Inter" pitchFamily="34" charset="-120"/>
              </a:rPr>
              <a:t>Contraste histórico</a:t>
            </a:r>
            <a:endParaRPr lang="en-US" sz="1200" dirty="0"/>
          </a:p>
        </p:txBody>
      </p:sp>
      <p:sp>
        <p:nvSpPr>
          <p:cNvPr id="32" name="Text 30"/>
          <p:cNvSpPr/>
          <p:nvPr/>
        </p:nvSpPr>
        <p:spPr>
          <a:xfrm>
            <a:off x="6269013" y="5091534"/>
            <a:ext cx="5124584"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Con ±1 año y 9 eventos el azar ya da 2,5 de 3: ilustra, no prueba.</a:t>
            </a:r>
            <a:endParaRPr lang="en-US" sz="1200" dirty="0"/>
          </a:p>
        </p:txBody>
      </p:sp>
      <p:sp>
        <p:nvSpPr>
          <p:cNvPr id="33" name="Text 3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Cada una acota lo que se puede afirmar · informe, sección 12.2</a:t>
            </a:r>
            <a:endParaRPr lang="en-US" sz="1200" dirty="0"/>
          </a:p>
        </p:txBody>
      </p:sp>
      <p:sp>
        <p:nvSpPr>
          <p:cNvPr id="34" name="Text 3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301104"/>
          </a:xfrm>
          <a:prstGeom prst="rect">
            <a:avLst/>
          </a:prstGeom>
          <a:noFill/>
          <a:ln/>
        </p:spPr>
        <p:txBody>
          <a:bodyPr wrap="square" lIns="0" tIns="0" rIns="0" bIns="0" rtlCol="0" anchor="t">
            <a:normAutofit/>
          </a:bodyPr>
          <a:lstStyle/>
          <a:p>
            <a:pPr algn="l" indent="0" marL="0">
              <a:lnSpc>
                <a:spcPts val="2175"/>
              </a:lnSpc>
              <a:buNone/>
            </a:pPr>
            <a:r>
              <a:rPr lang="en-US" sz="1977" b="1" i="0" dirty="0">
                <a:solidFill>
                  <a:srgbClr val="1B2430"/>
                </a:solidFill>
                <a:latin typeface="Source Serif 4" pitchFamily="18" charset="0"/>
                <a:ea typeface="Source Serif 4" pitchFamily="18" charset="-122"/>
                <a:cs typeface="Source Serif 4" pitchFamily="18" charset="-120"/>
              </a:rPr>
              <a:t>Mejoras propuestas, por impacto y esfuerzo</a:t>
            </a:r>
            <a:endParaRPr lang="en-US" sz="1977"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0663" y="1096367"/>
          <a:ext cx="10558611" cy="4745633"/>
        </p:xfrm>
        <a:graphic>
          <a:graphicData uri="http://schemas.openxmlformats.org/drawingml/2006/table">
            <a:tbl>
              <a:tblPr/>
              <a:tblGrid>
                <a:gridCol w="2639653"/>
                <a:gridCol w="2639653"/>
                <a:gridCol w="2639653"/>
                <a:gridCol w="2639653"/>
              </a:tblGrid>
              <a:tr h="263550">
                <a:tc>
                  <a:txBody>
                    <a:bodyPr/>
                    <a:lstStyle/>
                    <a:p>
                      <a:pPr indent="0" marL="0">
                        <a:lnSpc>
                          <a:spcPts val="1360"/>
                        </a:lnSpc>
                        <a:buNone/>
                      </a:pPr>
                      <a:r>
                        <a:rPr lang="en-US" sz="971" b="1" dirty="0">
                          <a:solidFill>
                            <a:srgbClr val="F6F3EC"/>
                          </a:solidFill>
                          <a:latin typeface="Inter" pitchFamily="34" charset="0"/>
                          <a:ea typeface="Inter" pitchFamily="34" charset="-122"/>
                          <a:cs typeface="Inter" pitchFamily="34" charset="-120"/>
                        </a:rPr>
                        <a:t>#</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360"/>
                        </a:lnSpc>
                        <a:buNone/>
                      </a:pPr>
                      <a:r>
                        <a:rPr lang="en-US" sz="971" b="1" dirty="0">
                          <a:solidFill>
                            <a:srgbClr val="F6F3EC"/>
                          </a:solidFill>
                          <a:latin typeface="Inter" pitchFamily="34" charset="0"/>
                          <a:ea typeface="Inter" pitchFamily="34" charset="-122"/>
                          <a:cs typeface="Inter" pitchFamily="34" charset="-120"/>
                        </a:rPr>
                        <a:t>Mejora</a:t>
                      </a:r>
                      <a:endParaRPr lang="en-US" sz="971"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360"/>
                        </a:lnSpc>
                        <a:buNone/>
                      </a:pPr>
                      <a:r>
                        <a:rPr lang="en-US" sz="971" b="1" dirty="0">
                          <a:solidFill>
                            <a:srgbClr val="F6F3EC"/>
                          </a:solidFill>
                          <a:latin typeface="Inter" pitchFamily="34" charset="0"/>
                          <a:ea typeface="Inter" pitchFamily="34" charset="-122"/>
                          <a:cs typeface="Inter" pitchFamily="34" charset="-120"/>
                        </a:rPr>
                        <a:t>Qué resuelve</a:t>
                      </a:r>
                      <a:endParaRPr lang="en-US" sz="971"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c>
                  <a:txBody>
                    <a:bodyPr/>
                    <a:lstStyle/>
                    <a:p>
                      <a:pPr indent="0" marL="0">
                        <a:lnSpc>
                          <a:spcPts val="1360"/>
                        </a:lnSpc>
                        <a:buNone/>
                      </a:pPr>
                      <a:r>
                        <a:rPr lang="en-US" sz="971" b="1" dirty="0">
                          <a:solidFill>
                            <a:srgbClr val="F6F3EC"/>
                          </a:solidFill>
                          <a:latin typeface="Inter" pitchFamily="34" charset="0"/>
                          <a:ea typeface="Inter" pitchFamily="34" charset="-122"/>
                          <a:cs typeface="Inter" pitchFamily="34" charset="-120"/>
                        </a:rPr>
                        <a:t>Esfuerzo</a:t>
                      </a:r>
                      <a:endParaRPr lang="en-US" sz="971" dirty="0">
                        <a:latin typeface="Inter" charset="0"/>
                        <a:ea typeface="Inter" charset="0"/>
                        <a:cs typeface="Inter" charset="0"/>
                      </a:endParaRPr>
                    </a:p>
                  </a:txBody>
                  <a:tcPr marL="88900" marR="88900" marT="50800" marB="50800" anchor="t">
                    <a:lnL w="12700" cap="flat" cmpd="sng" algn="ctr">
                      <a:solidFill>
                        <a:srgbClr val="B6B4AF"/>
                      </a:solidFill>
                      <a:prstDash val="solid"/>
                      <a:round/>
                      <a:headEnd type="none" w="med" len="med"/>
                      <a:tailEnd type="none" w="med" len="med"/>
                    </a:lnL>
                    <a:lnR w="12700" cap="flat" cmpd="sng" algn="ctr">
                      <a:solidFill>
                        <a:srgbClr val="B6B4AF"/>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6B4AF"/>
                      </a:solidFill>
                      <a:prstDash val="solid"/>
                      <a:round/>
                      <a:headEnd type="none" w="med" len="med"/>
                      <a:tailEnd type="none" w="med" len="med"/>
                    </a:lnB>
                    <a:solidFill>
                      <a:srgbClr val="E4E1DB"/>
                    </a:solidFill>
                  </a:tcPr>
                </a:tc>
              </a:tr>
              <a:tr h="570756">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1</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Excluir o reagrupar tópicos de estilo (T00, T18, T31, T37) y fusionar los de mercados antes de medir JS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Cambios de formato leídos como agenda</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Bajo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6B4AF"/>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70756">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2</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Verificar 1999 y 2006 contra el archivo: documentos por sección y año, longitud media</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¿Editorial, de archivo o de agenda?</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Medio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17711">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3</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Modelo con covariables (STM) con fuente y año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Separa efecto de fuente y de tiempo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Alto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17711">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4</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Lematización con spaCy y bigramas NPMI como rasgos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Reduce dispersión; recupera expresiones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Medio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17711">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5</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BERTopic o clustering sobre embeddings (GPU), comparado con NMF</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¿Los cambios dependen del modelo?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Medio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17711">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6</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Resolución trimestral con el mismo nulo; PELT en vez de segmentación binaria</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Cambios rápidos; evita escalones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Medio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17711">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7</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Bootstrap por prevalencia y corrección por pruebas múltiples en el umbral</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Incertidumbre de cada año y cambio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Bajo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70756">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8</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Codificar a mano ~300 documentos (códigos CAP) y medir acuerdo con tópicos y léxico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Validez de los tópicos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Alto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417711">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9</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Deduplicación más robusta (MinHash, varios umbrales)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Quita el ~1 % de casi‑duplicados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Bajo</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263550">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10</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Incorporar más fuentes para los años 80</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Responder para 1980–1989</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1360"/>
                        </a:lnSpc>
                        <a:buNone/>
                      </a:pPr>
                      <a:r>
                        <a:rPr lang="en-US" sz="971" dirty="0">
                          <a:solidFill>
                            <a:srgbClr val="1B2430"/>
                          </a:solidFill>
                          <a:latin typeface="Inter" pitchFamily="34" charset="0"/>
                          <a:ea typeface="Inter" pitchFamily="34" charset="-122"/>
                          <a:cs typeface="Inter" pitchFamily="34" charset="-120"/>
                        </a:rPr>
                        <a:t>Alto (datos)</a:t>
                      </a:r>
                      <a:endParaRPr lang="en-US" sz="971" dirty="0">
                        <a:latin typeface="Inter" charset="0"/>
                        <a:ea typeface="Inter" charset="0"/>
                        <a:cs typeface="Inter" charset="0"/>
                      </a:endParaRPr>
                    </a:p>
                  </a:txBody>
                  <a:tcPr marL="88900" marR="88900" marT="50800" marB="508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Las que más cambiarían las conclusiones separan agenda de cobertura · informe, sección 13</a:t>
            </a:r>
            <a:endParaRPr lang="en-US" sz="1200" dirty="0"/>
          </a:p>
        </p:txBody>
      </p:sp>
      <p:sp>
        <p:nvSpPr>
          <p:cNvPr id="5" name="Text 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16446"/>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B2430"/>
                </a:solidFill>
                <a:latin typeface="Source Serif 4" pitchFamily="18" charset="0"/>
                <a:ea typeface="Source Serif 4" pitchFamily="18" charset="-122"/>
                <a:cs typeface="Source Serif 4" pitchFamily="18" charset="-120"/>
              </a:rPr>
              <a:t>Reproducibilidad y repositorio</a:t>
            </a:r>
            <a:endParaRPr lang="en-US" sz="2800" dirty="0"/>
          </a:p>
        </p:txBody>
      </p:sp>
      <p:sp>
        <p:nvSpPr>
          <p:cNvPr id="3" name="Shape 1"/>
          <p:cNvSpPr/>
          <p:nvPr/>
        </p:nvSpPr>
        <p:spPr>
          <a:xfrm>
            <a:off x="815901" y="1257672"/>
            <a:ext cx="5918994" cy="3883769"/>
          </a:xfrm>
          <a:prstGeom prst="roundRect">
            <a:avLst>
              <a:gd name="adj" fmla="val 2534"/>
            </a:avLst>
          </a:prstGeom>
          <a:solidFill>
            <a:srgbClr val="FFFFFF"/>
          </a:solidFill>
          <a:ln w="6350">
            <a:solidFill>
              <a:srgbClr val="DDD7C8"/>
            </a:solidFill>
            <a:prstDash val="solid"/>
          </a:ln>
        </p:spPr>
      </p:sp>
      <p:sp>
        <p:nvSpPr>
          <p:cNvPr id="4" name="Shape 2"/>
          <p:cNvSpPr/>
          <p:nvPr/>
        </p:nvSpPr>
        <p:spPr>
          <a:xfrm>
            <a:off x="6918970" y="1257672"/>
            <a:ext cx="4457129" cy="1299741"/>
          </a:xfrm>
          <a:prstGeom prst="roundRect">
            <a:avLst>
              <a:gd name="adj" fmla="val 7573"/>
            </a:avLst>
          </a:prstGeom>
          <a:solidFill>
            <a:srgbClr val="FFFDF8"/>
          </a:solidFill>
          <a:ln w="6350">
            <a:solidFill>
              <a:srgbClr val="DDD7C8"/>
            </a:solidFill>
            <a:prstDash val="solid"/>
          </a:ln>
        </p:spPr>
      </p:sp>
      <p:sp>
        <p:nvSpPr>
          <p:cNvPr id="5" name="Text 3"/>
          <p:cNvSpPr/>
          <p:nvPr/>
        </p:nvSpPr>
        <p:spPr>
          <a:xfrm>
            <a:off x="7063383" y="1364010"/>
            <a:ext cx="429335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Orden de ejecución</a:t>
            </a:r>
            <a:endParaRPr lang="en-US" sz="1400" dirty="0"/>
          </a:p>
        </p:txBody>
      </p:sp>
      <p:sp>
        <p:nvSpPr>
          <p:cNvPr id="6" name="Text 4"/>
          <p:cNvSpPr/>
          <p:nvPr/>
        </p:nvSpPr>
        <p:spPr>
          <a:xfrm>
            <a:off x="7063383" y="1628056"/>
            <a:ext cx="4293353" cy="84842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B2430"/>
                </a:solidFill>
                <a:latin typeface="Inter" pitchFamily="34" charset="0"/>
                <a:ea typeface="Inter" pitchFamily="34" charset="-122"/>
                <a:cs typeface="Inter" pitchFamily="34" charset="-120"/>
              </a:rPr>
              <a:t>05</a:t>
            </a:r>
            <a:r>
              <a:rPr lang="en-US" sz="1200" dirty="0">
                <a:solidFill>
                  <a:srgbClr val="1B2430"/>
                </a:solidFill>
                <a:latin typeface="Inter" pitchFamily="34" charset="0"/>
                <a:ea typeface="Inter" pitchFamily="34" charset="-122"/>
                <a:cs typeface="Inter" pitchFamily="34" charset="-120"/>
              </a:rPr>
              <a:t> (EDA y dataset medido) → </a:t>
            </a:r>
            <a:r>
              <a:rPr lang="en-US" sz="1200" b="1" dirty="0">
                <a:solidFill>
                  <a:srgbClr val="1B2430"/>
                </a:solidFill>
                <a:latin typeface="Inter" pitchFamily="34" charset="0"/>
                <a:ea typeface="Inter" pitchFamily="34" charset="-122"/>
                <a:cs typeface="Inter" pitchFamily="34" charset="-120"/>
              </a:rPr>
              <a:t>06</a:t>
            </a:r>
            <a:r>
              <a:rPr lang="en-US" sz="1200" dirty="0">
                <a:solidFill>
                  <a:srgbClr val="1B2430"/>
                </a:solidFill>
                <a:latin typeface="Inter" pitchFamily="34" charset="0"/>
                <a:ea typeface="Inter" pitchFamily="34" charset="-122"/>
                <a:cs typeface="Inter" pitchFamily="34" charset="-120"/>
              </a:rPr>
              <a:t> (representación, tópicos, estabilidad, cambios, contraste). Cada uno carga el corpus por su cuenta; deterministas con SEED = 42, salvo los embeddings en GPU.</a:t>
            </a:r>
            <a:endParaRPr lang="en-US" sz="1200" dirty="0"/>
          </a:p>
        </p:txBody>
      </p:sp>
      <p:sp>
        <p:nvSpPr>
          <p:cNvPr id="7" name="Shape 5"/>
          <p:cNvSpPr/>
          <p:nvPr/>
        </p:nvSpPr>
        <p:spPr>
          <a:xfrm>
            <a:off x="6918970" y="2652564"/>
            <a:ext cx="4457129" cy="1093986"/>
          </a:xfrm>
          <a:prstGeom prst="roundRect">
            <a:avLst>
              <a:gd name="adj" fmla="val 8997"/>
            </a:avLst>
          </a:prstGeom>
          <a:solidFill>
            <a:srgbClr val="FFFDF8"/>
          </a:solidFill>
          <a:ln w="6350">
            <a:solidFill>
              <a:srgbClr val="DDD7C8"/>
            </a:solidFill>
            <a:prstDash val="solid"/>
          </a:ln>
        </p:spPr>
      </p:sp>
      <p:sp>
        <p:nvSpPr>
          <p:cNvPr id="8" name="Text 6"/>
          <p:cNvSpPr/>
          <p:nvPr/>
        </p:nvSpPr>
        <p:spPr>
          <a:xfrm>
            <a:off x="7063383" y="2758901"/>
            <a:ext cx="429335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Colab gratis</a:t>
            </a:r>
            <a:endParaRPr lang="en-US" sz="1400" dirty="0"/>
          </a:p>
        </p:txBody>
      </p:sp>
      <p:sp>
        <p:nvSpPr>
          <p:cNvPr id="9" name="Text 7"/>
          <p:cNvSpPr/>
          <p:nvPr/>
        </p:nvSpPr>
        <p:spPr>
          <a:xfrm>
            <a:off x="7063383" y="3022947"/>
            <a:ext cx="4293353"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~5 minutos por cuaderno con GPU T4 (la GPU solo acelera los embeddings). El corpus se descarga con verificación SHA‑256 desde la release </a:t>
            </a:r>
            <a:r>
              <a:rPr lang="en-US" sz="1200" b="1" dirty="0">
                <a:solidFill>
                  <a:srgbClr val="1B2430"/>
                </a:solidFill>
                <a:latin typeface="Inter" pitchFamily="34" charset="0"/>
                <a:ea typeface="Inter" pitchFamily="34" charset="-122"/>
                <a:cs typeface="Inter" pitchFamily="34" charset="-120"/>
              </a:rPr>
              <a:t>corpus-v1</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0" name="Shape 8"/>
          <p:cNvSpPr/>
          <p:nvPr/>
        </p:nvSpPr>
        <p:spPr>
          <a:xfrm>
            <a:off x="6918970" y="3841700"/>
            <a:ext cx="4457129" cy="1299741"/>
          </a:xfrm>
          <a:prstGeom prst="roundRect">
            <a:avLst>
              <a:gd name="adj" fmla="val 7573"/>
            </a:avLst>
          </a:prstGeom>
          <a:solidFill>
            <a:srgbClr val="FFFDF8"/>
          </a:solidFill>
          <a:ln w="6350">
            <a:solidFill>
              <a:srgbClr val="DDD7C8"/>
            </a:solidFill>
            <a:prstDash val="solid"/>
          </a:ln>
        </p:spPr>
      </p:sp>
      <p:sp>
        <p:nvSpPr>
          <p:cNvPr id="11" name="Text 9"/>
          <p:cNvSpPr/>
          <p:nvPr/>
        </p:nvSpPr>
        <p:spPr>
          <a:xfrm>
            <a:off x="7063383" y="3948038"/>
            <a:ext cx="429335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F5A7E"/>
                </a:solidFill>
                <a:latin typeface="Inter" pitchFamily="34" charset="0"/>
                <a:ea typeface="Inter" pitchFamily="34" charset="-122"/>
                <a:cs typeface="Inter" pitchFamily="34" charset="-120"/>
              </a:rPr>
              <a:t>Qué se versiona</a:t>
            </a:r>
            <a:endParaRPr lang="en-US" sz="1400" dirty="0"/>
          </a:p>
        </p:txBody>
      </p:sp>
      <p:sp>
        <p:nvSpPr>
          <p:cNvPr id="12" name="Text 10"/>
          <p:cNvSpPr/>
          <p:nvPr/>
        </p:nvSpPr>
        <p:spPr>
          <a:xfrm>
            <a:off x="7063383" y="4212084"/>
            <a:ext cx="4293353" cy="84842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Cuadernos, utils.py, CSV y figuras de results/ (theta ≈ 4 MB) e informe. </a:t>
            </a:r>
            <a:r>
              <a:rPr lang="en-US" sz="1200" b="1" dirty="0">
                <a:solidFill>
                  <a:srgbClr val="1B2430"/>
                </a:solidFill>
                <a:latin typeface="Inter" pitchFamily="34" charset="0"/>
                <a:ea typeface="Inter" pitchFamily="34" charset="-122"/>
                <a:cs typeface="Inter" pitchFamily="34" charset="-120"/>
              </a:rPr>
              <a:t>No</a:t>
            </a:r>
            <a:r>
              <a:rPr lang="en-US" sz="1200" dirty="0">
                <a:solidFill>
                  <a:srgbClr val="1B2430"/>
                </a:solidFill>
                <a:latin typeface="Inter" pitchFamily="34" charset="0"/>
                <a:ea typeface="Inter" pitchFamily="34" charset="-122"/>
                <a:cs typeface="Inter" pitchFamily="34" charset="-120"/>
              </a:rPr>
              <a:t>: el parquet del corpus ni </a:t>
            </a:r>
            <a:r>
              <a:rPr lang="en-US" sz="1200" b="1" dirty="0">
                <a:solidFill>
                  <a:srgbClr val="1B2430"/>
                </a:solidFill>
                <a:latin typeface="Inter" pitchFamily="34" charset="0"/>
                <a:ea typeface="Inter" pitchFamily="34" charset="-122"/>
                <a:cs typeface="Inter" pitchFamily="34" charset="-120"/>
              </a:rPr>
              <a:t>corpus_medido.parquet</a:t>
            </a:r>
            <a:r>
              <a:rPr lang="en-US" sz="1200" dirty="0">
                <a:solidFill>
                  <a:srgbClr val="1B2430"/>
                </a:solidFill>
                <a:latin typeface="Inter" pitchFamily="34" charset="0"/>
                <a:ea typeface="Inter" pitchFamily="34" charset="-122"/>
                <a:cs typeface="Inter" pitchFamily="34" charset="-120"/>
              </a:rPr>
              <a:t> (asset de la release dataset-medido-v1).</a:t>
            </a:r>
            <a:endParaRPr lang="en-US" sz="1200" dirty="0"/>
          </a:p>
        </p:txBody>
      </p:sp>
      <p:sp>
        <p:nvSpPr>
          <p:cNvPr id="13" name="Text 11"/>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github.com/CASDAV/proyecto-pln · informe, sección 14</a:t>
            </a:r>
            <a:endParaRPr lang="en-US" sz="1200" dirty="0"/>
          </a:p>
        </p:txBody>
      </p:sp>
      <p:sp>
        <p:nvSpPr>
          <p:cNvPr id="14" name="Text 12"/>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726" y="711150"/>
            <a:ext cx="10883545" cy="444475"/>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B2430"/>
                </a:solidFill>
                <a:latin typeface="Source Serif 4" pitchFamily="18" charset="0"/>
                <a:ea typeface="Source Serif 4" pitchFamily="18" charset="-122"/>
                <a:cs typeface="Source Serif 4" pitchFamily="18" charset="-120"/>
              </a:rPr>
              <a:t>Anexo: referencias</a:t>
            </a:r>
            <a:endParaRPr lang="en-US" sz="3000" dirty="0"/>
          </a:p>
        </p:txBody>
      </p:sp>
      <p:sp>
        <p:nvSpPr>
          <p:cNvPr id="3" name="Text 1"/>
          <p:cNvSpPr/>
          <p:nvPr/>
        </p:nvSpPr>
        <p:spPr>
          <a:xfrm>
            <a:off x="812726" y="1333376"/>
            <a:ext cx="5284775"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Baumgartner, F. y Jones, B. (1993). </a:t>
            </a:r>
            <a:r>
              <a:rPr lang="en-US" sz="1200" i="1" dirty="0">
                <a:solidFill>
                  <a:srgbClr val="1B2430"/>
                </a:solidFill>
                <a:latin typeface="Inter" pitchFamily="34" charset="0"/>
                <a:ea typeface="Inter" pitchFamily="34" charset="-122"/>
                <a:cs typeface="Inter" pitchFamily="34" charset="-120"/>
              </a:rPr>
              <a:t>Agendas and Instability in American Politics</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4" name="Text 2"/>
          <p:cNvSpPr/>
          <p:nvPr/>
        </p:nvSpPr>
        <p:spPr>
          <a:xfrm>
            <a:off x="812726" y="1833687"/>
            <a:ext cx="5435575"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Blei, D., Ng, A. y Jordan, M. (2003). Latent Dirichlet Allocation. </a:t>
            </a:r>
            <a:r>
              <a:rPr lang="en-US" sz="1200" i="1" dirty="0">
                <a:solidFill>
                  <a:srgbClr val="1B2430"/>
                </a:solidFill>
                <a:latin typeface="Inter" pitchFamily="34" charset="0"/>
                <a:ea typeface="Inter" pitchFamily="34" charset="-122"/>
                <a:cs typeface="Inter" pitchFamily="34" charset="-120"/>
              </a:rPr>
              <a:t>JMLR</a:t>
            </a:r>
            <a:r>
              <a:rPr lang="en-US" sz="1200" dirty="0">
                <a:solidFill>
                  <a:srgbClr val="1B2430"/>
                </a:solidFill>
                <a:latin typeface="Inter" pitchFamily="34" charset="0"/>
                <a:ea typeface="Inter" pitchFamily="34" charset="-122"/>
                <a:cs typeface="Inter" pitchFamily="34" charset="-120"/>
              </a:rPr>
              <a:t> 3.</a:t>
            </a:r>
            <a:endParaRPr lang="en-US" sz="1200" dirty="0"/>
          </a:p>
        </p:txBody>
      </p:sp>
      <p:sp>
        <p:nvSpPr>
          <p:cNvPr id="5" name="Text 3"/>
          <p:cNvSpPr/>
          <p:nvPr/>
        </p:nvSpPr>
        <p:spPr>
          <a:xfrm>
            <a:off x="812726" y="2128242"/>
            <a:ext cx="5284775"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Blei, D. y Lafferty, J. (2006). Dynamic topic models. </a:t>
            </a:r>
            <a:r>
              <a:rPr lang="en-US" sz="1200" i="1" dirty="0">
                <a:solidFill>
                  <a:srgbClr val="1B2430"/>
                </a:solidFill>
                <a:latin typeface="Inter" pitchFamily="34" charset="0"/>
                <a:ea typeface="Inter" pitchFamily="34" charset="-122"/>
                <a:cs typeface="Inter" pitchFamily="34" charset="-120"/>
              </a:rPr>
              <a:t>ICML</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6" name="Text 4"/>
          <p:cNvSpPr/>
          <p:nvPr/>
        </p:nvSpPr>
        <p:spPr>
          <a:xfrm>
            <a:off x="812726" y="2422798"/>
            <a:ext cx="5284775" cy="64266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Caicedo, Gaviria y Moreno (2012). Hechos y palabras: la realidad colombiana vista a través de la prensa escrita. </a:t>
            </a:r>
            <a:r>
              <a:rPr lang="en-US" sz="1200" i="1" dirty="0">
                <a:solidFill>
                  <a:srgbClr val="1B2430"/>
                </a:solidFill>
                <a:latin typeface="Inter" pitchFamily="34" charset="0"/>
                <a:ea typeface="Inter" pitchFamily="34" charset="-122"/>
                <a:cs typeface="Inter" pitchFamily="34" charset="-120"/>
              </a:rPr>
              <a:t>Rev. Economía Institucional</a:t>
            </a:r>
            <a:r>
              <a:rPr lang="en-US" sz="1200" dirty="0">
                <a:solidFill>
                  <a:srgbClr val="1B2430"/>
                </a:solidFill>
                <a:latin typeface="Inter" pitchFamily="34" charset="0"/>
                <a:ea typeface="Inter" pitchFamily="34" charset="-122"/>
                <a:cs typeface="Inter" pitchFamily="34" charset="-120"/>
              </a:rPr>
              <a:t> 14(26).</a:t>
            </a:r>
            <a:endParaRPr lang="en-US" sz="1200" dirty="0"/>
          </a:p>
        </p:txBody>
      </p:sp>
      <p:sp>
        <p:nvSpPr>
          <p:cNvPr id="7" name="Text 5"/>
          <p:cNvSpPr/>
          <p:nvPr/>
        </p:nvSpPr>
        <p:spPr>
          <a:xfrm>
            <a:off x="812726" y="3128863"/>
            <a:ext cx="5284775"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Grootendorst, M. (2022). BERTopic. </a:t>
            </a:r>
            <a:r>
              <a:rPr lang="en-US" sz="1200" i="1" dirty="0">
                <a:solidFill>
                  <a:srgbClr val="1B2430"/>
                </a:solidFill>
                <a:latin typeface="Inter" pitchFamily="34" charset="0"/>
                <a:ea typeface="Inter" pitchFamily="34" charset="-122"/>
                <a:cs typeface="Inter" pitchFamily="34" charset="-120"/>
              </a:rPr>
              <a:t>arXiv</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8" name="Text 6"/>
          <p:cNvSpPr/>
          <p:nvPr/>
        </p:nvSpPr>
        <p:spPr>
          <a:xfrm>
            <a:off x="812726" y="3423419"/>
            <a:ext cx="5284775"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Hamilton, Leskovec y Jurafsky (2016). Diachronic word embeddings reveal statistical laws of semantic change. </a:t>
            </a:r>
            <a:r>
              <a:rPr lang="en-US" sz="1200" i="1" dirty="0">
                <a:solidFill>
                  <a:srgbClr val="1B2430"/>
                </a:solidFill>
                <a:latin typeface="Inter" pitchFamily="34" charset="0"/>
                <a:ea typeface="Inter" pitchFamily="34" charset="-122"/>
                <a:cs typeface="Inter" pitchFamily="34" charset="-120"/>
              </a:rPr>
              <a:t>ACL</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9" name="Text 7"/>
          <p:cNvSpPr/>
          <p:nvPr/>
        </p:nvSpPr>
        <p:spPr>
          <a:xfrm>
            <a:off x="6248301" y="1333376"/>
            <a:ext cx="5284903"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Killick, Fearnhead y Eckley (2012). Optimal detection of changepoints with a linear computational cost. </a:t>
            </a:r>
            <a:r>
              <a:rPr lang="en-US" sz="1200" i="1" dirty="0">
                <a:solidFill>
                  <a:srgbClr val="1B2430"/>
                </a:solidFill>
                <a:latin typeface="Inter" pitchFamily="34" charset="0"/>
                <a:ea typeface="Inter" pitchFamily="34" charset="-122"/>
                <a:cs typeface="Inter" pitchFamily="34" charset="-120"/>
              </a:rPr>
              <a:t>JASA</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0" name="Text 8"/>
          <p:cNvSpPr/>
          <p:nvPr/>
        </p:nvSpPr>
        <p:spPr>
          <a:xfrm>
            <a:off x="6248301" y="1833687"/>
            <a:ext cx="5943699"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Kleinberg, J. (2002). Bursty and hierarchical structure in streams. </a:t>
            </a:r>
            <a:r>
              <a:rPr lang="en-US" sz="1200" i="1" dirty="0">
                <a:solidFill>
                  <a:srgbClr val="1B2430"/>
                </a:solidFill>
                <a:latin typeface="Inter" pitchFamily="34" charset="0"/>
                <a:ea typeface="Inter" pitchFamily="34" charset="-122"/>
                <a:cs typeface="Inter" pitchFamily="34" charset="-120"/>
              </a:rPr>
              <a:t>KDD</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1" name="Text 9"/>
          <p:cNvSpPr/>
          <p:nvPr/>
        </p:nvSpPr>
        <p:spPr>
          <a:xfrm>
            <a:off x="6248301" y="2128242"/>
            <a:ext cx="5284903"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Lee, D. y Seung, H. (1999). Learning the parts of objects by non‑negative matrix factorization. </a:t>
            </a:r>
            <a:r>
              <a:rPr lang="en-US" sz="1200" i="1" dirty="0">
                <a:solidFill>
                  <a:srgbClr val="1B2430"/>
                </a:solidFill>
                <a:latin typeface="Inter" pitchFamily="34" charset="0"/>
                <a:ea typeface="Inter" pitchFamily="34" charset="-122"/>
                <a:cs typeface="Inter" pitchFamily="34" charset="-120"/>
              </a:rPr>
              <a:t>Nature</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2" name="Text 10"/>
          <p:cNvSpPr/>
          <p:nvPr/>
        </p:nvSpPr>
        <p:spPr>
          <a:xfrm>
            <a:off x="6248301" y="2628553"/>
            <a:ext cx="5284903"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Lin, J. (1991). Divergence measures based on the Shannon entropy. </a:t>
            </a:r>
            <a:r>
              <a:rPr lang="en-US" sz="1200" i="1" dirty="0">
                <a:solidFill>
                  <a:srgbClr val="1B2430"/>
                </a:solidFill>
                <a:latin typeface="Inter" pitchFamily="34" charset="0"/>
                <a:ea typeface="Inter" pitchFamily="34" charset="-122"/>
                <a:cs typeface="Inter" pitchFamily="34" charset="-120"/>
              </a:rPr>
              <a:t>IEEE Trans. Inf. Theory</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3" name="Text 11"/>
          <p:cNvSpPr/>
          <p:nvPr/>
        </p:nvSpPr>
        <p:spPr>
          <a:xfrm>
            <a:off x="6248301" y="3128863"/>
            <a:ext cx="5284903"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Michel et al. (2011). Quantitative analysis of culture using millions of digitized books. </a:t>
            </a:r>
            <a:r>
              <a:rPr lang="en-US" sz="1200" i="1" dirty="0">
                <a:solidFill>
                  <a:srgbClr val="1B2430"/>
                </a:solidFill>
                <a:latin typeface="Inter" pitchFamily="34" charset="0"/>
                <a:ea typeface="Inter" pitchFamily="34" charset="-122"/>
                <a:cs typeface="Inter" pitchFamily="34" charset="-120"/>
              </a:rPr>
              <a:t>Science</a:t>
            </a:r>
            <a:r>
              <a:rPr lang="en-US" sz="1200" dirty="0">
                <a:solidFill>
                  <a:srgbClr val="1B2430"/>
                </a:solidFill>
                <a:latin typeface="Inter" pitchFamily="34" charset="0"/>
                <a:ea typeface="Inter" pitchFamily="34" charset="-122"/>
                <a:cs typeface="Inter" pitchFamily="34" charset="-120"/>
              </a:rPr>
              <a:t> 331.</a:t>
            </a:r>
            <a:endParaRPr lang="en-US" sz="1200" dirty="0"/>
          </a:p>
        </p:txBody>
      </p:sp>
      <p:sp>
        <p:nvSpPr>
          <p:cNvPr id="14" name="Text 12"/>
          <p:cNvSpPr/>
          <p:nvPr/>
        </p:nvSpPr>
        <p:spPr>
          <a:xfrm>
            <a:off x="6248301" y="3629174"/>
            <a:ext cx="5284903"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Monroe, Colaresi y Quinn (2008). Fightin' words. </a:t>
            </a:r>
            <a:r>
              <a:rPr lang="en-US" sz="1200" i="1" dirty="0">
                <a:solidFill>
                  <a:srgbClr val="1B2430"/>
                </a:solidFill>
                <a:latin typeface="Inter" pitchFamily="34" charset="0"/>
                <a:ea typeface="Inter" pitchFamily="34" charset="-122"/>
                <a:cs typeface="Inter" pitchFamily="34" charset="-120"/>
              </a:rPr>
              <a:t>Political Analysis</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5" name="Text 13"/>
          <p:cNvSpPr/>
          <p:nvPr/>
        </p:nvSpPr>
        <p:spPr>
          <a:xfrm>
            <a:off x="6248301" y="3923729"/>
            <a:ext cx="5284903" cy="231155"/>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Reimers, N. y Gurevych, I. (2019). Sentence‑BERT. </a:t>
            </a:r>
            <a:r>
              <a:rPr lang="en-US" sz="1200" i="1" dirty="0">
                <a:solidFill>
                  <a:srgbClr val="1B2430"/>
                </a:solidFill>
                <a:latin typeface="Inter" pitchFamily="34" charset="0"/>
                <a:ea typeface="Inter" pitchFamily="34" charset="-122"/>
                <a:cs typeface="Inter" pitchFamily="34" charset="-120"/>
              </a:rPr>
              <a:t>EMNLP</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6" name="Text 14"/>
          <p:cNvSpPr/>
          <p:nvPr/>
        </p:nvSpPr>
        <p:spPr>
          <a:xfrm>
            <a:off x="6248301" y="4218285"/>
            <a:ext cx="5284903" cy="43691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B2430"/>
                </a:solidFill>
                <a:latin typeface="Inter" pitchFamily="34" charset="0"/>
                <a:ea typeface="Inter" pitchFamily="34" charset="-122"/>
                <a:cs typeface="Inter" pitchFamily="34" charset="-120"/>
              </a:rPr>
              <a:t>Roberts et al. (2014). Structural topic models for open‑ended survey responses. </a:t>
            </a:r>
            <a:r>
              <a:rPr lang="en-US" sz="1200" i="1" dirty="0">
                <a:solidFill>
                  <a:srgbClr val="1B2430"/>
                </a:solidFill>
                <a:latin typeface="Inter" pitchFamily="34" charset="0"/>
                <a:ea typeface="Inter" pitchFamily="34" charset="-122"/>
                <a:cs typeface="Inter" pitchFamily="34" charset="-120"/>
              </a:rPr>
              <a:t>AJPS</a:t>
            </a:r>
            <a:r>
              <a:rPr lang="en-US" sz="1200" dirty="0">
                <a:solidFill>
                  <a:srgbClr val="1B2430"/>
                </a:solidFill>
                <a:latin typeface="Inter" pitchFamily="34" charset="0"/>
                <a:ea typeface="Inter" pitchFamily="34" charset="-122"/>
                <a:cs typeface="Inter" pitchFamily="34" charset="-120"/>
              </a:rPr>
              <a:t>.</a:t>
            </a:r>
            <a:endParaRPr lang="en-US" sz="1200" dirty="0"/>
          </a:p>
        </p:txBody>
      </p:sp>
      <p:sp>
        <p:nvSpPr>
          <p:cNvPr id="17" name="Text 15"/>
          <p:cNvSpPr/>
          <p:nvPr/>
        </p:nvSpPr>
        <p:spPr>
          <a:xfrm>
            <a:off x="812726" y="6238379"/>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0"/>
                </a:solidFill>
                <a:latin typeface="Inter" pitchFamily="34" charset="0"/>
                <a:ea typeface="Inter" pitchFamily="34" charset="-122"/>
                <a:cs typeface="Inter" pitchFamily="34" charset="-120"/>
              </a:rPr>
              <a:t>Repositorio: github.com/CASDAV/proyecto-pln</a:t>
            </a:r>
            <a:endParaRPr lang="en-US" sz="1200" dirty="0"/>
          </a:p>
        </p:txBody>
      </p:sp>
      <p:sp>
        <p:nvSpPr>
          <p:cNvPr id="18" name="Text 16"/>
          <p:cNvSpPr/>
          <p:nvPr/>
        </p:nvSpPr>
        <p:spPr>
          <a:xfrm>
            <a:off x="10820474" y="6238379"/>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470"/>
                </a:solidFill>
                <a:latin typeface="Inter" pitchFamily="34" charset="0"/>
                <a:ea typeface="Inter" pitchFamily="34" charset="-122"/>
                <a:cs typeface="Inter" pitchFamily="34" charset="-120"/>
              </a:rPr>
              <a:t>40</a:t>
            </a:r>
            <a:endParaRPr lang="en-US" sz="1200" dirty="0"/>
          </a:p>
        </p:txBody>
      </p:sp>
    </p:spTree>
  </p:cSld>
  <p:clrMapOvr>
    <a:masterClrMapping/>
  </p:clrMapOvr>
</p:sld>
</file>

<file path=ppt/theme/theme1.xml><?xml version="1.0" encoding="utf-8"?>
<a:theme xmlns:a="http://schemas.openxmlformats.org/drawingml/2006/main" name="Estabilidad de la agenda temática de la prensa colombiana (1980–2011)">
  <a:themeElements>
    <a:clrScheme name="Estabilidad de la agenda temática de la prensa colombiana (1980–2011)">
      <a:dk1>
        <a:srgbClr val="1B2430"/>
      </a:dk1>
      <a:lt1>
        <a:srgbClr val="F6F3EC"/>
      </a:lt1>
      <a:dk2>
        <a:srgbClr val="52585F"/>
      </a:dk2>
      <a:lt2>
        <a:srgbClr val="E0DED9"/>
      </a:lt2>
      <a:accent1>
        <a:srgbClr val="1F5A7E"/>
      </a:accent1>
      <a:accent2>
        <a:srgbClr val="E0A43A"/>
      </a:accent2>
      <a:accent3>
        <a:srgbClr val="A8402B"/>
      </a:accent3>
      <a:accent4>
        <a:srgbClr val="2A6F97"/>
      </a:accent4>
      <a:accent5>
        <a:srgbClr val="8A6414"/>
      </a:accent5>
      <a:accent6>
        <a:srgbClr val="5B6470"/>
      </a:accent6>
      <a:hlink>
        <a:srgbClr val="0563C1"/>
      </a:hlink>
      <a:folHlink>
        <a:srgbClr val="954F72"/>
      </a:folHlink>
    </a:clrScheme>
    <a:fontScheme name="Estabilidad de la agenda temática de la prensa colombiana (1980–2011)">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Estabilidad de la agenda temática de la prensa colombiana (1980–2011)</dc:title>
  <dc:subject/>
  <dc:creator/>
  <cp:lastModifiedBy/>
  <cp:revision>1</cp:revision>
  <dcterms:created xsi:type="dcterms:W3CDTF">2026-10-05T03:12:43Z</dcterms:created>
  <dcterms:modified xsi:type="dcterms:W3CDTF">2026-10-05T03:12:43Z</dcterms:modified>
</cp:coreProperties>
</file>