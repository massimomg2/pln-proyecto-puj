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408a5a36b2485e" /><Relationship Type="http://schemas.openxmlformats.org/officeDocument/2006/relationships/extended-properties" Target="/docProps/app.xml" Id="R3a355cc4c6464143" /><Relationship Type="http://schemas.openxmlformats.org/officeDocument/2006/relationships/officeDocument" Target="/ppt/presentation.xml" Id="R6ed2e327d78e4c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e011502e354f89"/>
  </p:sldMasterIdLst>
  <p:notesMasterIdLst>
    <p:notesMasterId xmlns:r="http://schemas.openxmlformats.org/officeDocument/2006/relationships" r:id="R30963bb56e2d48ab"/>
  </p:notesMasterIdLst>
  <p:sldIdLst>
    <p:sldId xmlns:r="http://schemas.openxmlformats.org/officeDocument/2006/relationships" id="256" r:id="R48db298c95024808"/>
    <p:sldId xmlns:r="http://schemas.openxmlformats.org/officeDocument/2006/relationships" id="257" r:id="R38fc0736a802449a"/>
    <p:sldId xmlns:r="http://schemas.openxmlformats.org/officeDocument/2006/relationships" id="258" r:id="Rc087380aa39c41b4"/>
    <p:sldId xmlns:r="http://schemas.openxmlformats.org/officeDocument/2006/relationships" id="259" r:id="R9db740eb5ca443b3"/>
    <p:sldId xmlns:r="http://schemas.openxmlformats.org/officeDocument/2006/relationships" id="260" r:id="R63c4cbb054c54f37"/>
    <p:sldId xmlns:r="http://schemas.openxmlformats.org/officeDocument/2006/relationships" id="261" r:id="Rd123e8c8639445df"/>
    <p:sldId xmlns:r="http://schemas.openxmlformats.org/officeDocument/2006/relationships" id="262" r:id="R679c1fc39fb14d74"/>
    <p:sldId xmlns:r="http://schemas.openxmlformats.org/officeDocument/2006/relationships" id="263" r:id="Rddde0d54ed9c446e"/>
    <p:sldId xmlns:r="http://schemas.openxmlformats.org/officeDocument/2006/relationships" id="264" r:id="R0a0a3f2f30e94e13"/>
    <p:sldId xmlns:r="http://schemas.openxmlformats.org/officeDocument/2006/relationships" id="265" r:id="R5e88fb2613314350"/>
    <p:sldId xmlns:r="http://schemas.openxmlformats.org/officeDocument/2006/relationships" id="266" r:id="R82237b6f119e4dd6"/>
    <p:sldId xmlns:r="http://schemas.openxmlformats.org/officeDocument/2006/relationships" id="267" r:id="R6cc3fc30e86b4a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a1f487332c4e13" /><Relationship Type="http://schemas.openxmlformats.org/officeDocument/2006/relationships/slideMaster" Target="/ppt/slideMasters/slideMaster1.xml" Id="R2ce011502e354f89" /><Relationship Type="http://schemas.openxmlformats.org/officeDocument/2006/relationships/notesMaster" Target="/ppt/notesMasters/notesMaster1.xml" Id="R30963bb56e2d48ab" /><Relationship Type="http://schemas.openxmlformats.org/officeDocument/2006/relationships/presProps" Target="/ppt/presProps.xml" Id="Raed1d70bfe3c479b" /><Relationship Type="http://schemas.openxmlformats.org/officeDocument/2006/relationships/tableStyles" Target="/ppt/tableStyles.xml" Id="Re27f00ebba6245f8" /><Relationship Type="http://schemas.openxmlformats.org/officeDocument/2006/relationships/slide" Target="/ppt/slides/slide1.xml" Id="R48db298c95024808" /><Relationship Type="http://schemas.openxmlformats.org/officeDocument/2006/relationships/slide" Target="/ppt/slides/slide2.xml" Id="R38fc0736a802449a" /><Relationship Type="http://schemas.openxmlformats.org/officeDocument/2006/relationships/slide" Target="/ppt/slides/slide3.xml" Id="Rc087380aa39c41b4" /><Relationship Type="http://schemas.openxmlformats.org/officeDocument/2006/relationships/slide" Target="/ppt/slides/slide4.xml" Id="R9db740eb5ca443b3" /><Relationship Type="http://schemas.openxmlformats.org/officeDocument/2006/relationships/slide" Target="/ppt/slides/slide5.xml" Id="R63c4cbb054c54f37" /><Relationship Type="http://schemas.openxmlformats.org/officeDocument/2006/relationships/slide" Target="/ppt/slides/slide6.xml" Id="Rd123e8c8639445df" /><Relationship Type="http://schemas.openxmlformats.org/officeDocument/2006/relationships/slide" Target="/ppt/slides/slide7.xml" Id="R679c1fc39fb14d74" /><Relationship Type="http://schemas.openxmlformats.org/officeDocument/2006/relationships/slide" Target="/ppt/slides/slide8.xml" Id="Rddde0d54ed9c446e" /><Relationship Type="http://schemas.openxmlformats.org/officeDocument/2006/relationships/slide" Target="/ppt/slides/slide9.xml" Id="R0a0a3f2f30e94e13" /><Relationship Type="http://schemas.openxmlformats.org/officeDocument/2006/relationships/slide" Target="/ppt/slides/slide10.xml" Id="R5e88fb2613314350" /><Relationship Type="http://schemas.openxmlformats.org/officeDocument/2006/relationships/slide" Target="/ppt/slides/slide11.xml" Id="R82237b6f119e4dd6" /><Relationship Type="http://schemas.openxmlformats.org/officeDocument/2006/relationships/slide" Target="/ppt/slides/slide12.xml" Id="R6cc3fc30e86b4a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dfeecf51e84c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1962ca05374a19" /><Relationship Type="http://schemas.openxmlformats.org/officeDocument/2006/relationships/notesMaster" Target="/ppt/notesMasters/notesMaster1.xml" Id="R36f658a5bef847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8d7d6eba464ccd" /><Relationship Type="http://schemas.openxmlformats.org/officeDocument/2006/relationships/notesMaster" Target="/ppt/notesMasters/notesMaster1.xml" Id="R6bb98875fb9f48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03d235b74942c2" /><Relationship Type="http://schemas.openxmlformats.org/officeDocument/2006/relationships/notesMaster" Target="/ppt/notesMasters/notesMaster1.xml" Id="Rd8ba378680f942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ca0e9fdc954d90" /><Relationship Type="http://schemas.openxmlformats.org/officeDocument/2006/relationships/notesMaster" Target="/ppt/notesMasters/notesMaster1.xml" Id="R9f63ef4b5d734d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2ac8b7581c4e58" /><Relationship Type="http://schemas.openxmlformats.org/officeDocument/2006/relationships/notesMaster" Target="/ppt/notesMasters/notesMaster1.xml" Id="R6fd4a7e5febe40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03bef938f546ba" /><Relationship Type="http://schemas.openxmlformats.org/officeDocument/2006/relationships/notesMaster" Target="/ppt/notesMasters/notesMaster1.xml" Id="Re5a921241f484e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46e0ddc7f54f9a" /><Relationship Type="http://schemas.openxmlformats.org/officeDocument/2006/relationships/notesMaster" Target="/ppt/notesMasters/notesMaster1.xml" Id="R5b044e7412004c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1d1c94e4534cc3" /><Relationship Type="http://schemas.openxmlformats.org/officeDocument/2006/relationships/notesMaster" Target="/ppt/notesMasters/notesMaster1.xml" Id="R8d9b1c74448546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c3d55daddf4276" /><Relationship Type="http://schemas.openxmlformats.org/officeDocument/2006/relationships/notesMaster" Target="/ppt/notesMasters/notesMaster1.xml" Id="Ra2835696aca446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1ab5c7057a43f6" /><Relationship Type="http://schemas.openxmlformats.org/officeDocument/2006/relationships/notesMaster" Target="/ppt/notesMasters/notesMaster1.xml" Id="R7f69b5b8a8794b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7ad82642c74a67" /><Relationship Type="http://schemas.openxmlformats.org/officeDocument/2006/relationships/notesMaster" Target="/ppt/notesMasters/notesMaster1.xml" Id="Rac45120813b04d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21ae1051954694" /><Relationship Type="http://schemas.openxmlformats.org/officeDocument/2006/relationships/notesMaster" Target="/ppt/notesMasters/notesMaster1.xml" Id="Rf6e83710045143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de la fotografía: presentación base Proyecto NLP Grupo 4.pdf, portada. El corpus abarca 1980–2011. La serie principal de inferencia es El Tiempo, 1990–2011.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regimenes: Serie principal ET1990–2011: cuatro regímenes, cortes1995,2000,2006; frontera intermedia1999–2000 en robustez.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SEPTIEMBRE\\06_agenda_topicos_cambio_ver2.ipynb","cell_index_zero_based":25,"cell_human":26,"files":[]}</a:t>
            </a:r>
          </a:p>
          <a:p xmlns:a="http://schemas.openxmlformats.org/drawingml/2006/main">
            <a:r>
              <a:t>Denominador: segmentación binaria raíz(θ), N cap3000;200permutaciones por corte, mínimo2años</a:t>
            </a:r>
          </a:p>
          <a:p xmlns:a="http://schemas.openxmlformats.org/drawingml/2006/main">
            <a:r>
              <a:t>Límite: Consenso selecciona1999 al empatar soportes y colapsar ±1; no precisión al año1999. Segmentación voraz puede escalonar deriva; no ajuste múltiple de divisiones.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transiciones: El Tiempo21/21 transiciones significativas de magnitud media0,00293; pooled21/29; Semana4/29.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SEPTIEMBRE\\06_agenda_topicos_cambio_ver2.ipynb","cell_index_zero_based":19,"cell_human":20,"files":["transiciones_anuales.csv"]}</a:t>
            </a:r>
          </a:p>
          <a:p xmlns:a="http://schemas.openxmlformats.org/drawingml/2006/main">
            <a:r>
              <a:t>Denominador: pares anuales consecutivos ambos N≥40;1000permutaciones estratificadas; BH5% por serie</a:t>
            </a:r>
          </a:p>
          <a:p xmlns:a="http://schemas.openxmlformats.org/drawingml/2006/main">
            <a:r>
              <a:t>Límite: No confundir significación anual con tres puntos de cambio ni decir casi todas ET: son todas. No presentar pooled como serie 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Cambios documentados en 05 y 06 y en la sección 3 del informe anterior. La regla anterior de ≥2 de 3 señales en el cuartil superior se descartó por usar rankings relativos sin calibración frente al nulo. Historia se contrasta al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Estado del arte del informe_entrega2.md§2 y PDF workspace Proyecto NLP Grupo4(1) página3. Caicedo,Gaviria,Moreno2012: https://www.redalyc.org/pdf/419/41923219006.pdf verificado en referencias_verificadas.md. No llamar primer estudio sin evidencia, ni afirmar corpus como subconjunto trazado. Michel2011/McCombsShaw1972/BaumgartnerJones1993/CAP conservados de bibliografía original, sin cifras externas añadidas. Encontrar cortes no demuestra equilibrio puntuado ni cambio de opinión pública.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Informe_entrega2.md§2. Fuentes primarias verificadas: NMF https://www.nature.com/articles/44565; LDA https://www.jmlr.org/papers/v3/blei03a.html; Sentence-BERT https://arxiv.org/abs/1908.10084. TF-IDF SaltonBuckley1988 y referencias BleiLafferty2006, Roberts2014, Grootendorst2022, Kleinberg2002, Killick2012, CovingtonMcFall2010, Monroe2008, Bouma2009 se conservan desde bibliografía anterior sin agregar resultados externos específicos. BERTopic/LDA/STM/PELT no ejecutados. Corridas actualizadas únicamente05/06.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corpus_docs: El corpus medido contiene 91.585 documentos.</a:t>
            </a:r>
          </a:p>
          <a:p xmlns:a="http://schemas.openxmlformats.org/drawingml/2006/main">
            <a:r>
              <a:t>Fuente: {"notebook":"C:\\Users\\MSI\\Downloads\\30 SEPTIEMBRE\\05_eda_avanzado_dataset_medido.ipynb","cell_index_zero_based":6,"cell_human":7,"files":["results/resumen_05.json","results/corpus_medido.parquet"]}</a:t>
            </a:r>
          </a:p>
          <a:p xmlns:a="http://schemas.openxmlformats.org/drawingml/2006/main">
            <a:r>
              <a:t>Denominador: corpus deduplicado por texto normalizado; fechas válidas; 1980–2011</a:t>
            </a:r>
          </a:p>
          <a:p xmlns:a="http://schemas.openxmlformats.org/drawingml/2006/main">
            <a:r>
              <a:t>Límite: No es un censo de la prensa colombiana.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El Tiempo 81.539 (89,03%); Semana 6.620 (7,23%); Dinero 3.426 (3,74%).</a:t>
            </a:r>
          </a:p>
          <a:p xmlns:a="http://schemas.openxmlformats.org/drawingml/2006/main">
            <a:r>
              <a:t>Fuente: {"notebook":"C:\\Users\\MSI\\Downloads\\30 SEPTIEMBRE\\05_eda_avanzado_dataset_medido.ipynb","cell_index_zero_based":6,"cell_human":7,"files":["revision_local/lecturas/auditoria_datos.json"]}</a:t>
            </a:r>
          </a:p>
          <a:p xmlns:a="http://schemas.openxmlformats.org/drawingml/2006/main">
            <a:r>
              <a:t>Denominador: 91.585 documentos</a:t>
            </a:r>
          </a:p>
          <a:p xmlns:a="http://schemas.openxmlformats.org/drawingml/2006/main">
            <a:r>
              <a:t>Límite: Antes de 1990 solo Semana; falta 1981. Dinero falta también en 1996.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tokens_contenido: 15.532.463 tokens de contenido usados en EDA y representaciones.</a:t>
            </a:r>
          </a:p>
          <a:p xmlns:a="http://schemas.openxmlformats.org/drawingml/2006/main">
            <a:r>
              <a:t>Fuente: {"notebook":"C:\\Users\\MSI\\Downloads\\30 SEPTIEMBRE\\05_eda_avanzado_dataset_medido.ipynb","cell_index_zero_based":9,"cell_human":10,"files":["results/resumen_05.json"]}</a:t>
            </a:r>
          </a:p>
          <a:p xmlns:a="http://schemas.openxmlformats.org/drawingml/2006/main">
            <a:r>
              <a:t>Denominador: tokens en minúsculas, sin stopwords y longitud ≥3</a:t>
            </a:r>
          </a:p>
          <a:p xmlns:a="http://schemas.openxmlformats.org/drawingml/2006/main">
            <a:r>
              <a:t>Límite: No intercambiar con 31,9 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Cobertura: datos_graficos.json coverage, notebook05 celda6. Ceros de gráfico indican ausencia de documentos suministrados; 1981 no es un año observado. Dinero tampoco tiene 1996. No es un censo de prensa.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diversidad: Se compara MATTR y Yule K con igual cantidad de tokens.</a:t>
            </a:r>
          </a:p>
          <a:p xmlns:a="http://schemas.openxmlformats.org/drawingml/2006/main">
            <a:r>
              <a:t>Fuente: {"notebook":"C:\\Users\\MSI\\Downloads\\30 SEPTIEMBRE\\05_eda_avanzado_dataset_medido.ipynb","cell_index_zero_based":12,"cell_human":13,"files":["results/diversidad_lexica.csv"]}</a:t>
            </a:r>
          </a:p>
          <a:p xmlns:a="http://schemas.openxmlformats.org/drawingml/2006/main">
            <a:r>
              <a:t>Denominador: muestra fija 30.000 tokens por grupo año/fuente; insuficientes omitidos</a:t>
            </a:r>
          </a:p>
          <a:p xmlns:a="http://schemas.openxmlformats.org/drawingml/2006/main">
            <a:r>
              <a:t>Límite: Una muestra por grupo, sin intervalos; MATTR no elimina todos los sesgos. Todas 25 años, ET22, Semana23, Dinero7.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heaps_beta: β global≈0,460: crecimiento sublineal del vocabulario observado.</a:t>
            </a:r>
          </a:p>
          <a:p xmlns:a="http://schemas.openxmlformats.org/drawingml/2006/main">
            <a:r>
              <a:t>Fuente: {"notebook":"C:\\Users\\MSI\\Downloads\\30 SEPTIEMBRE\\05_eda_avanzado_dataset_medido.ipynb","cell_index_zero_based":13,"cell_human":14,"files":["results/resumen_05.json"]}</a:t>
            </a:r>
          </a:p>
          <a:p xmlns:a="http://schemas.openxmlformats.org/drawingml/2006/main">
            <a:r>
              <a:t>Denominador: ajuste log-log de tipos acumulados sobre documentos ordenados aleatoriamente</a:t>
            </a:r>
          </a:p>
          <a:p xmlns:a="http://schemas.openxmlformats.org/drawingml/2006/main">
            <a:r>
              <a:t>Límite: No garantiza crecimiento indefinido; formas sin lematización y nombres propios.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tipos_hapax: 266.562 tipos de contenido; 42,34% tienen una sola aparición.</a:t>
            </a:r>
          </a:p>
          <a:p xmlns:a="http://schemas.openxmlformats.org/drawingml/2006/main">
            <a:r>
              <a:t>Fuente: {"notebook":"C:\\Users\\MSI\\Downloads\\30 SEPTIEMBRE\\05_eda_avanzado_dataset_medido.ipynb","cell_index_zero_based":10,"cell_human":11,"files":["results/resumen_05.json"]}</a:t>
            </a:r>
          </a:p>
          <a:p xmlns:a="http://schemas.openxmlformats.org/drawingml/2006/main">
            <a:r>
              <a:t>Denominador: vocabulario de contenido; hapax / 266.562 tipos</a:t>
            </a:r>
          </a:p>
          <a:p xmlns:a="http://schemas.openxmlformats.org/drawingml/2006/main">
            <a:r>
              <a:t>Límite: No confundir porcentaje de tipos con porcentaje de tokens.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Notebook05 celdas9–14 y27. Tipos/hapax no tokens. β no demuestra crecimiento indefinido. MATTR ventana500 y77grupos con≥30000tokens. Gráfico ET/Semana para legibilidad; Dinero7grupos. Parquet completo91585×15, CSV muestra2000. Variables: id,fuente,fecha,año,texto_limpio,tokens,n_chars,n_palabras,n_tokens,n_types,ttr,n_entidades,frac_entidades,categoria_inicial,n_hits_lexico. tokens es cadena. id enlazaθ. Entidades proxy mayúsculas noNER: media documental21,956%,global18,250%,mediaanual16,821%. Distintos denominadores.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bigramas_conteos: Los conteos observados pueden mostrarse como ejemplos: derechos humanos 3.574.</a:t>
            </a:r>
          </a:p>
          <a:p xmlns:a="http://schemas.openxmlformats.org/drawingml/2006/main">
            <a:r>
              <a:t>Fuente: {"notebook":"C:\\Users\\MSI\\Downloads\\30 SEPTIEMBRE\\05_eda_avanzado_dataset_medido.ipynb","cell_index_zero_based":15,"cell_human":16,"files":[]}</a:t>
            </a:r>
          </a:p>
          <a:p xmlns:a="http://schemas.openxmlformats.org/drawingml/2006/main">
            <a:r>
              <a:t>Denominador: pares adyacentes del texto tokenizado sin puntuación cuyos términos están en V</a:t>
            </a:r>
          </a:p>
          <a:p xmlns:a="http://schemas.openxmlformats.org/drawingml/2006/main">
            <a:r>
              <a:t>Límite: No son frecuencias de documentos; pueden cruzar límites de oración. Ranking y selección condicionados por NPMI inválida, no comparar intensidad entre épocas sin normalizar.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npmi05_invalida: 383/2.000 puntuaciones exportadas superan 1; no presentar el ranking como NPMI válida.</a:t>
            </a:r>
          </a:p>
          <a:p xmlns:a="http://schemas.openxmlformats.org/drawingml/2006/main">
            <a:r>
              <a:t>Fuente: {"notebook":"C:\\Users\\MSI\\Downloads\\30 SEPTIEMBRE\\05_eda_avanzado_dataset_medido.ipynb","cell_index_zero_based":15,"cell_human":16,"files":["results/bigramas_npmi.csv"]}</a:t>
            </a:r>
          </a:p>
          <a:p xmlns:a="http://schemas.openxmlformats.org/drawingml/2006/main">
            <a:r>
              <a:t>Denominador: CSV top 2.000; 12.205 candidatos con n≥30</a:t>
            </a:r>
          </a:p>
          <a:p xmlns:a="http://schemas.openxmlformats.org/drawingml/2006/main">
            <a:r>
              <a:t>Límite: p(a,b) usa total de pares elegibles B; marginales usan tokens de contenido N_CONT: espacios muestrales incompatibles.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lexico: Léxico propio inspirado en CAP/EuroVoc: 13 categorías, 6,755% de tokens y 86,832% de documentos con categoría inicial.</a:t>
            </a:r>
          </a:p>
          <a:p xmlns:a="http://schemas.openxmlformats.org/drawingml/2006/main">
            <a:r>
              <a:t>Fuente: {"notebook":"C:\\Users\\MSI\\Downloads\\30 SEPTIEMBRE\\05_eda_avanzado_dataset_medido.ipynb","cell_index_zero_based":24,"cell_human":25,"files":["results/prevalencia_lexico_por_anio.csv","results/resumen_05.json"]}</a:t>
            </a:r>
          </a:p>
          <a:p xmlns:a="http://schemas.openxmlformats.org/drawingml/2006/main">
            <a:r>
              <a:t>Denominador: cobertura tokens /15.532.463; categorizados /91.585, mínimo total 2 hits</a:t>
            </a:r>
          </a:p>
          <a:p xmlns:a="http://schemas.openxmlformats.org/drawingml/2006/main">
            <a:r>
              <a:t>Límite: No ontología ni tesauro externo formal. Prefijos y prioridad por orden: polisemia, cobertura incompleta y etiquetas débiles; no gold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coocurrencias: Coocurrencias documentales exploran cambios de contexto; p.ej. salud con eps/ips en los 90.</a:t>
            </a:r>
          </a:p>
          <a:p xmlns:a="http://schemas.openxmlformats.org/drawingml/2006/main">
            <a:r>
              <a:t>Fuente: {"notebook":"C:\\Users\\MSI\\Downloads\\30 SEPTIEMBRE\\05_eda_avanzado_dataset_medido.ipynb","cell_index_zero_based":20,"cell_human":21,"files":[]}</a:t>
            </a:r>
          </a:p>
          <a:p xmlns:a="http://schemas.openxmlformats.org/drawingml/2006/main">
            <a:r>
              <a:t>Denominador: presencia binaria a nivel documento; frecuencias marginales y conjuntas en la misma época</a:t>
            </a:r>
          </a:p>
          <a:p xmlns:a="http://schemas.openxmlformats.org/drawingml/2006/main">
            <a:r>
              <a:t>Límite: Código calcula PMI, no aplica max(0,PMI); arg-sort puede devolver -inf cuando no hay vecinos suficientes. Descartar vecinos empleo/fútbol/corrupción años80; lista sin puntuaciones no acredita fuerza.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Conteos conservados como ejemplos de ocurrencias, no documentos ni ranking válido. La selección original estuvo condicionada por NPMI05 defectuosa. Léxico no es una ontología formal. Coocurrencia usa presencia binaria documental; listas de vecinos sin puntuación no prueban fuerza.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vector_real: Documento real Dinero 2005-04-01 → BoW y TF-IDF; empleo0,178, laboral0,160, ley0,150.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SEPTIEMBRE\\06_agenda_topicos_cambio_ver2.ipynb","cell_index_zero_based":8,"cell_human":9,"files":[]}</a:t>
            </a:r>
          </a:p>
          <a:p xmlns:a="http://schemas.openxmlformats.org/drawingml/2006/main">
            <a:r>
              <a:t>Denominador: fila del documento id13312, 22.196 coordenadas; 186 no nulas</a:t>
            </a:r>
          </a:p>
          <a:p xmlns:a="http://schemas.openxmlformats.org/drawingml/2006/main">
            <a:r>
              <a:t>Límite: El ejemplo es una selección de coordenadas; pesos no suman 1. Redondeo de la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tfidf: TF-IDF tiene dimensión 91.585×22.196 y densidad≈0,518%.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SEPTIEMBRE\\06_agenda_topicos_cambio_ver2.ipynb","cell_index_zero_based":8,"cell_human":9,"files":[]}</a:t>
            </a:r>
          </a:p>
          <a:p xmlns:a="http://schemas.openxmlformats.org/drawingml/2006/main">
            <a:r>
              <a:t>Denominador: vectorizador ajustado sobre muestra de hasta 1.000 documentos/año (22.534); transformado sobre todos</a:t>
            </a:r>
          </a:p>
          <a:p xmlns:a="http://schemas.openxmlformats.org/drawingml/2006/main">
            <a:r>
              <a:t>Límite: min_df15 max_df0,4 max_features25.000; sublinear_tf; L2; no lematización; ajuste por año no por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comparacion_repr: En el protocolo exploratorio TF-IDF+LinearSVC obtuvo0,558/0,527; SVD+LR0,448/0,495; MiniLM+LR0,390/0,439.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SEPTIEMBRE\\06_agenda_topicos_cambio_ver2.ipynb","cell_index_zero_based":9,"cell_human":10,"files":["comparacion_representaciones.csv"]}</a:t>
            </a:r>
          </a:p>
          <a:p xmlns:a="http://schemas.openxmlformats.org/drawingml/2006/main">
            <a:r>
              <a:t>Denominador: 3.927 documentos, hasta150/año; 5 folds estratificados; clasificar periodo/fuente</a:t>
            </a:r>
          </a:p>
          <a:p xmlns:a="http://schemas.openxmlformats.org/drawingml/2006/main">
            <a:r>
              <a:t>Límite: No comparación aislada de representación: cambia clasificador; TF-IDF ajustado antes de CV y SVD fuera de folds; no CV temporal limpia. Periodo y fuente correlacionados. MiniLM solo primeros700caracteres y max_seq_length128. No prueba semántica ni evaluación del modelado de temas.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tiempos_repr: TF-IDF: tiempo no medido; SVD≈1,690s; encode MiniLM≈10,078s en la corrida.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SEPTIEMBRE\\06_agenda_topicos_cambio_ver2.ipynb","cell_index_zero_based":9,"cell_human":10,"files":[]}</a:t>
            </a:r>
          </a:p>
          <a:p xmlns:a="http://schemas.openxmlformats.org/drawingml/2006/main">
            <a:r>
              <a:t>Denominador: transformación SVD y encode MiniLM de muestra</a:t>
            </a:r>
          </a:p>
          <a:p xmlns:a="http://schemas.openxmlformats.org/drawingml/2006/main">
            <a:r>
              <a:t>Límite: 0,0 de TF-IDF es literal en código. Los tiempos densos excluyen CV; descarga del modelo fuera del reloj. No benchmark comparable.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Notebook06 celda8 vector real. ID13312,186componentes no nulas, vector completo no mostrado, top10 no suma1. TFIDF91585×22196,densidad0,518%,ajustado22534docs hasta1000/año,min_df15,max_df0,4,sublinear_tf,normaL2. Comparación5folds≈4000docs periodo/fuente, clasificadores diferentes: TFIDF+LinearSVC,SVD128+LR,MiniLM384+LR; ajustados fuerafolds. MacroF1 no evalúa calidad semántica. MiniLM primeros700caracteres/max_seq128. TiempoTFIDF no medido; no benchmarkcostes. Base TFIDF+NMF por interpretabilidad. ReimersGurevych2019 https://arxiv.org/abs/1908.10084.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nmf_grid: K40 elegido por mayor coherencia entre K con estabilidad≥mediana; coherencia0,3007, estabilidad0,8248.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SEPTIEMBRE\\06_agenda_topicos_cambio_ver2.ipynb","cell_index_zero_based":12,"cell_human":13,"files":["seleccion_K.csv"]}</a:t>
            </a:r>
          </a:p>
          <a:p xmlns:a="http://schemas.openxmlformats.org/drawingml/2006/main">
            <a:r>
              <a:t>Denominador: K15,20,30,40; semillas0 y1 sobre22.534 docs; NPMI documento top10</a:t>
            </a:r>
          </a:p>
          <a:p xmlns:a="http://schemas.openxmlformats.org/drawingml/2006/main">
            <a:r>
              <a:t>Límite: K40 está en borde de grilla; no óptimo global. Semillas también cambian inicialización. NPMI06 usa probabilidades documentales consistentes; no confundir con NPMI05 inválida.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theta: Los91.585 documentos se proyectan a40tópicos; ningún vector vacío; θ suma1 antes de exportar.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SEPTIEMBRE\\06_agenda_topicos_cambio_ver2.ipynb","cell_index_zero_based":14,"cell_human":15,"files":["theta_documentos.csv.gz"]}</a:t>
            </a:r>
          </a:p>
          <a:p xmlns:a="http://schemas.openxmlformats.org/drawingml/2006/main">
            <a:r>
              <a:t>Denominador: W normalizada por suma fila; media de θ por año</a:t>
            </a:r>
          </a:p>
          <a:p xmlns:a="http://schemas.openxmlformats.org/drawingml/2006/main">
            <a:r>
              <a:t>Límite: CSV θ redondeado5decimales; prevalencia mide peso documental, no audiencia ni importancia.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NMF sobre TF-IDF ajustado en muestra por año, aplicado a todo corpus. NPMI06 tiene probabilidades documentales consistentes y no es NPMI05. K40 coherencia0,3007, estabilidad0,8248. T21 términos reales de topicos.csv. Nombre Congreso y legislación es interpretación editorial. Lee y Seung (1999), https://www.nature.com/articles/44565. Modelo rápido CPU, componentes aditivos; K40 es una elección práctica, no óptimo universal.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transiciones: El Tiempo21/21 transiciones significativas de magnitud media0,00293; pooled21/29; Semana4/29.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SEPTIEMBRE\\06_agenda_topicos_cambio_ver2.ipynb","cell_index_zero_based":19,"cell_human":20,"files":["transiciones_anuales.csv"]}</a:t>
            </a:r>
          </a:p>
          <a:p xmlns:a="http://schemas.openxmlformats.org/drawingml/2006/main">
            <a:r>
              <a:t>Denominador: pares anuales consecutivos ambos N≥40;1000permutaciones estratificadas; BH5% por serie</a:t>
            </a:r>
          </a:p>
          <a:p xmlns:a="http://schemas.openxmlformats.org/drawingml/2006/main">
            <a:r>
              <a:t>Límite: No confundir significación anual con tres puntos de cambio ni decir casi todas ET: son todas. No presentar pooled como serie 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escala_fuentes: JS anual ET≈5,90% del JS entre fuentes; η² año0,407%, fuente0,582%.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SEPTIEMBRE\\06_agenda_topicos_cambio_ver2.ipynb","cell_index_zero_based":21,"cell_human":22,"files":[],"eta2_cell_index_zero_based":17,"eta2_cell_human":18}</a:t>
            </a:r>
          </a:p>
          <a:p xmlns:a="http://schemas.openxmlformats.org/drawingml/2006/main">
            <a:r>
              <a:t>Denominador: JS medio ET vs Semana mismo año ambos N≥40; η² ponderado por prevalencia tópico</a:t>
            </a:r>
          </a:p>
          <a:p xmlns:a="http://schemas.openxmlformats.org/drawingml/2006/main">
            <a:r>
              <a:t>Límite: η² descriptivos separados, no efectos causales ajustados; bajos. No demuestra interés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regimenes: Serie principal ET1990–2011: cuatro regímenes, cortes1995,2000,2006; frontera intermedia1999–2000 en robustez.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SEPTIEMBRE\\06_agenda_topicos_cambio_ver2.ipynb","cell_index_zero_based":25,"cell_human":26,"files":[]}</a:t>
            </a:r>
          </a:p>
          <a:p xmlns:a="http://schemas.openxmlformats.org/drawingml/2006/main">
            <a:r>
              <a:t>Denominador: segmentación binaria raíz(θ), N cap3000;200permutaciones por corte, mínimo2años</a:t>
            </a:r>
          </a:p>
          <a:p xmlns:a="http://schemas.openxmlformats.org/drawingml/2006/main">
            <a:r>
              <a:t>Límite: Consenso selecciona1999 al empatar soportes y colapsar ±1; no precisión al año1999. Segmentación voraz puede escalonar deriva; no ajuste múltiple de divisiones.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Curva JS derivada de medias anuales de theta_documentos.csv.gz redondeada a5decimales. Derivación descriptiva, no entrenamiento ni recálculo de p/nulo. Significación21/21 y JSmedia0,00293 provienen de salidas notebook06. Nulo medio≈0,0008. Segmentación principal produce cuatro regímenes: 1990–94,1995–99,2000–05,2006–11. Corte1999 consenso±1 es representante de frontera1999–2000, no fecha exacta.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consenso: 1995, frontera1999–2000 y2006 tienen soporte6/6 con ±1año.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SEPTIEMBRE\\06_agenda_topicos_cambio_ver2.ipynb","cell_index_zero_based":28,"cell_human":29,"files":["robustez_cambios.csv","soporte_cambios.csv","cambios_otras_series.csv"]}</a:t>
            </a:r>
          </a:p>
          <a:p xmlns:a="http://schemas.openxmlformats.org/drawingml/2006/main">
            <a:r>
              <a:t>Denominador: 6 variantes ET; soporte con ventana±1; criterio≥50%</a:t>
            </a:r>
          </a:p>
          <a:p xmlns:a="http://schemas.openxmlformats.org/drawingml/2006/main">
            <a:r>
              <a:t>Límite: Variantes dependientes, mismo corpus/modelo; mayoría ajustada en muestra, principal todos docs. Otros medios son contrastes, no parte de6.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regimenes: Serie principal ET1990–2011: cuatro regímenes, cortes1995,2000,2006; frontera intermedia1999–2000 en robustez.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SEPTIEMBRE\\06_agenda_topicos_cambio_ver2.ipynb","cell_index_zero_based":25,"cell_human":26,"files":[]}</a:t>
            </a:r>
          </a:p>
          <a:p xmlns:a="http://schemas.openxmlformats.org/drawingml/2006/main">
            <a:r>
              <a:t>Denominador: segmentación binaria raíz(θ), N cap3000;200permutaciones por corte, mínimo2años</a:t>
            </a:r>
          </a:p>
          <a:p xmlns:a="http://schemas.openxmlformats.org/drawingml/2006/main">
            <a:r>
              <a:t>Límite: Consenso selecciona1999 al empatar soportes y colapsar ±1; no precisión al año1999. Segmentación voraz puede escalonar deriva; no ajuste múltiple de divisiones.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contraste_historico: 3/3cambios coinciden, azar2,53/3 y p0,581: coincidencia no supera esta referencia aleatoria.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SEPTIEMBRE\\06_agenda_topicos_cambio_ver2.ipynb","cell_index_zero_based":30,"cell_human":31,"files":[]}</a:t>
            </a:r>
          </a:p>
          <a:p xmlns:a="http://schemas.openxmlformats.org/drawingml/2006/main">
            <a:r>
              <a:t>Denominador: 3cambios a±1 de lista9eventos;5000muestras sin reemplazo en valid_years[2:-1] ET</a:t>
            </a:r>
          </a:p>
          <a:p xmlns:a="http://schemas.openxmlformats.org/drawingml/2006/main">
            <a:r>
              <a:t>Límite: No causalidad ni prueba de ausencia de efectos históricos. Congelación afirmada por notebook, no verificada por historial.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muestran cambios relevantes con±1 frente a las fronterasET. Semana además1986/2008; Dinero tiene13años válidos1998–2011: 2002 se excluye por39documentos, por debajo de MIN_N40. La serie estandarizada reutilizaET/Semana: no evidencia independiente. Contraste histórico no establece causalidad ni ausencia de efectos. Lista9eventos,5000 sorteos; congelación declarada por notebook, no verificada por historial.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regimenes: Serie principal ET1990–2011: cuatro regímenes, cortes1995,2000,2006; frontera intermedia1999–2000 en robustez.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SEPTIEMBRE\\06_agenda_topicos_cambio_ver2.ipynb","cell_index_zero_based":25,"cell_human":26,"files":[]}</a:t>
            </a:r>
          </a:p>
          <a:p xmlns:a="http://schemas.openxmlformats.org/drawingml/2006/main">
            <a:r>
              <a:t>Denominador: segmentación binaria raíz(θ), N cap3000;200permutaciones por corte, mínimo2años</a:t>
            </a:r>
          </a:p>
          <a:p xmlns:a="http://schemas.openxmlformats.org/drawingml/2006/main">
            <a:r>
              <a:t>Límite: Consenso selecciona1999 al empatar soportes y colapsar ±1; no precisión al año1999. Segmentación voraz puede escalonar deriva; no ajuste múltiple de divisiones.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transiciones: El Tiempo21/21 transiciones significativas de magnitud media0,00293; pooled21/29; Semana4/29.</a:t>
            </a:r>
          </a:p>
          <a:p xmlns:a="http://schemas.openxmlformats.org/drawingml/2006/main">
            <a:r>
              <a:t>Fuente: {"notebook":"C:\\Users\\MSI\\Downloads\\30 SEPTIEMBRE\\06_agenda_topicos_cambio_ver2.ipynb","cell_index_zero_based":19,"cell_human":20,"files":["transiciones_anuales.csv"]}</a:t>
            </a:r>
          </a:p>
          <a:p xmlns:a="http://schemas.openxmlformats.org/drawingml/2006/main">
            <a:r>
              <a:t>Denominador: pares anuales consecutivos ambos N≥40;1000permutaciones estratificadas; BH5% por serie</a:t>
            </a:r>
          </a:p>
          <a:p xmlns:a="http://schemas.openxmlformats.org/drawingml/2006/main">
            <a:r>
              <a:t>Límite: No confundir significación anual con tres puntos de cambio ni decir casi todas ET: son todas. No presentar pooled como serie 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LDA,BERTopic,PELT y controles adicionales son propuestas no ejecutadas en estas corridas. Comparar además coste y reproducibilidad, con métricas de misma unidad y protocolos comparables. Blei,Ng,Jordan(2003), https://www.jmlr.org/papers/v3/blei03a.html. Pregunta inferencial principalET1990–2011, años80 descriptivos. Persisten sesgos de cobertura, ausencia de anotaciones, temporalidad irregular y posibles cambios de formato.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964f8ab0f45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27bbb830847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39ccd606849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b1bb1d458a44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beeeb03ec4c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75073260646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0429C5-663C-45BF-98D8-54E92E77C5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38695F-E35D-4CE0-BF8E-944860A463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8D1C527-60F8-4F60-875A-2CE4BB093B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0E5F1D-235A-47B8-89AF-58DC5EB3D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D9C2F9-4D7B-4AB7-996C-5B238390D3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D87A91-1ADF-4B51-AF30-7B9BAF13D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51B133-5EE5-417A-A91B-66D52F13EE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D79DC1-BCFF-4F92-B11F-E02BC4FD2A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363229-D438-4681-8C86-DA20F21E04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834E04-4557-4997-875B-997C322F20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d55d6105c245c4" /><Relationship Type="http://schemas.openxmlformats.org/officeDocument/2006/relationships/slideLayout" Target="/ppt/slideLayouts/slideLayout1.xml" Id="R6e676ef3f6644722" /><Relationship Type="http://schemas.openxmlformats.org/officeDocument/2006/relationships/slideLayout" Target="/ppt/slideLayouts/slideLayout2.xml" Id="R6973e6a0e7f8463a" /><Relationship Type="http://schemas.openxmlformats.org/officeDocument/2006/relationships/slideLayout" Target="/ppt/slideLayouts/slideLayout3.xml" Id="R175c487799ae46c4" /><Relationship Type="http://schemas.openxmlformats.org/officeDocument/2006/relationships/slideLayout" Target="/ppt/slideLayouts/slideLayout4.xml" Id="R2995fb69aa554df9" /><Relationship Type="http://schemas.openxmlformats.org/officeDocument/2006/relationships/slideLayout" Target="/ppt/slideLayouts/slideLayout5.xml" Id="Rdc2380d7d0a8469c" /><Relationship Type="http://schemas.openxmlformats.org/officeDocument/2006/relationships/slideLayout" Target="/ppt/slideLayouts/slideLayout6.xml" Id="R41bb4951a44348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676ef3f6644722"/>
    <p:sldLayoutId xmlns:r="http://schemas.openxmlformats.org/officeDocument/2006/relationships" id="2147483650" r:id="R6973e6a0e7f8463a"/>
    <p:sldLayoutId xmlns:r="http://schemas.openxmlformats.org/officeDocument/2006/relationships" id="2147483651" r:id="R175c487799ae46c4"/>
    <p:sldLayoutId xmlns:r="http://schemas.openxmlformats.org/officeDocument/2006/relationships" id="2147483652" r:id="R2995fb69aa554df9"/>
    <p:sldLayoutId xmlns:r="http://schemas.openxmlformats.org/officeDocument/2006/relationships" id="2147483653" r:id="Rdc2380d7d0a8469c"/>
    <p:sldLayoutId xmlns:r="http://schemas.openxmlformats.org/officeDocument/2006/relationships" id="2147483654" r:id="R41bb4951a44348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17a291edf4a9d" /><Relationship Type="http://schemas.openxmlformats.org/officeDocument/2006/relationships/image" Target="/ppt/media/image.jpeg" Id="Rce22c78baff44f6b" /><Relationship Type="http://schemas.openxmlformats.org/officeDocument/2006/relationships/notesSlide" Target="/ppt/notesSlides/notesSlide1.xml" Id="R845d5456b53c46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e24f8d27c479f" /><Relationship Type="http://schemas.openxmlformats.org/officeDocument/2006/relationships/notesSlide" Target="/ppt/notesSlides/notesSlide2.xml" Id="R4c066aedeac04d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c7e41ef71c462a" /><Relationship Type="http://schemas.openxmlformats.org/officeDocument/2006/relationships/notesSlide" Target="/ppt/notesSlides/notesSlide3.xml" Id="R00eed04c4ec049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3e8600a204f79" /><Relationship Type="http://schemas.openxmlformats.org/officeDocument/2006/relationships/notesSlide" Target="/ppt/notesSlides/notesSlide4.xml" Id="R6734778630c348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8a36e600d849a1" /><Relationship Type="http://schemas.openxmlformats.org/officeDocument/2006/relationships/chart" Target="/ppt/slides/charts/chart1.xml" Id="R3998a93a8dec472b" /><Relationship Type="http://schemas.openxmlformats.org/officeDocument/2006/relationships/notesSlide" Target="/ppt/notesSlides/notesSlide5.xml" Id="Re6be7492c24746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97b8ea474a42e5" /><Relationship Type="http://schemas.openxmlformats.org/officeDocument/2006/relationships/chart" Target="/ppt/slides/charts/chart2.xml" Id="R29272d4fb6824494" /><Relationship Type="http://schemas.openxmlformats.org/officeDocument/2006/relationships/notesSlide" Target="/ppt/notesSlides/notesSlide6.xml" Id="R05f5a017824843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0bf1e1fd143cb" /><Relationship Type="http://schemas.openxmlformats.org/officeDocument/2006/relationships/chart" Target="/ppt/slides/charts/chart3.xml" Id="R0fac1f932ffe4432" /><Relationship Type="http://schemas.openxmlformats.org/officeDocument/2006/relationships/notesSlide" Target="/ppt/notesSlides/notesSlide7.xml" Id="R27c2fa27cf6e47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31788da1434c78" /><Relationship Type="http://schemas.openxmlformats.org/officeDocument/2006/relationships/chart" Target="/ppt/slides/charts/chart4.xml" Id="R4ed20d2bf7834e52" /><Relationship Type="http://schemas.openxmlformats.org/officeDocument/2006/relationships/notesSlide" Target="/ppt/notesSlides/notesSlide8.xml" Id="R961e305901124d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e787b23e74585" /><Relationship Type="http://schemas.openxmlformats.org/officeDocument/2006/relationships/notesSlide" Target="/ppt/notesSlides/notesSlide9.xml" Id="Rec13612116104b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535f52b54473e" /><Relationship Type="http://schemas.openxmlformats.org/officeDocument/2006/relationships/chart" Target="/ppt/slides/charts/chart5.xml" Id="R1b2b66a3cb7b4da6" /><Relationship Type="http://schemas.openxmlformats.org/officeDocument/2006/relationships/notesSlide" Target="/ppt/notesSlides/notesSlide10.xml" Id="R3f38f124599241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2b79c1aaf4b40" /><Relationship Type="http://schemas.openxmlformats.org/officeDocument/2006/relationships/notesSlide" Target="/ppt/notesSlides/notesSlide11.xml" Id="R27f819cd1e3e4c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5a9b66cc0a4956" /><Relationship Type="http://schemas.openxmlformats.org/officeDocument/2006/relationships/notesSlide" Target="/ppt/notesSlides/notesSlide12.xml" Id="Rc9cca621e400473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El Tiempo</c:v>
          </c:tx>
          <c:spPr>
            <a:solidFill xmlns:a="http://schemas.openxmlformats.org/drawingml/2006/main">
              <a:srgbClr val="D67A00"/>
            </a:solidFill>
          </c:spPr>
          <c:cat>
            <c:numRef>
              <c:f>'Chart Data'!$A$2:$A$33</c:f>
              <c:numCache>
                <c:formatCode>General</c:formatCode>
                <c:ptCount val="32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  <c:pt idx="25">
                  <c:v>2005</c:v>
                </c:pt>
                <c:pt idx="26">
                  <c:v>2006</c:v>
                </c:pt>
                <c:pt idx="27">
                  <c:v>2007</c:v>
                </c:pt>
                <c:pt idx="28">
                  <c:v>2008</c:v>
                </c:pt>
                <c:pt idx="29">
                  <c:v>2009</c:v>
                </c:pt>
                <c:pt idx="30">
                  <c:v>2010</c:v>
                </c:pt>
                <c:pt idx="31">
                  <c:v>2011</c:v>
                </c:pt>
              </c:numCache>
            </c:numRef>
          </c:cat>
          <c:val>
            <c:numRef>
              <c:f>'Chart Data'!$B$2:$B$33</c:f>
              <c:numCache>
                <c:formatCode>#,##0</c:formatCode>
                <c:ptCount val="3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807</c:v>
                </c:pt>
                <c:pt idx="11">
                  <c:v>2355</c:v>
                </c:pt>
                <c:pt idx="12">
                  <c:v>3093</c:v>
                </c:pt>
                <c:pt idx="13">
                  <c:v>3359</c:v>
                </c:pt>
                <c:pt idx="14">
                  <c:v>3167</c:v>
                </c:pt>
                <c:pt idx="15">
                  <c:v>3802</c:v>
                </c:pt>
                <c:pt idx="16">
                  <c:v>5445</c:v>
                </c:pt>
                <c:pt idx="17">
                  <c:v>4903</c:v>
                </c:pt>
                <c:pt idx="18">
                  <c:v>4951</c:v>
                </c:pt>
                <c:pt idx="19">
                  <c:v>2231</c:v>
                </c:pt>
                <c:pt idx="20">
                  <c:v>4657</c:v>
                </c:pt>
                <c:pt idx="21">
                  <c:v>3966</c:v>
                </c:pt>
                <c:pt idx="22">
                  <c:v>2877</c:v>
                </c:pt>
                <c:pt idx="23">
                  <c:v>4053</c:v>
                </c:pt>
                <c:pt idx="24">
                  <c:v>4425</c:v>
                </c:pt>
                <c:pt idx="25">
                  <c:v>3008</c:v>
                </c:pt>
                <c:pt idx="26">
                  <c:v>2358</c:v>
                </c:pt>
                <c:pt idx="27">
                  <c:v>3803</c:v>
                </c:pt>
                <c:pt idx="28">
                  <c:v>4909</c:v>
                </c:pt>
                <c:pt idx="29">
                  <c:v>5291</c:v>
                </c:pt>
                <c:pt idx="30">
                  <c:v>4609</c:v>
                </c:pt>
                <c:pt idx="31">
                  <c:v>3470</c:v>
                </c:pt>
              </c:numCache>
            </c:numRef>
          </c:val>
        </c:ser>
        <c:ser>
          <c:idx val="1"/>
          <c:order val="1"/>
          <c:tx>
            <c:v>Semana</c:v>
          </c:tx>
          <c:spPr>
            <a:solidFill xmlns:a="http://schemas.openxmlformats.org/drawingml/2006/main">
              <a:srgbClr val="BA503A"/>
            </a:solidFill>
          </c:spPr>
          <c:cat>
            <c:numRef>
              <c:f>'Chart Data'!$C$2:$C$33</c:f>
              <c:numCache>
                <c:formatCode>General</c:formatCode>
                <c:ptCount val="32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  <c:pt idx="25">
                  <c:v>2005</c:v>
                </c:pt>
                <c:pt idx="26">
                  <c:v>2006</c:v>
                </c:pt>
                <c:pt idx="27">
                  <c:v>2007</c:v>
                </c:pt>
                <c:pt idx="28">
                  <c:v>2008</c:v>
                </c:pt>
                <c:pt idx="29">
                  <c:v>2009</c:v>
                </c:pt>
                <c:pt idx="30">
                  <c:v>2010</c:v>
                </c:pt>
                <c:pt idx="31">
                  <c:v>2011</c:v>
                </c:pt>
              </c:numCache>
            </c:numRef>
          </c:cat>
          <c:val>
            <c:numRef>
              <c:f>'Chart Data'!$D$2:$D$33</c:f>
              <c:numCache>
                <c:formatCode>#,##0</c:formatCode>
                <c:ptCount val="32"/>
                <c:pt idx="0">
                  <c:v>31</c:v>
                </c:pt>
                <c:pt idx="1">
                  <c:v>0</c:v>
                </c:pt>
                <c:pt idx="2">
                  <c:v>58</c:v>
                </c:pt>
                <c:pt idx="3">
                  <c:v>166</c:v>
                </c:pt>
                <c:pt idx="4">
                  <c:v>71</c:v>
                </c:pt>
                <c:pt idx="5">
                  <c:v>47</c:v>
                </c:pt>
                <c:pt idx="6">
                  <c:v>53</c:v>
                </c:pt>
                <c:pt idx="7">
                  <c:v>57</c:v>
                </c:pt>
                <c:pt idx="8">
                  <c:v>69</c:v>
                </c:pt>
                <c:pt idx="9">
                  <c:v>91</c:v>
                </c:pt>
                <c:pt idx="10">
                  <c:v>84</c:v>
                </c:pt>
                <c:pt idx="11">
                  <c:v>94</c:v>
                </c:pt>
                <c:pt idx="12">
                  <c:v>111</c:v>
                </c:pt>
                <c:pt idx="13">
                  <c:v>128</c:v>
                </c:pt>
                <c:pt idx="14">
                  <c:v>137</c:v>
                </c:pt>
                <c:pt idx="15">
                  <c:v>144</c:v>
                </c:pt>
                <c:pt idx="16">
                  <c:v>201</c:v>
                </c:pt>
                <c:pt idx="17">
                  <c:v>158</c:v>
                </c:pt>
                <c:pt idx="18">
                  <c:v>151</c:v>
                </c:pt>
                <c:pt idx="19">
                  <c:v>155</c:v>
                </c:pt>
                <c:pt idx="20">
                  <c:v>193</c:v>
                </c:pt>
                <c:pt idx="21">
                  <c:v>240</c:v>
                </c:pt>
                <c:pt idx="22">
                  <c:v>215</c:v>
                </c:pt>
                <c:pt idx="23">
                  <c:v>302</c:v>
                </c:pt>
                <c:pt idx="24">
                  <c:v>343</c:v>
                </c:pt>
                <c:pt idx="25">
                  <c:v>225</c:v>
                </c:pt>
                <c:pt idx="26">
                  <c:v>353</c:v>
                </c:pt>
                <c:pt idx="27">
                  <c:v>340</c:v>
                </c:pt>
                <c:pt idx="28">
                  <c:v>421</c:v>
                </c:pt>
                <c:pt idx="29">
                  <c:v>528</c:v>
                </c:pt>
                <c:pt idx="30">
                  <c:v>641</c:v>
                </c:pt>
                <c:pt idx="31">
                  <c:v>813</c:v>
                </c:pt>
              </c:numCache>
            </c:numRef>
          </c:val>
        </c:ser>
        <c:ser>
          <c:idx val="2"/>
          <c:order val="2"/>
          <c:tx>
            <c:v>Dinero</c:v>
          </c:tx>
          <c:spPr>
            <a:solidFill xmlns:a="http://schemas.openxmlformats.org/drawingml/2006/main">
              <a:srgbClr val="A5AAB4"/>
            </a:solidFill>
          </c:spPr>
          <c:cat>
            <c:numRef>
              <c:f>'Chart Data'!$E$2:$E$33</c:f>
              <c:numCache>
                <c:formatCode>General</c:formatCode>
                <c:ptCount val="32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  <c:pt idx="25">
                  <c:v>2005</c:v>
                </c:pt>
                <c:pt idx="26">
                  <c:v>2006</c:v>
                </c:pt>
                <c:pt idx="27">
                  <c:v>2007</c:v>
                </c:pt>
                <c:pt idx="28">
                  <c:v>2008</c:v>
                </c:pt>
                <c:pt idx="29">
                  <c:v>2009</c:v>
                </c:pt>
                <c:pt idx="30">
                  <c:v>2010</c:v>
                </c:pt>
                <c:pt idx="31">
                  <c:v>2011</c:v>
                </c:pt>
              </c:numCache>
            </c:numRef>
          </c:cat>
          <c:val>
            <c:numRef>
              <c:f>'Chart Data'!$F$2:$F$33</c:f>
              <c:numCache>
                <c:formatCode>#,##0</c:formatCode>
                <c:ptCount val="3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13</c:v>
                </c:pt>
                <c:pt idx="14">
                  <c:v>20</c:v>
                </c:pt>
                <c:pt idx="15">
                  <c:v>32</c:v>
                </c:pt>
                <c:pt idx="16">
                  <c:v>0</c:v>
                </c:pt>
                <c:pt idx="17">
                  <c:v>9</c:v>
                </c:pt>
                <c:pt idx="18">
                  <c:v>47</c:v>
                </c:pt>
                <c:pt idx="19">
                  <c:v>48</c:v>
                </c:pt>
                <c:pt idx="20">
                  <c:v>66</c:v>
                </c:pt>
                <c:pt idx="21">
                  <c:v>56</c:v>
                </c:pt>
                <c:pt idx="22">
                  <c:v>39</c:v>
                </c:pt>
                <c:pt idx="23">
                  <c:v>75</c:v>
                </c:pt>
                <c:pt idx="24">
                  <c:v>85</c:v>
                </c:pt>
                <c:pt idx="25">
                  <c:v>167</c:v>
                </c:pt>
                <c:pt idx="26">
                  <c:v>269</c:v>
                </c:pt>
                <c:pt idx="27">
                  <c:v>560</c:v>
                </c:pt>
                <c:pt idx="28">
                  <c:v>548</c:v>
                </c:pt>
                <c:pt idx="29">
                  <c:v>532</c:v>
                </c:pt>
                <c:pt idx="30">
                  <c:v>668</c:v>
                </c:pt>
                <c:pt idx="31">
                  <c:v>192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F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3E8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F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El Tiempo</c:v>
          </c:tx>
          <c:spPr>
            <a:ln xmlns:a="http://schemas.openxmlformats.org/drawingml/2006/main" w="28575">
              <a:solidFill>
                <a:srgbClr val="D67A00"/>
              </a:solidFill>
            </a:ln>
          </c:spPr>
          <c:marker>
            <c:symbol val="circle"/>
            <c:size val="5"/>
          </c:marker>
          <c:xVal>
            <c:numRef>
              <c:f>'Chart Data'!$A$2:$A$23</c:f>
              <c:numCache>
                <c:formatCode>General</c:formatCode>
                <c:ptCount val="22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  <c:pt idx="11">
                  <c:v>2001</c:v>
                </c:pt>
                <c:pt idx="12">
                  <c:v>2002</c:v>
                </c:pt>
                <c:pt idx="13">
                  <c:v>2003</c:v>
                </c:pt>
                <c:pt idx="14">
                  <c:v>2004</c:v>
                </c:pt>
                <c:pt idx="15">
                  <c:v>2005</c:v>
                </c:pt>
                <c:pt idx="16">
                  <c:v>2006</c:v>
                </c:pt>
                <c:pt idx="17">
                  <c:v>2007</c:v>
                </c:pt>
                <c:pt idx="18">
                  <c:v>2008</c:v>
                </c:pt>
                <c:pt idx="19">
                  <c:v>2009</c:v>
                </c:pt>
                <c:pt idx="20">
                  <c:v>2010</c:v>
                </c:pt>
                <c:pt idx="21">
                  <c:v>2011</c:v>
                </c:pt>
              </c:numCache>
            </c:numRef>
          </c:xVal>
          <c:yVal>
            <c:numRef>
              <c:f>'Chart Data'!$B$2:$B$23</c:f>
              <c:numCache>
                <c:formatCode>0.00</c:formatCode>
                <c:ptCount val="22"/>
                <c:pt idx="0">
                  <c:v>0.806622487373</c:v>
                </c:pt>
                <c:pt idx="1">
                  <c:v>0.811554523575</c:v>
                </c:pt>
                <c:pt idx="2">
                  <c:v>0.788747025525</c:v>
                </c:pt>
                <c:pt idx="3">
                  <c:v>0.802785600488</c:v>
                </c:pt>
                <c:pt idx="4">
                  <c:v>0.786894342565</c:v>
                </c:pt>
                <c:pt idx="5">
                  <c:v>0.77681156571</c:v>
                </c:pt>
                <c:pt idx="6">
                  <c:v>0.786768719704</c:v>
                </c:pt>
                <c:pt idx="7">
                  <c:v>0.787921358598</c:v>
                </c:pt>
                <c:pt idx="8">
                  <c:v>0.778531710789</c:v>
                </c:pt>
                <c:pt idx="9">
                  <c:v>0.780748652588</c:v>
                </c:pt>
                <c:pt idx="10">
                  <c:v>0.789966780787</c:v>
                </c:pt>
                <c:pt idx="11">
                  <c:v>0.738150028813</c:v>
                </c:pt>
                <c:pt idx="12">
                  <c:v>0.754392190095</c:v>
                </c:pt>
                <c:pt idx="13">
                  <c:v>0.761713433443</c:v>
                </c:pt>
                <c:pt idx="14">
                  <c:v>0.756624250025</c:v>
                </c:pt>
                <c:pt idx="15">
                  <c:v>0.73665184231</c:v>
                </c:pt>
                <c:pt idx="16">
                  <c:v>0.786993051083</c:v>
                </c:pt>
                <c:pt idx="17">
                  <c:v>0.791329649842</c:v>
                </c:pt>
                <c:pt idx="18">
                  <c:v>0.758144062913</c:v>
                </c:pt>
                <c:pt idx="19">
                  <c:v>0.774513677502</c:v>
                </c:pt>
                <c:pt idx="20">
                  <c:v>0.788863224975</c:v>
                </c:pt>
                <c:pt idx="21">
                  <c:v>0.774397410257</c:v>
                </c:pt>
              </c:numCache>
            </c:numRef>
          </c:yVal>
        </c:ser>
        <c:ser>
          <c:idx val="1"/>
          <c:order val="1"/>
          <c:tx>
            <c:v>Semana</c:v>
          </c:tx>
          <c:spPr>
            <a:ln xmlns:a="http://schemas.openxmlformats.org/drawingml/2006/main" w="28575">
              <a:solidFill>
                <a:srgbClr val="BA503A"/>
              </a:solidFill>
            </a:ln>
          </c:spPr>
          <c:marker>
            <c:symbol val="circle"/>
            <c:size val="5"/>
          </c:marker>
          <c:xVal>
            <c:numRef>
              <c:f>'Chart Data'!$C$2:$C$21</c:f>
              <c:numCache>
                <c:formatCode>General</c:formatCode>
                <c:ptCount val="20"/>
                <c:pt idx="0">
                  <c:v>1990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1999</c:v>
                </c:pt>
                <c:pt idx="8">
                  <c:v>2000</c:v>
                </c:pt>
                <c:pt idx="9">
                  <c:v>2001</c:v>
                </c:pt>
                <c:pt idx="10">
                  <c:v>2002</c:v>
                </c:pt>
                <c:pt idx="11">
                  <c:v>2003</c:v>
                </c:pt>
                <c:pt idx="12">
                  <c:v>2004</c:v>
                </c:pt>
                <c:pt idx="13">
                  <c:v>2005</c:v>
                </c:pt>
                <c:pt idx="14">
                  <c:v>2006</c:v>
                </c:pt>
                <c:pt idx="15">
                  <c:v>2007</c:v>
                </c:pt>
                <c:pt idx="16">
                  <c:v>2008</c:v>
                </c:pt>
                <c:pt idx="17">
                  <c:v>2009</c:v>
                </c:pt>
                <c:pt idx="18">
                  <c:v>2010</c:v>
                </c:pt>
                <c:pt idx="19">
                  <c:v>2011</c:v>
                </c:pt>
              </c:numCache>
            </c:numRef>
          </c:xVal>
          <c:yVal>
            <c:numRef>
              <c:f>'Chart Data'!$D$2:$D$21</c:f>
              <c:numCache>
                <c:formatCode>0.00</c:formatCode>
                <c:ptCount val="20"/>
                <c:pt idx="0">
                  <c:v>0.782100199993</c:v>
                </c:pt>
                <c:pt idx="1">
                  <c:v>0.767086539439</c:v>
                </c:pt>
                <c:pt idx="2">
                  <c:v>0.782772990746</c:v>
                </c:pt>
                <c:pt idx="3">
                  <c:v>0.80080905732</c:v>
                </c:pt>
                <c:pt idx="4">
                  <c:v>0.797646045897</c:v>
                </c:pt>
                <c:pt idx="5">
                  <c:v>0.778388393614</c:v>
                </c:pt>
                <c:pt idx="6">
                  <c:v>0.778798616996</c:v>
                </c:pt>
                <c:pt idx="7">
                  <c:v>0.794870885733</c:v>
                </c:pt>
                <c:pt idx="8">
                  <c:v>0.760954679502</c:v>
                </c:pt>
                <c:pt idx="9">
                  <c:v>0.755115894376</c:v>
                </c:pt>
                <c:pt idx="10">
                  <c:v>0.769863665638</c:v>
                </c:pt>
                <c:pt idx="11">
                  <c:v>0.774393410393</c:v>
                </c:pt>
                <c:pt idx="12">
                  <c:v>0.746907901427</c:v>
                </c:pt>
                <c:pt idx="13">
                  <c:v>0.764273075489</c:v>
                </c:pt>
                <c:pt idx="14">
                  <c:v>0.787462797871</c:v>
                </c:pt>
                <c:pt idx="15">
                  <c:v>0.790531439612</c:v>
                </c:pt>
                <c:pt idx="16">
                  <c:v>0.772844513745</c:v>
                </c:pt>
                <c:pt idx="17">
                  <c:v>0.774527710925</c:v>
                </c:pt>
                <c:pt idx="18">
                  <c:v>0.763626927901</c:v>
                </c:pt>
                <c:pt idx="19">
                  <c:v>0.757042540931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85"/>
          <c:min val="0.7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3E8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F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2011"/>
          <c:min val="199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F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Ocurrencias</c:v>
          </c:tx>
          <c:spPr>
            <a:solidFill xmlns:a="http://schemas.openxmlformats.org/drawingml/2006/main">
              <a:srgbClr val="D67A00"/>
            </a:solidFill>
          </c:spPr>
          <c:cat>
            <c:strRef>
              <c:f>'Chart Data'!$A$2:$A$4</c:f>
              <c:strCache>
                <c:ptCount val="3"/>
                <c:pt idx="0">
                  <c:v>América Latina</c:v>
                </c:pt>
                <c:pt idx="1">
                  <c:v>Derechos humanos</c:v>
                </c:pt>
                <c:pt idx="2">
                  <c:v>Wall Street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3768</c:v>
                </c:pt>
                <c:pt idx="1">
                  <c:v>3574</c:v>
                </c:pt>
                <c:pt idx="2">
                  <c:v>857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41B2E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3E8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F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4400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F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Peso TF-IDF</c:v>
          </c:tx>
          <c:spPr>
            <a:solidFill xmlns:a="http://schemas.openxmlformats.org/drawingml/2006/main">
              <a:srgbClr val="D67A00"/>
            </a:solidFill>
          </c:spPr>
          <c:cat>
            <c:strRef>
              <c:f>'Chart Data'!$A$2:$A$11</c:f>
              <c:strCache>
                <c:ptCount val="10"/>
                <c:pt idx="0">
                  <c:v>empleo</c:v>
                </c:pt>
                <c:pt idx="1">
                  <c:v>laboral</c:v>
                </c:pt>
                <c:pt idx="2">
                  <c:v>ley</c:v>
                </c:pt>
                <c:pt idx="3">
                  <c:v>reforma</c:v>
                </c:pt>
                <c:pt idx="4">
                  <c:v>trabajadores</c:v>
                </c:pt>
                <c:pt idx="5">
                  <c:v>puestos</c:v>
                </c:pt>
                <c:pt idx="6">
                  <c:v>vigente</c:v>
                </c:pt>
                <c:pt idx="7">
                  <c:v>debate</c:v>
                </c:pt>
                <c:pt idx="8">
                  <c:v>trabajo</c:v>
                </c:pt>
                <c:pt idx="9">
                  <c:v>calidad</c:v>
                </c:pt>
              </c:strCache>
            </c:strRef>
          </c:cat>
          <c:val>
            <c:numRef>
              <c:f>'Chart Data'!$B$2:$B$11</c:f>
              <c:numCache>
                <c:formatCode>0.000</c:formatCode>
                <c:ptCount val="10"/>
                <c:pt idx="0">
                  <c:v>0.178</c:v>
                </c:pt>
                <c:pt idx="1">
                  <c:v>0.16</c:v>
                </c:pt>
                <c:pt idx="2">
                  <c:v>0.15</c:v>
                </c:pt>
                <c:pt idx="3">
                  <c:v>0.145</c:v>
                </c:pt>
                <c:pt idx="4">
                  <c:v>0.131</c:v>
                </c:pt>
                <c:pt idx="5">
                  <c:v>0.126</c:v>
                </c:pt>
                <c:pt idx="6">
                  <c:v>0.115</c:v>
                </c:pt>
                <c:pt idx="7">
                  <c:v>0.114</c:v>
                </c:pt>
                <c:pt idx="8">
                  <c:v>0.103</c:v>
                </c:pt>
                <c:pt idx="9">
                  <c:v>0.101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F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0.22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FE3E8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F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JS respecto al año anterior</c:v>
          </c:tx>
          <c:spPr>
            <a:ln xmlns:a="http://schemas.openxmlformats.org/drawingml/2006/main" w="33338">
              <a:solidFill>
                <a:srgbClr val="D67A00"/>
              </a:solidFill>
            </a:ln>
          </c:spPr>
          <c:marker>
            <c:symbol val="circle"/>
            <c:size val="6"/>
          </c:marker>
          <c:cat>
            <c:numRef>
              <c:f>'Chart Data'!$A$2:$A$22</c:f>
              <c:numCache>
                <c:formatCode>General</c:formatCode>
                <c:ptCount val="21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</c:numCache>
            </c:numRef>
          </c:cat>
          <c:val>
            <c:numRef>
              <c:f>'Chart Data'!$B$2:$B$22</c:f>
              <c:numCache>
                <c:formatCode>0.0000</c:formatCode>
                <c:ptCount val="21"/>
                <c:pt idx="0">
                  <c:v>0.0057063064194</c:v>
                </c:pt>
                <c:pt idx="1">
                  <c:v>0.00347258645122</c:v>
                </c:pt>
                <c:pt idx="2">
                  <c:v>0.00225670434017</c:v>
                </c:pt>
                <c:pt idx="3">
                  <c:v>0.00193828047761</c:v>
                </c:pt>
                <c:pt idx="4">
                  <c:v>0.00428595628164</c:v>
                </c:pt>
                <c:pt idx="5">
                  <c:v>0.00128284723799</c:v>
                </c:pt>
                <c:pt idx="6">
                  <c:v>0.00192907490797</c:v>
                </c:pt>
                <c:pt idx="7">
                  <c:v>0.00236213980394</c:v>
                </c:pt>
                <c:pt idx="8">
                  <c:v>0.00279941114023</c:v>
                </c:pt>
                <c:pt idx="9">
                  <c:v>0.00294961086612</c:v>
                </c:pt>
                <c:pt idx="10">
                  <c:v>0.00251753859812</c:v>
                </c:pt>
                <c:pt idx="11">
                  <c:v>0.00401914271197</c:v>
                </c:pt>
                <c:pt idx="12">
                  <c:v>0.00188789324102</c:v>
                </c:pt>
                <c:pt idx="13">
                  <c:v>0.00135970777846</c:v>
                </c:pt>
                <c:pt idx="14">
                  <c:v>0.00155120997073</c:v>
                </c:pt>
                <c:pt idx="15">
                  <c:v>0.00781176415407</c:v>
                </c:pt>
                <c:pt idx="16">
                  <c:v>0.00304541892672</c:v>
                </c:pt>
                <c:pt idx="17">
                  <c:v>0.00334348031397</c:v>
                </c:pt>
                <c:pt idx="18">
                  <c:v>0.00418805871049</c:v>
                </c:pt>
                <c:pt idx="19">
                  <c:v>0.000681923355465</c:v>
                </c:pt>
                <c:pt idx="20">
                  <c:v>0.00213503335633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F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FE3E8"/>
              </a:solidFill>
            </a:ln>
          </c:spPr>
        </c:majorGridlines>
        <c:numFmt formatCode="0.0000"/>
        <c:majorTickMark val="none"/>
        <c:minorTickMark val="none"/>
        <c:spPr>
          <a:ln xmlns:a="http://schemas.openxmlformats.org/drawingml/2006/main" w="9525">
            <a:solidFill>
              <a:srgbClr val="DFE3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00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3AB81-57AC-44A9-9121-57BFFA0E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7FD60-731F-4362-AA87-37CA864B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CEB71-24D7-44E4-9A37-BBBDA9496D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2c78baff44f6b"/>
          <a:srcRect xmlns:a="http://schemas.openxmlformats.org/drawingml/2006/main" l="0" t="98" r="0" b="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6482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917DC-6AC7-4DF6-A72A-3380FB3F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485900"/>
            <a:ext cx="640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750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750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750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“Tópicos Colombia”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EE3AA-D5A5-43F5-9E35-F4EF741E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6362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775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Estabilidad de la agenda</a:t>
            </a:r>
          </a:p>
          <a:p xmlns:a="http://schemas.openxmlformats.org/drawingml/2006/main">
            <a:pPr>
              <a:defRPr sz="2775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775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de la prensa colombiana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0F188-FF44-4261-975F-7886AFC7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62375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625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rPr>
              <a:t>1980–2011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266CC-B128-4768-B542-37A45F2C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29125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GRUPO 4 · ENTREGA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CA3E8-9B03-43AD-9571-803A07EE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95850"/>
            <a:ext cx="6048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José Miguel Bejarano · Massimo Maimone</a:t>
            </a:r>
          </a:p>
          <a:p xmlns:a="http://schemas.openxmlformats.org/drawingml/2006/main">
            <a:pPr>
              <a:defRPr sz="17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Mauricio Morales · Juan Felipe Guzmán</a:t>
            </a:r>
          </a:p>
          <a:p xmlns:a="http://schemas.openxmlformats.org/drawingml/2006/main">
            <a:pPr>
              <a:defRPr sz="17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David Castillo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DFAA2-E068-46B9-9CA5-5D57BDA7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8864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Procesamiento de Lenguaje Natural · Javeriana</a:t>
            </a:r>
          </a:p>
          <a:p xmlns:a="http://schemas.openxmlformats.org/drawingml/2006/main">
            <a:pPr>
              <a:defRPr sz="157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Profesor Luis Gabriel Moreno Sandoval</a:t>
            </a:r>
          </a:p>
        </p:txBody>
      </p:sp>
    </p:spTree>
    <p:extLst>
      <p:ext uri="{BB962C8B-B14F-4D97-AF65-F5344CB8AC3E}">
        <p14:creationId xmlns:p14="http://schemas.microsoft.com/office/powerpoint/2010/main" val="989938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50530-C3EB-4CF4-AEE5-914886B7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Preguntas de investigación y ajustes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B9F08-8675-4D27-A573-49A7D7D2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24188-0687-4F42-B77A-C0D60277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29676-FFD7-46A0-BA4F-11D7979C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D67A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67A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67A00"/>
                </a:solidFill>
                <a:latin typeface="Calibri"/>
                <a:ea typeface="Calibri"/>
                <a:cs typeface="Calibri"/>
              </a:rPr>
              <a:t>Tópicos latentes · contraste editorial · evolución temporal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DAF74-E88C-485B-AA77-4FA9EC8B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¿Qué temas caracterizan el corpus, cómo difieren por medio y cuándo cambia su composición?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52840-885C-4593-A2E6-F1F17F6E2CB7}"/>
              </a:ext>
            </a:extLst>
          </p:cNvPr>
          <p:cNvGraphicFramePr/>
          <p:nvPr/>
        </p:nvGraphicFramePr>
        <p:xfrm>
          <a:off xmlns:a="http://schemas.openxmlformats.org/drawingml/2006/main" x="609600" y="30003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57800"/>
                <a:gridCol w="57150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Problema del enfoque exploratorio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Decisión actual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Cuartiles y periodos de duración mixta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Años homogéneos y umbral por permutación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Pocos artículos producen distancias altas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Nulo con el mismo tamaño de muestra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Fuente y tiempo se confunden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Análisis por medio y contraste entre fuentes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0E0EA-EF3F-420A-B6FD-9FEC40B0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Agenda: media anual de pesos θ. Cuaderno 04: TF-IDF y ráfagas como diagnóstico.</a:t>
            </a:r>
          </a:p>
        </p:txBody>
      </p:sp>
    </p:spTree>
    <p:extLst>
      <p:ext uri="{BB962C8B-B14F-4D97-AF65-F5344CB8AC3E}">
        <p14:creationId xmlns:p14="http://schemas.microsoft.com/office/powerpoint/2010/main" val="1682699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E8CE0-5871-441D-B23B-A6E8A46B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Estado del arte: prensa y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6B70A-58CE-43AB-AC63-B8DE8944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60D09-6F06-40BD-8EB7-27FAEA9C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E139A-69E9-4ABF-A595-00335449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625" b="1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rPr>
              <a:t>Hechos y palabras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5972B-47C5-4F80-9F87-C1784180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Caicedo, Gaviria y Moreno (2012)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BF2C8-20AF-43C7-8831-4542814E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251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Más de 2 millones de artículos y cerca de 600 millones de palabras.</a:t>
            </a:r>
          </a:p>
          <a:p xmlns:a="http://schemas.openxmlformats.org/drawingml/2006/main">
            <a:pPr>
              <a:defRPr sz="217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Las frecuencias de texto permiten construir series sobre prensa colombiana.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2CA88-A5C3-4010-BD0F-75E3CA8E235A}"/>
              </a:ext>
            </a:extLst>
          </p:cNvPr>
          <p:cNvGraphicFramePr/>
          <p:nvPr/>
        </p:nvGraphicFramePr>
        <p:xfrm>
          <a:off xmlns:a="http://schemas.openxmlformats.org/drawingml/2006/main" x="609600" y="3505200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Marco conceptual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Aplicación al proyecto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Frecuencia y culturomics</a:t>
                      </a:r>
                    </a:p>
                    <a:p>
                      <a:r>
                        <a:rPr sz="16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Michel et al. (2011)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Normalizar por volumen de texto y revisar la cobertura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Agenda: McCombs y Shaw (1972)</a:t>
                      </a:r>
                    </a:p>
                    <a:p>
                      <a:r>
                        <a:rPr sz="16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Cambio: Baumgartner y Jones (1993)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Formular estabilidad y cambio de atención temática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Comparative Agendas Project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Orientar categorías del léxico propio como etiquetas débiles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533C9-4E61-4F3D-B24B-47F1A41A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A503A"/>
                </a:solidFill>
                <a:latin typeface="Calibri"/>
                <a:ea typeface="Calibri"/>
                <a:cs typeface="Calibri"/>
              </a:rPr>
              <a:t>El archivo registra contenido mediático. Los 91.585 documentos no prueban representatividad nacional.</a:t>
            </a:r>
          </a:p>
        </p:txBody>
      </p:sp>
    </p:spTree>
    <p:extLst>
      <p:ext uri="{BB962C8B-B14F-4D97-AF65-F5344CB8AC3E}">
        <p14:creationId xmlns:p14="http://schemas.microsoft.com/office/powerpoint/2010/main" val="15028505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275E3-4615-437E-8165-A6394EE3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Estado del arte: métodos y aporte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65316-8D7A-456D-86B5-5A5F4F51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CFB55-858C-423C-815B-4E9A3979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58BBA-3556-4E99-8341-073B42B75862}"/>
              </a:ext>
            </a:extLst>
          </p:cNvPr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90925"/>
                <a:gridCol w="3448050"/>
                <a:gridCol w="3933825"/>
              </a:tblGrid>
              <a:tr h="6438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Línea y referencia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Qué permite estudiar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Uso en esta entrega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NMF, Lee y Seung (1999)</a:t>
                      </a:r>
                    </a:p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LDA, Blei et al. (2003)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Documentos como mezclas</a:t>
                      </a:r>
                    </a:p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de tópicos interpretables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NMF realizado</a:t>
                      </a:r>
                    </a:p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LDA como comparación futura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TF-IDF</a:t>
                      </a:r>
                    </a:p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Sentence-BERT (2019)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Términos ponderados y</a:t>
                      </a:r>
                    </a:p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representaciones densas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Comparación exploratoria</a:t>
                      </a:r>
                    </a:p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TF-IDF, SVD y MiniLM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Tópicos dinámicos, STM</a:t>
                      </a:r>
                    </a:p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BERTopic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Evolución, covariables</a:t>
                      </a:r>
                    </a:p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y agrupación semántica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Alternativas futuras</a:t>
                      </a:r>
                    </a:p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sin corridas en 05/06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Kleinberg, PELT</a:t>
                      </a:r>
                    </a:p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MATTR, log-odds, NPMI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Ráfagas, cambios de serie</a:t>
                      </a:r>
                    </a:p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y estadística textual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Ráfagas previas y EDA</a:t>
                      </a:r>
                    </a:p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PELT como comparación futura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2A721-C9CB-46F3-87BF-6D14E2FF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250" b="1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rPr>
              <a:t>Aporte específico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00AD1-4A10-4CA6-A0A4-3F4B96C3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Composiciones de tópicos por documento y año, con distancia frente a un nulo</a:t>
            </a:r>
          </a:p>
          <a:p xmlns:a="http://schemas.openxmlformats.org/drawingml/2006/main">
            <a: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de muestreo y contraste por medio. La historia entra después de detectar cambios.</a:t>
            </a:r>
          </a:p>
        </p:txBody>
      </p:sp>
    </p:spTree>
    <p:extLst>
      <p:ext uri="{BB962C8B-B14F-4D97-AF65-F5344CB8AC3E}">
        <p14:creationId xmlns:p14="http://schemas.microsoft.com/office/powerpoint/2010/main" val="1009542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FAE90-CCB2-4CC3-99E1-31D9CCF4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EDA: dimensión y cobertura del corpus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EB820-0974-4B6F-9CFC-A2E7E1A2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2B74C-6DF2-4BAD-8DC9-E29E4DBB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225C4-DBF3-4D85-AE0E-1EA131D7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200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4200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4200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rPr>
              <a:t>91.585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6361A-8F30-4AA1-ADB7-3D128968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859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documentos medidos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30DE53C-88E9-444C-960E-AF2FD796286E}"/>
              </a:ext>
            </a:extLst>
          </p:cNvPr>
          <p:cNvGraphicFramePr/>
          <p:nvPr/>
        </p:nvGraphicFramePr>
        <p:xfrm>
          <a:off xmlns:a="http://schemas.openxmlformats.org/drawingml/2006/main" x="476250" y="2905125"/>
          <a:ext xmlns:a="http://schemas.openxmlformats.org/drawingml/2006/main" cx="6762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98a93a8dec472b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B8B37-E537-4C16-9ABF-DABCCF9C9A93}"/>
              </a:ext>
            </a:extLst>
          </p:cNvPr>
          <p:cNvGraphicFramePr/>
          <p:nvPr/>
        </p:nvGraphicFramePr>
        <p:xfrm>
          <a:off xmlns:a="http://schemas.openxmlformats.org/drawingml/2006/main" x="7610475" y="1457325"/>
          <a:ext xmlns:a="http://schemas.openxmlformats.org/drawingml/2006/main" cx="3971925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1476375"/>
                <a:gridCol w="923925"/>
              </a:tblGrid>
              <a:tr h="6619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Medio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Docs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%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El Tiempo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81.539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89,03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Semana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6.620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7,23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Dinero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3.426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3,74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55ED2-2818-464F-B13C-AD0FBCBA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05325"/>
            <a:ext cx="3829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BA503A"/>
                </a:solidFill>
                <a:latin typeface="Calibri"/>
                <a:ea typeface="Calibri"/>
                <a:cs typeface="Calibri"/>
              </a:rPr>
              <a:t>1980–1989: sólo Semana</a:t>
            </a:r>
          </a:p>
          <a:p xmlns:a="http://schemas.openxmlformats.org/drawingml/2006/main">
            <a:pPr>
              <a:defRPr sz="1950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BA503A"/>
                </a:solidFill>
                <a:latin typeface="Calibri"/>
                <a:ea typeface="Calibri"/>
                <a:cs typeface="Calibri"/>
              </a:rPr>
              <a:t>31–166 artículos por año</a:t>
            </a:r>
          </a:p>
          <a:p xmlns:a="http://schemas.openxmlformats.org/drawingml/2006/main">
            <a:pPr>
              <a:defRPr sz="1950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BA503A"/>
                </a:solidFill>
                <a:latin typeface="Calibri"/>
                <a:ea typeface="Calibri"/>
                <a:cs typeface="Calibri"/>
              </a:rPr>
              <a:t>1981 sin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5817E-E0BE-496D-8846-09901F0C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31,90 M tokens antes del filtro y 15,53 M de contenido. Serie principal: El Tiempo, 1990–2011.</a:t>
            </a:r>
          </a:p>
        </p:txBody>
      </p:sp>
    </p:spTree>
    <p:extLst>
      <p:ext uri="{BB962C8B-B14F-4D97-AF65-F5344CB8AC3E}">
        <p14:creationId xmlns:p14="http://schemas.microsoft.com/office/powerpoint/2010/main" val="179417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338C8-6F9B-47DF-8F23-E4E94F91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EDA: diversidad léxica y dataset medido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C0E21-4A02-4247-849E-D5775253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9234C-D5BD-41C9-912C-0977A8DB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B0C8C-CCD0-47B8-843E-BFDA8A1D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D67A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67A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67A00"/>
                </a:solidFill>
                <a:latin typeface="Calibri"/>
                <a:ea typeface="Calibri"/>
                <a:cs typeface="Calibri"/>
              </a:rPr>
              <a:t>30.000 tokens por año y fuente · MATTR con ventana de 500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53E750C-C6A8-40EC-BF5D-E5C7B05C51DA}"/>
              </a:ext>
            </a:extLst>
          </p:cNvPr>
          <p:cNvGraphicFramePr/>
          <p:nvPr/>
        </p:nvGraphicFramePr>
        <p:xfrm>
          <a:off xmlns:a="http://schemas.openxmlformats.org/drawingml/2006/main" x="457200" y="2133600"/>
          <a:ext xmlns:a="http://schemas.openxmlformats.org/drawingml/2006/main" cx="7000875" cy="3209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272d4fb682449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CA03B-BBE1-4407-BB7A-289837D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716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625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rPr>
              <a:t>266.562 tipos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FD152-6EEE-4027-A9D0-C7124D00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00325"/>
            <a:ext cx="3733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42,34% hapax</a:t>
            </a:r>
          </a:p>
          <a:p xmlns:a="http://schemas.openxmlformats.org/drawingml/2006/main">
            <a: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β de Heaps = 0,460</a:t>
            </a:r>
          </a:p>
          <a:p xmlns:a="http://schemas.openxmlformats.org/drawingml/2006/main">
            <a: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Mediana: 122 tokens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C8217-DE5F-4BDA-B81B-B2BBE91F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43375"/>
            <a:ext cx="3743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175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Dataset: 91.585 × 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CCD07-FA76-44F7-A5FF-06DFC3BA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76775"/>
            <a:ext cx="37433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id, fuente, fecha, año</a:t>
            </a:r>
          </a:p>
          <a:p xmlns:a="http://schemas.openxmlformats.org/drawingml/2006/main">
            <a:pPr>
              <a:defRPr sz="1950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texto_limpio, tokens</a:t>
            </a:r>
          </a:p>
          <a:p xmlns:a="http://schemas.openxmlformats.org/drawingml/2006/main">
            <a:pPr>
              <a:defRPr sz="1950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longitud, diversidad</a:t>
            </a:r>
          </a:p>
          <a:p xmlns:a="http://schemas.openxmlformats.org/drawingml/2006/main">
            <a:pPr>
              <a:defRPr sz="1950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entidades y categoría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8B4F9-595E-46EE-8D1E-C40B71EE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676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MATTR menor: más repetición. Yule K: concentración. Heaps: crecimiento sublineal observado.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4177D-BD8C-4034-99AA-A0A68C5A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A503A"/>
                </a:solidFill>
                <a:latin typeface="Calibri"/>
                <a:ea typeface="Calibri"/>
                <a:cs typeface="Calibri"/>
              </a:rPr>
              <a:t>30.000 tokens por grupo y una muestra, sin intervalos. Cambios comunes pueden reflejar el archivo.</a:t>
            </a:r>
          </a:p>
        </p:txBody>
      </p:sp>
    </p:spTree>
    <p:extLst>
      <p:ext uri="{BB962C8B-B14F-4D97-AF65-F5344CB8AC3E}">
        <p14:creationId xmlns:p14="http://schemas.microsoft.com/office/powerpoint/2010/main" val="1571321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4FAFB-1A40-422B-BC9B-CA3E16FF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EDA: identidad léxica y coocurrencias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828E4-D60D-48F2-9D97-23F7CA0D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717A3-3BC5-4F11-8EF6-6F6372DA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723C9-40D0-4F99-8658-8D4E7D7C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D67A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67A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67A00"/>
                </a:solidFill>
                <a:latin typeface="Calibri"/>
                <a:ea typeface="Calibri"/>
                <a:cs typeface="Calibri"/>
              </a:rPr>
              <a:t>Ejemplos de pares adyacentes, número de ocurrencias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98E3CBE-17AF-4B18-89E8-379A82A1EF97}"/>
              </a:ext>
            </a:extLst>
          </p:cNvPr>
          <p:cNvGraphicFramePr/>
          <p:nvPr/>
        </p:nvGraphicFramePr>
        <p:xfrm>
          <a:off xmlns:a="http://schemas.openxmlformats.org/drawingml/2006/main" x="552450" y="1990725"/>
          <a:ext xmlns:a="http://schemas.openxmlformats.org/drawingml/2006/main" cx="6572250" cy="2552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ac1f932ffe443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827A2-0205-4ED9-AA82-4CD5043E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609725"/>
            <a:ext cx="381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0">
                <a:solidFill>
                  <a:srgbClr val="445774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445774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850" b="0">
                <a:solidFill>
                  <a:srgbClr val="445774"/>
                </a:solidFill>
                <a:latin typeface="Bookman Old Style"/>
                <a:ea typeface="Bookman Old Style"/>
                <a:cs typeface="Bookman Old Style"/>
              </a:rPr>
              <a:t>13 categorías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A2221-A7AA-4B96-9C2D-9F68E05E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3241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Léxico propio inspirado</a:t>
            </a:r>
          </a:p>
          <a:p xmlns:a="http://schemas.openxmlformats.org/drawingml/2006/main">
            <a: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en CAP y EuroVoc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3EB7B-936A-4298-9E2B-00362038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419475"/>
            <a:ext cx="38004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6,76% de tokens cubiertos</a:t>
            </a:r>
          </a:p>
          <a:p xmlns:a="http://schemas.openxmlformats.org/drawingml/2006/main">
            <a: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86,83% de documentos</a:t>
            </a:r>
          </a:p>
          <a:p xmlns:a="http://schemas.openxmlformats.org/drawingml/2006/main">
            <a: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con categoría inicial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BAA52-3DE8-4691-9407-1B3ABC01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Log-odds por medio: El Tiempo, calle/municipio. Semana, guerra/política.</a:t>
            </a:r>
          </a:p>
          <a:p xmlns:a="http://schemas.openxmlformats.org/drawingml/2006/main">
            <a:pPr>
              <a:defRPr sz="187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Dinero, empresas/mercado. Coocurrencias: salud con eps/ips en los años 90.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07415-2287-4E94-B25C-1C8C49EC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BA503A"/>
                </a:solidFill>
                <a:latin typeface="Calibri"/>
                <a:ea typeface="Calibri"/>
                <a:cs typeface="Calibri"/>
              </a:rPr>
              <a:t>Léxico sin gold standard. NPMI 05: 383/2.000 &gt; 1, ranking inválido y pendiente de corrección.</a:t>
            </a:r>
          </a:p>
        </p:txBody>
      </p:sp>
    </p:spTree>
    <p:extLst>
      <p:ext uri="{BB962C8B-B14F-4D97-AF65-F5344CB8AC3E}">
        <p14:creationId xmlns:p14="http://schemas.microsoft.com/office/powerpoint/2010/main" val="1030681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3C129-0FD3-4EEB-B18E-D1A6E1A5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Representación: documento y comparación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F45A7-E0E8-43DB-85A4-D061B10B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99945-89E5-4F30-9B4E-C9DABFB3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D6BED-3CEE-4843-9CD5-FB6536C4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D67A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67A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D67A00"/>
                </a:solidFill>
                <a:latin typeface="Calibri"/>
                <a:ea typeface="Calibri"/>
                <a:cs typeface="Calibri"/>
              </a:rPr>
              <a:t>Dinero · 1 de abril de 2005 · ID 13312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EA823-E5E8-4A00-AA07-DAB66C91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39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325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«Empleo: ¿cuestión de ley?»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A8B13-856F-496F-9CDA-BB94B89C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2197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“En estos días se va a iniciar el debate acerca de la conveniencia de mantener vigente la ley laboral 789 de 2002…”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7D8FA-F0DC-45CB-B928-D4CC4053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200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22.196 dimensiones · 186 no nulas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D113A-BEA1-4FFE-B191-D1F1E89D723F}"/>
              </a:ext>
            </a:extLst>
          </p:cNvPr>
          <p:cNvGraphicFramePr/>
          <p:nvPr/>
        </p:nvGraphicFramePr>
        <p:xfrm>
          <a:off xmlns:a="http://schemas.openxmlformats.org/drawingml/2006/main" x="609600" y="4562475"/>
          <a:ext xmlns:a="http://schemas.openxmlformats.org/drawingml/2006/main" cx="5248275" cy="1581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1219200"/>
                <a:gridCol w="1219200"/>
              </a:tblGrid>
              <a:tr h="3952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Protocolo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Periodo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Fuente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TF-IDF + SVC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0,558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0,527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SVD + LR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0,448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0,495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3952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MiniLM + LR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0,390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0,439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2FBF7443-34B8-4170-9ED3-2C218FCC8F68}"/>
              </a:ext>
            </a:extLst>
          </p:cNvPr>
          <p:cNvGraphicFramePr/>
          <p:nvPr/>
        </p:nvGraphicFramePr>
        <p:xfrm>
          <a:off xmlns:a="http://schemas.openxmlformats.org/drawingml/2006/main" x="6305550" y="1924050"/>
          <a:ext xmlns:a="http://schemas.openxmlformats.org/drawingml/2006/main" cx="5143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d20d2bf7834e5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7E5F4-1805-4FE5-8473-FDD00B6B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A503A"/>
                </a:solidFill>
                <a:latin typeface="Calibri"/>
                <a:ea typeface="Calibri"/>
                <a:cs typeface="Calibri"/>
              </a:rPr>
              <a:t>Macro-F1 exploratorio, CV no temporal y ajustes fuera de folds. Cambia clasificador. 10 pesos redondeados.</a:t>
            </a:r>
          </a:p>
        </p:txBody>
      </p:sp>
    </p:spTree>
    <p:extLst>
      <p:ext uri="{BB962C8B-B14F-4D97-AF65-F5344CB8AC3E}">
        <p14:creationId xmlns:p14="http://schemas.microsoft.com/office/powerpoint/2010/main" val="12463934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9158E-4DCA-4006-8716-44DEDD16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NMF convierte los documentos en 40 tópicos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AB128-6AD6-4873-8EC8-BB54BC37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4FE91-76AC-451D-95A4-01131EF4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DCC09-EB5D-4584-A0B9-B38518AB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000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rPr>
              <a:t>V ≈ W · 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B5694-DCE9-4F1B-BE46-A20A0CEF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Cada documento tiene una mezcla θ que suma 1.</a:t>
            </a:r>
          </a:p>
          <a:p xmlns:a="http://schemas.openxmlformats.org/drawingml/2006/main">
            <a:pPr>
              <a:defRPr sz="22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La agenda anual promedia esos pesos.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CAA3F-1286-4D08-8B77-2F01F3D3C264}"/>
              </a:ext>
            </a:extLst>
          </p:cNvPr>
          <p:cNvGraphicFramePr/>
          <p:nvPr/>
        </p:nvGraphicFramePr>
        <p:xfrm>
          <a:off xmlns:a="http://schemas.openxmlformats.org/drawingml/2006/main" x="609600" y="3438525"/>
          <a:ext xmlns:a="http://schemas.openxmlformats.org/drawingml/2006/main" cx="65722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571750"/>
                <a:gridCol w="3048000"/>
              </a:tblGrid>
              <a:tr h="476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K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Coherencia NPMI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Estabilidad entre semillas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0,2840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0,7865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0,2908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0,8115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0,2967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0,8281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0,3007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0,8248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F178C-A743-4FB6-B10A-DA425CB9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95675"/>
            <a:ext cx="38004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445774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445774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400" b="0">
                <a:solidFill>
                  <a:srgbClr val="445774"/>
                </a:solidFill>
                <a:latin typeface="Bookman Old Style"/>
                <a:ea typeface="Bookman Old Style"/>
                <a:cs typeface="Bookman Old Style"/>
              </a:rPr>
              <a:t>T21 · Congreso y legislación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D2AF8-1B66-4207-80D3-848186D2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91025"/>
            <a:ext cx="38004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congreso, proyecto, ley, senado,</a:t>
            </a:r>
          </a:p>
          <a:p xmlns:a="http://schemas.openxmlformats.org/drawingml/2006/main">
            <a:pPr>
              <a:defRPr sz="19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cámara, reforma, comisión,</a:t>
            </a:r>
          </a:p>
          <a:p xmlns:a="http://schemas.openxmlformats.org/drawingml/2006/main">
            <a:pPr>
              <a:defRPr sz="19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debate, iniciativa, congresistas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6D760-80D2-49C0-A51C-6BF12F29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BA503A"/>
                </a:solidFill>
                <a:latin typeface="Calibri"/>
                <a:ea typeface="Calibri"/>
                <a:cs typeface="Calibri"/>
              </a:rPr>
              <a:t>K=40: mayor coherencia entre opciones con estabilidad ≥ mediana. Está en el borde de la grilla.</a:t>
            </a:r>
          </a:p>
        </p:txBody>
      </p:sp>
    </p:spTree>
    <p:extLst>
      <p:ext uri="{BB962C8B-B14F-4D97-AF65-F5344CB8AC3E}">
        <p14:creationId xmlns:p14="http://schemas.microsoft.com/office/powerpoint/2010/main" val="7329978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F6217-BB46-49B2-AC3E-ADC14D61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Cambios anuales pequeños y cuatro regímenes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9A59B-FB18-43FA-82C3-50FA805A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3B997-64A2-4D4D-B2BC-5AB3E280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77D02-0ECA-45BD-B2BE-22E78AD1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D67A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67A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D67A00"/>
                </a:solidFill>
                <a:latin typeface="Calibri"/>
                <a:ea typeface="Calibri"/>
                <a:cs typeface="Calibri"/>
              </a:rPr>
              <a:t>El Tiempo, 1990–2011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6FB494F-1621-43A4-B473-8764F02AB17F}"/>
              </a:ext>
            </a:extLst>
          </p:cNvPr>
          <p:cNvGraphicFramePr/>
          <p:nvPr/>
        </p:nvGraphicFramePr>
        <p:xfrm>
          <a:off xmlns:a="http://schemas.openxmlformats.org/drawingml/2006/main" x="552450" y="2209800"/>
          <a:ext xmlns:a="http://schemas.openxmlformats.org/drawingml/2006/main" cx="7953375" cy="3390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2b66a3cb7b4da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F4B9D-AFE8-4983-9FF4-A9E45267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9800"/>
            <a:ext cx="2552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0">
                <a:solidFill>
                  <a:srgbClr val="445774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445774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675" b="0">
                <a:solidFill>
                  <a:srgbClr val="445774"/>
                </a:solidFill>
                <a:latin typeface="Bookman Old Style"/>
                <a:ea typeface="Bookman Old Style"/>
                <a:cs typeface="Bookman Old Style"/>
              </a:rPr>
              <a:t>21/21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3D3D8-2DDA-4925-BF48-1CE94659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432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transiciones significativas</a:t>
            </a:r>
          </a:p>
          <a:p xmlns:a="http://schemas.openxmlformats.org/drawingml/2006/main">
            <a:pPr>
              <a:defRPr sz="19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frente al nulo (BH &lt; 5%)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ED729-F32B-454F-AA00-5B549FAC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81475"/>
            <a:ext cx="2667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JS media: 0,00293</a:t>
            </a:r>
          </a:p>
          <a:p xmlns:a="http://schemas.openxmlformats.org/drawingml/2006/main">
            <a:pPr>
              <a:defRPr sz="202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5,90% de la distancia</a:t>
            </a:r>
          </a:p>
          <a:p xmlns:a="http://schemas.openxmlformats.org/drawingml/2006/main">
            <a:pPr>
              <a:defRPr sz="202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El Tiempo–Semana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0093A-2ECE-44E0-B72C-1BD2049C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250" b="0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Cortes principales: 1995 · 2000 · 2006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BBACC-EC63-41F2-9E22-4D36E7AE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A503A"/>
                </a:solidFill>
                <a:latin typeface="Calibri"/>
                <a:ea typeface="Calibri"/>
                <a:cs typeface="Calibri"/>
              </a:rPr>
              <a:t>La frontera intermedia varía entre 1999 y 2000. Significación anual y cortes son criterios distintos.</a:t>
            </a:r>
          </a:p>
        </p:txBody>
      </p:sp>
    </p:spTree>
    <p:extLst>
      <p:ext uri="{BB962C8B-B14F-4D97-AF65-F5344CB8AC3E}">
        <p14:creationId xmlns:p14="http://schemas.microsoft.com/office/powerpoint/2010/main" val="13932491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2262F-9E9C-4D13-A114-B6BCD00C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Robustez interna y contraste por medio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F0438-9DA1-47B6-9190-3086EF80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DB89B-D84B-401D-8EE6-6FEC62D6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9EA38-4411-429D-8F59-269E5F0F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445774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445774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550" b="0">
                <a:solidFill>
                  <a:srgbClr val="445774"/>
                </a:solidFill>
                <a:latin typeface="Bookman Old Style"/>
                <a:ea typeface="Bookman Old Style"/>
                <a:cs typeface="Bookman Old Style"/>
              </a:rPr>
              <a:t>1995 · frontera 1999–2000 · 2006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BD4CB-F634-481C-BB85-D23702C387BD}"/>
              </a:ext>
            </a:extLst>
          </p:cNvPr>
          <p:cNvGraphicFramePr/>
          <p:nvPr/>
        </p:nvGraphicFramePr>
        <p:xfrm>
          <a:off xmlns:a="http://schemas.openxmlformats.org/drawingml/2006/main" x="609600" y="2305050"/>
          <a:ext xmlns:a="http://schemas.openxmlformats.org/drawingml/2006/main" cx="6791325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647950"/>
              </a:tblGrid>
              <a:tr h="45447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Variante de El Tiempo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Inicio de régimen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</a:tr>
              <a:tr h="45447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Principal, todos los documentos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1995, 2000, 2006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K=15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1992, 1995, 2000, 2006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K=20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1995, 2000, 2006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K=30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1995, 1999, 2006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semilla 1 (K=40)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1995, 2000, 2006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sin entidades (nombres propios)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1995, 1999, 2002, 2006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CE719-0676-478E-BBF9-BE9E1CA3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700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rPr>
              <a:t>6/6 variantes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01409-EF3C-400A-BDD3-7B912C3C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52750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Apoyan las tres fronteras</a:t>
            </a:r>
          </a:p>
          <a:p xmlns:a="http://schemas.openxmlformats.org/drawingml/2006/main">
            <a:pPr>
              <a:defRPr sz="19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con tolerancia de ±1 año.</a:t>
            </a:r>
          </a:p>
          <a:p xmlns:a="http://schemas.openxmlformats.org/drawingml/2006/main">
            <a:pPr>
              <a:defRPr sz="1950" b="0">
                <a:solidFill>
                  <a:srgbClr val="141B2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41B2E"/>
                </a:solidFill>
                <a:latin typeface="Calibri"/>
                <a:ea typeface="Calibri"/>
                <a:cs typeface="Calibri"/>
              </a:rPr>
              <a:t>Comparten corpus y modelo.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9B2DB-2F1B-47C7-827E-660CA5EA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19600"/>
            <a:ext cx="3714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Cortes próximos (lista parcial)</a:t>
            </a:r>
          </a:p>
          <a:p xmlns:a="http://schemas.openxmlformats.org/drawingml/2006/main">
            <a:pPr>
              <a:defRPr sz="187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Semana: 1994, 1998 y 2006</a:t>
            </a:r>
          </a:p>
          <a:p xmlns:a="http://schemas.openxmlformats.org/drawingml/2006/main">
            <a:pPr>
              <a:defRPr sz="187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Dinero: 2007 cerca de 2006</a:t>
            </a:r>
          </a:p>
          <a:p xmlns:a="http://schemas.openxmlformats.org/drawingml/2006/main">
            <a:pPr>
              <a:defRPr sz="1875" b="0">
                <a:solidFill>
                  <a:srgbClr val="60676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0676F"/>
                </a:solidFill>
                <a:latin typeface="Calibri"/>
                <a:ea typeface="Calibri"/>
                <a:cs typeface="Calibri"/>
              </a:rPr>
              <a:t>NMF entrenado en conjunto.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04D70-56DB-44F0-AB15-AE2BA794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BA503A"/>
                </a:solidFill>
                <a:latin typeface="Calibri"/>
                <a:ea typeface="Calibri"/>
                <a:cs typeface="Calibri"/>
              </a:rPr>
              <a:t>Historia: 3/3 coincidencias, azar 2,53/3 y p=0,581. No supera esa referencia aleatoria.</a:t>
            </a:r>
          </a:p>
        </p:txBody>
      </p:sp>
    </p:spTree>
    <p:extLst>
      <p:ext uri="{BB962C8B-B14F-4D97-AF65-F5344CB8AC3E}">
        <p14:creationId xmlns:p14="http://schemas.microsoft.com/office/powerpoint/2010/main" val="15427684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46405-1B81-4BE2-97F2-7258868E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3000" b="1">
                <a:solidFill>
                  <a:srgbClr val="141B2E"/>
                </a:solidFill>
                <a:latin typeface="Bookman Old Style"/>
                <a:ea typeface="Bookman Old Style"/>
                <a:cs typeface="Bookman Old Style"/>
              </a:rPr>
              <a:t>Propuesta para la fase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37C87-DCDF-4180-BDEC-9F19854D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21639-0616-4174-B0DB-24C7C632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39D02-7928-469E-BF60-B3C4D23E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8108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775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rPr>
              <a:t>La agenda de El Tiempo cambia poco cada año,</a:t>
            </a:r>
          </a:p>
          <a:p xmlns:a="http://schemas.openxmlformats.org/drawingml/2006/main">
            <a:pPr>
              <a:defRPr sz="2775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defRPr>
            </a:pPr>
            <a:r>
              <a:rPr sz="2775" b="0">
                <a:solidFill>
                  <a:srgbClr val="D67A00"/>
                </a:solidFill>
                <a:latin typeface="Bookman Old Style"/>
                <a:ea typeface="Bookman Old Style"/>
                <a:cs typeface="Bookman Old Style"/>
              </a:rPr>
              <a:t>pero acumula cambios y presenta cuatro regímenes.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EBE90-38F0-4D0F-9E3E-1686319082C1}"/>
              </a:ext>
            </a:extLst>
          </p:cNvPr>
          <p:cNvGraphicFramePr/>
          <p:nvPr/>
        </p:nvGraphicFramePr>
        <p:xfrm>
          <a:off xmlns:a="http://schemas.openxmlformats.org/drawingml/2006/main" x="609600" y="3095625"/>
          <a:ext xmlns:a="http://schemas.openxmlformats.org/drawingml/2006/main" cx="109728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48200"/>
                <a:gridCol w="6324600"/>
              </a:tblGrid>
              <a:tr h="5181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Modelo o control propuesto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Pregunta y criterio de comparación</a:t>
                      </a:r>
                    </a:p>
                  </a:txBody>
                  <a:tcPr marL="114300" marR="114300" marT="28575" marB="28575">
                    <a:solidFill>
                      <a:srgbClr val="F1F3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NMF frente a LDA y BERTopic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Coherencia, diversidad, lectura humana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K y semillas adicionales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Estabilidad de tópicos y cortes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PELT y segmentación binaria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Deriva gradual y número de cortes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Evaluación temporal y léxico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1B2E"/>
                          </a:solidFill>
                          <a:latin typeface="Calibri"/>
                          <a:ea typeface="Calibri"/>
                          <a:cs typeface="Calibri"/>
                        </a:rPr>
                        <a:t>Folds limpios, clasificador común, cobertura</a:t>
                      </a:r>
                    </a:p>
                  </a:txBody>
                  <a:tcPr marL="114300" marR="1143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66A40-0457-49ED-95E2-5074DAC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A503A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BA503A"/>
                </a:solidFill>
                <a:latin typeface="Calibri"/>
                <a:ea typeface="Calibri"/>
                <a:cs typeface="Calibri"/>
              </a:rPr>
              <a:t>Trabajo futuro. El alcance actual describe un archivo de prensa, no la agenda pública nacional.</a:t>
            </a:r>
          </a:p>
        </p:txBody>
      </p:sp>
    </p:spTree>
    <p:extLst>
      <p:ext uri="{BB962C8B-B14F-4D97-AF65-F5344CB8AC3E}">
        <p14:creationId xmlns:p14="http://schemas.microsoft.com/office/powerpoint/2010/main" val="1201765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2026-10-05T21:34:19.7840000Z</dcterms:created>
  <dcterms:modified xsi:type="dcterms:W3CDTF">2026-10-05T21:34:19.7840000Z</dcterms:modified>
</coreProperties>
</file>