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3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4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5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4127e9975584a75" /><Relationship Type="http://schemas.openxmlformats.org/officeDocument/2006/relationships/extended-properties" Target="/docProps/app.xml" Id="Rfbac23ef5e444f10" /><Relationship Type="http://schemas.openxmlformats.org/officeDocument/2006/relationships/officeDocument" Target="/ppt/presentation.xml" Id="R5c4a7edfed54407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40a67c9316e48a4"/>
  </p:sldMasterIdLst>
  <p:notesMasterIdLst>
    <p:notesMasterId xmlns:r="http://schemas.openxmlformats.org/officeDocument/2006/relationships" r:id="Ra55e3350c9f34397"/>
  </p:notesMasterIdLst>
  <p:sldIdLst>
    <p:sldId xmlns:r="http://schemas.openxmlformats.org/officeDocument/2006/relationships" id="256" r:id="R2e9691901029411d"/>
    <p:sldId xmlns:r="http://schemas.openxmlformats.org/officeDocument/2006/relationships" id="257" r:id="Rf6a9c8008a7844e4"/>
    <p:sldId xmlns:r="http://schemas.openxmlformats.org/officeDocument/2006/relationships" id="258" r:id="R6d319a8393484231"/>
    <p:sldId xmlns:r="http://schemas.openxmlformats.org/officeDocument/2006/relationships" id="259" r:id="R089593a3e4d447ae"/>
    <p:sldId xmlns:r="http://schemas.openxmlformats.org/officeDocument/2006/relationships" id="260" r:id="R0ecb86a1417f40f8"/>
    <p:sldId xmlns:r="http://schemas.openxmlformats.org/officeDocument/2006/relationships" id="261" r:id="R61b0e4e85ae84220"/>
    <p:sldId xmlns:r="http://schemas.openxmlformats.org/officeDocument/2006/relationships" id="262" r:id="R64dfbb4b33fc43e6"/>
    <p:sldId xmlns:r="http://schemas.openxmlformats.org/officeDocument/2006/relationships" id="263" r:id="R011f682703484cc7"/>
    <p:sldId xmlns:r="http://schemas.openxmlformats.org/officeDocument/2006/relationships" id="264" r:id="Rfca5a01f3f304036"/>
    <p:sldId xmlns:r="http://schemas.openxmlformats.org/officeDocument/2006/relationships" id="265" r:id="Rbe6928d75e014f12"/>
    <p:sldId xmlns:r="http://schemas.openxmlformats.org/officeDocument/2006/relationships" id="266" r:id="Rba3ca98ee4294235"/>
    <p:sldId xmlns:r="http://schemas.openxmlformats.org/officeDocument/2006/relationships" id="267" r:id="R7c634df9383045e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e14c7b50efb4695" /><Relationship Type="http://schemas.openxmlformats.org/officeDocument/2006/relationships/slideMaster" Target="/ppt/slideMasters/slideMaster1.xml" Id="Re40a67c9316e48a4" /><Relationship Type="http://schemas.openxmlformats.org/officeDocument/2006/relationships/notesMaster" Target="/ppt/notesMasters/notesMaster1.xml" Id="Ra55e3350c9f34397" /><Relationship Type="http://schemas.openxmlformats.org/officeDocument/2006/relationships/presProps" Target="/ppt/presProps.xml" Id="R11420f9b1b914eac" /><Relationship Type="http://schemas.openxmlformats.org/officeDocument/2006/relationships/tableStyles" Target="/ppt/tableStyles.xml" Id="R2de457176ee64113" /><Relationship Type="http://schemas.openxmlformats.org/officeDocument/2006/relationships/slide" Target="/ppt/slides/slide1.xml" Id="R2e9691901029411d" /><Relationship Type="http://schemas.openxmlformats.org/officeDocument/2006/relationships/slide" Target="/ppt/slides/slide2.xml" Id="Rf6a9c8008a7844e4" /><Relationship Type="http://schemas.openxmlformats.org/officeDocument/2006/relationships/slide" Target="/ppt/slides/slide3.xml" Id="R6d319a8393484231" /><Relationship Type="http://schemas.openxmlformats.org/officeDocument/2006/relationships/slide" Target="/ppt/slides/slide4.xml" Id="R089593a3e4d447ae" /><Relationship Type="http://schemas.openxmlformats.org/officeDocument/2006/relationships/slide" Target="/ppt/slides/slide5.xml" Id="R0ecb86a1417f40f8" /><Relationship Type="http://schemas.openxmlformats.org/officeDocument/2006/relationships/slide" Target="/ppt/slides/slide6.xml" Id="R61b0e4e85ae84220" /><Relationship Type="http://schemas.openxmlformats.org/officeDocument/2006/relationships/slide" Target="/ppt/slides/slide7.xml" Id="R64dfbb4b33fc43e6" /><Relationship Type="http://schemas.openxmlformats.org/officeDocument/2006/relationships/slide" Target="/ppt/slides/slide8.xml" Id="R011f682703484cc7" /><Relationship Type="http://schemas.openxmlformats.org/officeDocument/2006/relationships/slide" Target="/ppt/slides/slide9.xml" Id="Rfca5a01f3f304036" /><Relationship Type="http://schemas.openxmlformats.org/officeDocument/2006/relationships/slide" Target="/ppt/slides/slide10.xml" Id="Rbe6928d75e014f12" /><Relationship Type="http://schemas.openxmlformats.org/officeDocument/2006/relationships/slide" Target="/ppt/slides/slide11.xml" Id="Rba3ca98ee4294235" /><Relationship Type="http://schemas.openxmlformats.org/officeDocument/2006/relationships/slide" Target="/ppt/slides/slide12.xml" Id="R7c634df9383045e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07ca00ee5f042f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d44ce9eaf5a4170" /><Relationship Type="http://schemas.openxmlformats.org/officeDocument/2006/relationships/notesMaster" Target="/ppt/notesMasters/notesMaster1.xml" Id="R3ea1e8f2a736401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41372a889ea4490" /><Relationship Type="http://schemas.openxmlformats.org/officeDocument/2006/relationships/notesMaster" Target="/ppt/notesMasters/notesMaster1.xml" Id="R0717938d9e0548e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735eb9f652a402b" /><Relationship Type="http://schemas.openxmlformats.org/officeDocument/2006/relationships/notesMaster" Target="/ppt/notesMasters/notesMaster1.xml" Id="R5a1e026bf32f4e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cb0c90755584488" /><Relationship Type="http://schemas.openxmlformats.org/officeDocument/2006/relationships/notesMaster" Target="/ppt/notesMasters/notesMaster1.xml" Id="R5c9420db750749a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fe7f0c563644536" /><Relationship Type="http://schemas.openxmlformats.org/officeDocument/2006/relationships/notesMaster" Target="/ppt/notesMasters/notesMaster1.xml" Id="Raa7b310aa537489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d974840eca42e3" /><Relationship Type="http://schemas.openxmlformats.org/officeDocument/2006/relationships/notesMaster" Target="/ppt/notesMasters/notesMaster1.xml" Id="R6f6875a5704d4d0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1e72d9e9e584165" /><Relationship Type="http://schemas.openxmlformats.org/officeDocument/2006/relationships/notesMaster" Target="/ppt/notesMasters/notesMaster1.xml" Id="Rf4bcb45c0e664fd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f26b56aea784c09" /><Relationship Type="http://schemas.openxmlformats.org/officeDocument/2006/relationships/notesMaster" Target="/ppt/notesMasters/notesMaster1.xml" Id="R374c28d9d419470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978af9cde504c02" /><Relationship Type="http://schemas.openxmlformats.org/officeDocument/2006/relationships/notesMaster" Target="/ppt/notesMasters/notesMaster1.xml" Id="Ra7f7f040843c497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3d606c9f368436c" /><Relationship Type="http://schemas.openxmlformats.org/officeDocument/2006/relationships/notesMaster" Target="/ppt/notesMasters/notesMaster1.xml" Id="Rb7474ddebfad4e1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4d45990156d4911" /><Relationship Type="http://schemas.openxmlformats.org/officeDocument/2006/relationships/notesMaster" Target="/ppt/notesMasters/notesMaster1.xml" Id="R5d94a3b6f8ad44e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11f39fb1b54487a" /><Relationship Type="http://schemas.openxmlformats.org/officeDocument/2006/relationships/notesMaster" Target="/ppt/notesMasters/notesMaster1.xml" Id="R47e9288f47e3455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 de la fotografía: presentación base Proyecto NLP Grupo 4.pdf, portada. El corpus abarca 1980–2011. La serie principal de inferencia es El Tiempo, 1990–2011.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regimenes: Serie principal ET1990–2011: cuatro regímenes, cortes1995,2000,2006; frontera intermedia1999–2000 en robustez.</a:t>
            </a:r>
          </a:p>
          <a:p xmlns:a="http://schemas.openxmlformats.org/drawingml/2006/main">
            <a:r>
              <a:t>Fuente: {"notebook":"C:\\Users\\MSI\\Downloads\\30 SEPTIEMBRE\\06_agenda_topicos_cambio_ver2.ipynb","cell_index_zero_based":25,"cell_human":26,"files":[]}</a:t>
            </a:r>
          </a:p>
          <a:p xmlns:a="http://schemas.openxmlformats.org/drawingml/2006/main">
            <a:r>
              <a:t>Denominador: segmentación binaria raíz(θ), N cap3000;200permutaciones por corte, mínimo2años</a:t>
            </a:r>
          </a:p>
          <a:p xmlns:a="http://schemas.openxmlformats.org/drawingml/2006/main">
            <a:r>
              <a:t>Límite: Consenso selecciona1999 al empatar soportes y colapsar ±1; no precisión al año1999. Segmentación voraz puede escalonar deriva; no ajuste múltiple de divisiones.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transiciones: El Tiempo21/21 transiciones significativas de magnitud media0,00293; pooled21/29; Semana4/29.</a:t>
            </a:r>
          </a:p>
          <a:p xmlns:a="http://schemas.openxmlformats.org/drawingml/2006/main">
            <a:r>
              <a:t>Fuente: {"notebook":"C:\\Users\\MSI\\Downloads\\30 SEPTIEMBRE\\06_agenda_topicos_cambio_ver2.ipynb","cell_index_zero_based":19,"cell_human":20,"files":["transiciones_anuales.csv"]}</a:t>
            </a:r>
          </a:p>
          <a:p xmlns:a="http://schemas.openxmlformats.org/drawingml/2006/main">
            <a:r>
              <a:t>Denominador: pares anuales consecutivos ambos N≥40;1000permutaciones estratificadas; BH5% por serie</a:t>
            </a:r>
          </a:p>
          <a:p xmlns:a="http://schemas.openxmlformats.org/drawingml/2006/main">
            <a:r>
              <a:t>Límite: No confundir significación anual con tres puntos de cambio ni decir casi todas ET: son todas. No presentar pooled como serie 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Cambios documentados en 05 y 06 y en la sección 3 del informe anterior. La regla anterior de ≥2 de 3 señales en el cuartil superior se descartó por usar rankings relativos sin calibración frente al nulo. Historia se contrasta al final.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Estado del arte del informe_entrega2.md§2 y PDF workspace Proyecto NLP Grupo4(1) página3. Caicedo,Gaviria,Moreno2012: https://www.redalyc.org/pdf/419/41923219006.pdf verificado en referencias_verificadas.md. No llamar primer estudio sin evidencia, ni afirmar corpus como subconjunto trazado. Michel2011/McCombsShaw1972/BaumgartnerJones1993/CAP conservados de bibliografía original, sin cifras externas añadidas. Encontrar cortes no demuestra equilibrio puntuado ni cambio de opinión pública.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Informe_entrega2.md§2. Fuentes primarias verificadas: NMF https://www.nature.com/articles/44565; LDA https://www.jmlr.org/papers/v3/blei03a.html; Sentence-BERT https://arxiv.org/abs/1908.10084. TF-IDF SaltonBuckley1988 y referencias BleiLafferty2006, Roberts2014, Grootendorst2022, Kleinberg2002, Killick2012, CovingtonMcFall2010, Monroe2008, Bouma2009 se conservan desde bibliografía anterior sin agregar resultados externos específicos. BERTopic/LDA/STM/PELT no ejecutados. Corridas actualizadas únicamente05/06.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corpus_docs: El corpus medido contiene 91.585 documentos.</a:t>
            </a:r>
          </a:p>
          <a:p xmlns:a="http://schemas.openxmlformats.org/drawingml/2006/main">
            <a:r>
              <a:t>Fuente: {"notebook":"C:\\Users\\MSI\\Downloads\\30 SEPTIEMBRE\\05_eda_avanzado_dataset_medido.ipynb","cell_index_zero_based":6,"cell_human":7,"files":["results/resumen_05.json","results/corpus_medido.parquet"]}</a:t>
            </a:r>
          </a:p>
          <a:p xmlns:a="http://schemas.openxmlformats.org/drawingml/2006/main">
            <a:r>
              <a:t>Denominador: corpus deduplicado por texto normalizado; fechas válidas; 1980–2011</a:t>
            </a:r>
          </a:p>
          <a:p xmlns:a="http://schemas.openxmlformats.org/drawingml/2006/main">
            <a:r>
              <a:t>Límite: No es un censo de la prensa colombiana.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fuentes: El Tiempo 81.539 (89,03%); Semana 6.620 (7,23%); Dinero 3.426 (3,74%).</a:t>
            </a:r>
          </a:p>
          <a:p xmlns:a="http://schemas.openxmlformats.org/drawingml/2006/main">
            <a:r>
              <a:t>Fuente: {"notebook":"C:\\Users\\MSI\\Downloads\\30 SEPTIEMBRE\\05_eda_avanzado_dataset_medido.ipynb","cell_index_zero_based":6,"cell_human":7,"files":["revision_local/lecturas/auditoria_datos.json"]}</a:t>
            </a:r>
          </a:p>
          <a:p xmlns:a="http://schemas.openxmlformats.org/drawingml/2006/main">
            <a:r>
              <a:t>Denominador: 91.585 documentos</a:t>
            </a:r>
          </a:p>
          <a:p xmlns:a="http://schemas.openxmlformats.org/drawingml/2006/main">
            <a:r>
              <a:t>Límite: Antes de 1990 solo Semana; falta 1981. Dinero falta también en 1996.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tokens_contenido: 15.532.463 tokens de contenido usados en EDA y representaciones.</a:t>
            </a:r>
          </a:p>
          <a:p xmlns:a="http://schemas.openxmlformats.org/drawingml/2006/main">
            <a:r>
              <a:t>Fuente: {"notebook":"C:\\Users\\MSI\\Downloads\\30 SEPTIEMBRE\\05_eda_avanzado_dataset_medido.ipynb","cell_index_zero_based":9,"cell_human":10,"files":["results/resumen_05.json"]}</a:t>
            </a:r>
          </a:p>
          <a:p xmlns:a="http://schemas.openxmlformats.org/drawingml/2006/main">
            <a:r>
              <a:t>Denominador: tokens en minúsculas, sin stopwords y longitud ≥3</a:t>
            </a:r>
          </a:p>
          <a:p xmlns:a="http://schemas.openxmlformats.org/drawingml/2006/main">
            <a:r>
              <a:t>Límite: No intercambiar con 31,9 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Cobertura: datos_graficos.json coverage, notebook05 celda6. Ceros de gráfico indican ausencia de documentos suministrados; 1981 no es un año observado. Dinero tampoco tiene 1996. No es un censo de prensa.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diversidad: Se compara MATTR y Yule K con igual cantidad de tokens.</a:t>
            </a:r>
          </a:p>
          <a:p xmlns:a="http://schemas.openxmlformats.org/drawingml/2006/main">
            <a:r>
              <a:t>Fuente: {"notebook":"C:\\Users\\MSI\\Downloads\\30 SEPTIEMBRE\\05_eda_avanzado_dataset_medido.ipynb","cell_index_zero_based":12,"cell_human":13,"files":["results/diversidad_lexica.csv"]}</a:t>
            </a:r>
          </a:p>
          <a:p xmlns:a="http://schemas.openxmlformats.org/drawingml/2006/main">
            <a:r>
              <a:t>Denominador: muestra fija 30.000 tokens por grupo año/fuente; insuficientes omitidos</a:t>
            </a:r>
          </a:p>
          <a:p xmlns:a="http://schemas.openxmlformats.org/drawingml/2006/main">
            <a:r>
              <a:t>Límite: Una muestra por grupo, sin intervalos; MATTR no elimina todos los sesgos. Todas 25 años, ET22, Semana23, Dinero7.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heaps_beta: β global≈0,460: crecimiento sublineal del vocabulario observado.</a:t>
            </a:r>
          </a:p>
          <a:p xmlns:a="http://schemas.openxmlformats.org/drawingml/2006/main">
            <a:r>
              <a:t>Fuente: {"notebook":"C:\\Users\\MSI\\Downloads\\30 SEPTIEMBRE\\05_eda_avanzado_dataset_medido.ipynb","cell_index_zero_based":13,"cell_human":14,"files":["results/resumen_05.json"]}</a:t>
            </a:r>
          </a:p>
          <a:p xmlns:a="http://schemas.openxmlformats.org/drawingml/2006/main">
            <a:r>
              <a:t>Denominador: ajuste log-log de tipos acumulados sobre documentos ordenados aleatoriamente</a:t>
            </a:r>
          </a:p>
          <a:p xmlns:a="http://schemas.openxmlformats.org/drawingml/2006/main">
            <a:r>
              <a:t>Límite: No garantiza crecimiento indefinido; formas sin lematización y nombres propios.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tipos_hapax: 266.562 tipos de contenido; 42,34% tienen una sola aparición.</a:t>
            </a:r>
          </a:p>
          <a:p xmlns:a="http://schemas.openxmlformats.org/drawingml/2006/main">
            <a:r>
              <a:t>Fuente: {"notebook":"C:\\Users\\MSI\\Downloads\\30 SEPTIEMBRE\\05_eda_avanzado_dataset_medido.ipynb","cell_index_zero_based":10,"cell_human":11,"files":["results/resumen_05.json"]}</a:t>
            </a:r>
          </a:p>
          <a:p xmlns:a="http://schemas.openxmlformats.org/drawingml/2006/main">
            <a:r>
              <a:t>Denominador: vocabulario de contenido; hapax / 266.562 tipos</a:t>
            </a:r>
          </a:p>
          <a:p xmlns:a="http://schemas.openxmlformats.org/drawingml/2006/main">
            <a:r>
              <a:t>Límite: No confundir porcentaje de tipos con porcentaje de tokens.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Notebook05 celdas9–14 y27. Tipos/hapax no tokens. β no demuestra crecimiento indefinido. MATTR ventana500 y77grupos con≥30000tokens. Gráfico ET/Semana para legibilidad; Dinero7grupos. Parquet completo91585×15, CSV muestra2000. Variables: id,fuente,fecha,año,texto_limpio,tokens,n_chars,n_palabras,n_tokens,n_types,ttr,n_entidades,frac_entidades,categoria_inicial,n_hits_lexico. tokens es cadena. id enlazaθ. Entidades proxy mayúsculas noNER: media documental21,956%,global18,250%,mediaanual16,821%. Distintos denominadores.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bigramas_conteos: Los conteos observados pueden mostrarse como ejemplos: derechos humanos 3.574.</a:t>
            </a:r>
          </a:p>
          <a:p xmlns:a="http://schemas.openxmlformats.org/drawingml/2006/main">
            <a:r>
              <a:t>Fuente: {"notebook":"C:\\Users\\MSI\\Downloads\\30 SEPTIEMBRE\\05_eda_avanzado_dataset_medido.ipynb","cell_index_zero_based":15,"cell_human":16,"files":[]}</a:t>
            </a:r>
          </a:p>
          <a:p xmlns:a="http://schemas.openxmlformats.org/drawingml/2006/main">
            <a:r>
              <a:t>Denominador: pares adyacentes del texto tokenizado sin puntuación cuyos términos están en V</a:t>
            </a:r>
          </a:p>
          <a:p xmlns:a="http://schemas.openxmlformats.org/drawingml/2006/main">
            <a:r>
              <a:t>Límite: No son frecuencias de documentos; pueden cruzar límites de oración. Ranking y selección condicionados por NPMI inválida, no comparar intensidad entre épocas sin normalizar.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npmi05_invalida: 383/2.000 puntuaciones exportadas superan 1; no presentar el ranking como NPMI válida.</a:t>
            </a:r>
          </a:p>
          <a:p xmlns:a="http://schemas.openxmlformats.org/drawingml/2006/main">
            <a:r>
              <a:t>Fuente: {"notebook":"C:\\Users\\MSI\\Downloads\\30 SEPTIEMBRE\\05_eda_avanzado_dataset_medido.ipynb","cell_index_zero_based":15,"cell_human":16,"files":["results/bigramas_npmi.csv"]}</a:t>
            </a:r>
          </a:p>
          <a:p xmlns:a="http://schemas.openxmlformats.org/drawingml/2006/main">
            <a:r>
              <a:t>Denominador: CSV top 2.000; 12.205 candidatos con n≥30</a:t>
            </a:r>
          </a:p>
          <a:p xmlns:a="http://schemas.openxmlformats.org/drawingml/2006/main">
            <a:r>
              <a:t>Límite: p(a,b) usa total de pares elegibles B; marginales usan tokens de contenido N_CONT: espacios muestrales incompatibles.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lexico: Léxico propio inspirado en CAP/EuroVoc: 13 categorías, 6,755% de tokens y 86,832% de documentos con categoría inicial.</a:t>
            </a:r>
          </a:p>
          <a:p xmlns:a="http://schemas.openxmlformats.org/drawingml/2006/main">
            <a:r>
              <a:t>Fuente: {"notebook":"C:\\Users\\MSI\\Downloads\\30 SEPTIEMBRE\\05_eda_avanzado_dataset_medido.ipynb","cell_index_zero_based":24,"cell_human":25,"files":["results/prevalencia_lexico_por_anio.csv","results/resumen_05.json"]}</a:t>
            </a:r>
          </a:p>
          <a:p xmlns:a="http://schemas.openxmlformats.org/drawingml/2006/main">
            <a:r>
              <a:t>Denominador: cobertura tokens /15.532.463; categorizados /91.585, mínimo total 2 hits</a:t>
            </a:r>
          </a:p>
          <a:p xmlns:a="http://schemas.openxmlformats.org/drawingml/2006/main">
            <a:r>
              <a:t>Límite: No ontología ni tesauro externo formal. Prefijos y prioridad por orden: polisemia, cobertura incompleta y etiquetas débiles; no gold standard.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coocurrencias: Coocurrencias documentales exploran cambios de contexto; p.ej. salud con eps/ips en los 90.</a:t>
            </a:r>
          </a:p>
          <a:p xmlns:a="http://schemas.openxmlformats.org/drawingml/2006/main">
            <a:r>
              <a:t>Fuente: {"notebook":"C:\\Users\\MSI\\Downloads\\30 SEPTIEMBRE\\05_eda_avanzado_dataset_medido.ipynb","cell_index_zero_based":20,"cell_human":21,"files":[]}</a:t>
            </a:r>
          </a:p>
          <a:p xmlns:a="http://schemas.openxmlformats.org/drawingml/2006/main">
            <a:r>
              <a:t>Denominador: presencia binaria a nivel documento; frecuencias marginales y conjuntas en la misma época</a:t>
            </a:r>
          </a:p>
          <a:p xmlns:a="http://schemas.openxmlformats.org/drawingml/2006/main">
            <a:r>
              <a:t>Límite: Código calcula PMI, no aplica max(0,PMI); arg-sort puede devolver -inf cuando no hay vecinos suficientes. Descartar vecinos empleo/fútbol/corrupción años80; lista sin puntuaciones no acredita fuerza.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Conteos conservados como ejemplos de ocurrencias, no documentos ni ranking válido. La selección original estuvo condicionada por NPMI05 defectuosa. Léxico no es una ontología formal. Coocurrencia usa presencia binaria documental; listas de vecinos sin puntuación no prueban fuerza.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vector_real: Documento real Dinero 2005-04-01 → BoW y TF-IDF; empleo0,178, laboral0,160, ley0,150.</a:t>
            </a:r>
          </a:p>
          <a:p xmlns:a="http://schemas.openxmlformats.org/drawingml/2006/main">
            <a:r>
              <a:t>Fuente: {"notebook":"C:\\Users\\MSI\\Downloads\\30 SEPTIEMBRE\\06_agenda_topicos_cambio_ver2.ipynb","cell_index_zero_based":8,"cell_human":9,"files":[]}</a:t>
            </a:r>
          </a:p>
          <a:p xmlns:a="http://schemas.openxmlformats.org/drawingml/2006/main">
            <a:r>
              <a:t>Denominador: fila del documento id13312, 22.196 coordenadas; 186 no nulas</a:t>
            </a:r>
          </a:p>
          <a:p xmlns:a="http://schemas.openxmlformats.org/drawingml/2006/main">
            <a:r>
              <a:t>Límite: El ejemplo es una selección de coordenadas; pesos no suman 1. Redondeo de la salida.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tfidf: TF-IDF tiene dimensión 91.585×22.196 y densidad≈0,518%.</a:t>
            </a:r>
          </a:p>
          <a:p xmlns:a="http://schemas.openxmlformats.org/drawingml/2006/main">
            <a:r>
              <a:t>Fuente: {"notebook":"C:\\Users\\MSI\\Downloads\\30 SEPTIEMBRE\\06_agenda_topicos_cambio_ver2.ipynb","cell_index_zero_based":8,"cell_human":9,"files":[]}</a:t>
            </a:r>
          </a:p>
          <a:p xmlns:a="http://schemas.openxmlformats.org/drawingml/2006/main">
            <a:r>
              <a:t>Denominador: vectorizador ajustado sobre muestra de hasta 1.000 documentos/año (22.534); transformado sobre todos</a:t>
            </a:r>
          </a:p>
          <a:p xmlns:a="http://schemas.openxmlformats.org/drawingml/2006/main">
            <a:r>
              <a:t>Límite: min_df15 max_df0,4 max_features25.000; sublinear_tf; L2; no lematización; ajuste por año no por fuente.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comparacion_repr: En el protocolo exploratorio TF-IDF+LinearSVC obtuvo0,558/0,527; SVD+LR0,448/0,495; MiniLM+LR0,390/0,439.</a:t>
            </a:r>
          </a:p>
          <a:p xmlns:a="http://schemas.openxmlformats.org/drawingml/2006/main">
            <a:r>
              <a:t>Fuente: {"notebook":"C:\\Users\\MSI\\Downloads\\30 SEPTIEMBRE\\06_agenda_topicos_cambio_ver2.ipynb","cell_index_zero_based":9,"cell_human":10,"files":["comparacion_representaciones.csv"]}</a:t>
            </a:r>
          </a:p>
          <a:p xmlns:a="http://schemas.openxmlformats.org/drawingml/2006/main">
            <a:r>
              <a:t>Denominador: 3.927 documentos, hasta150/año; 5 folds estratificados; clasificar periodo/fuente</a:t>
            </a:r>
          </a:p>
          <a:p xmlns:a="http://schemas.openxmlformats.org/drawingml/2006/main">
            <a:r>
              <a:t>Límite: No comparación aislada de representación: cambia clasificador; TF-IDF ajustado antes de CV y SVD fuera de folds; no CV temporal limpia. Periodo y fuente correlacionados. MiniLM solo primeros700caracteres y max_seq_length128. No prueba semántica ni evaluación del modelado de temas.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tiempos_repr: TF-IDF: tiempo no medido; SVD≈1,690s; encode MiniLM≈10,078s en la corrida.</a:t>
            </a:r>
          </a:p>
          <a:p xmlns:a="http://schemas.openxmlformats.org/drawingml/2006/main">
            <a:r>
              <a:t>Fuente: {"notebook":"C:\\Users\\MSI\\Downloads\\30 SEPTIEMBRE\\06_agenda_topicos_cambio_ver2.ipynb","cell_index_zero_based":9,"cell_human":10,"files":[]}</a:t>
            </a:r>
          </a:p>
          <a:p xmlns:a="http://schemas.openxmlformats.org/drawingml/2006/main">
            <a:r>
              <a:t>Denominador: transformación SVD y encode MiniLM de muestra</a:t>
            </a:r>
          </a:p>
          <a:p xmlns:a="http://schemas.openxmlformats.org/drawingml/2006/main">
            <a:r>
              <a:t>Límite: 0,0 de TF-IDF es literal en código. Los tiempos densos excluyen CV; descarga del modelo fuera del reloj. No benchmark comparable.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Notebook06 celda8 vector real. ID13312,186componentes no nulas, vector completo no mostrado, top10 no suma1. TFIDF91585×22196,densidad0,518%,ajustado22534docs hasta1000/año,min_df15,max_df0,4,sublinear_tf,normaL2. Comparación5folds≈4000docs periodo/fuente, clasificadores diferentes: TFIDF+LinearSVC,SVD128+LR,MiniLM384+LR; ajustados fuerafolds. MacroF1 no evalúa calidad semántica. MiniLM primeros700caracteres/max_seq128. TiempoTFIDF no medido; no benchmarkcostes. Base TFIDF+NMF por interpretabilidad. ReimersGurevych2019 https://arxiv.org/abs/1908.10084.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nmf_grid: K40 elegido por mayor coherencia entre K con estabilidad≥mediana; coherencia0,3007, estabilidad0,8248.</a:t>
            </a:r>
          </a:p>
          <a:p xmlns:a="http://schemas.openxmlformats.org/drawingml/2006/main">
            <a:r>
              <a:t>Fuente: {"notebook":"C:\\Users\\MSI\\Downloads\\30 SEPTIEMBRE\\06_agenda_topicos_cambio_ver2.ipynb","cell_index_zero_based":12,"cell_human":13,"files":["seleccion_K.csv"]}</a:t>
            </a:r>
          </a:p>
          <a:p xmlns:a="http://schemas.openxmlformats.org/drawingml/2006/main">
            <a:r>
              <a:t>Denominador: K15,20,30,40; semillas0 y1 sobre22.534 docs; NPMI documento top10</a:t>
            </a:r>
          </a:p>
          <a:p xmlns:a="http://schemas.openxmlformats.org/drawingml/2006/main">
            <a:r>
              <a:t>Límite: K40 está en borde de grilla; no óptimo global. Semillas también cambian inicialización. NPMI06 usa probabilidades documentales consistentes; no confundir con NPMI05 inválida.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theta: Los91.585 documentos se proyectan a40tópicos; ningún vector vacío; θ suma1 antes de exportar.</a:t>
            </a:r>
          </a:p>
          <a:p xmlns:a="http://schemas.openxmlformats.org/drawingml/2006/main">
            <a:r>
              <a:t>Fuente: {"notebook":"C:\\Users\\MSI\\Downloads\\30 SEPTIEMBRE\\06_agenda_topicos_cambio_ver2.ipynb","cell_index_zero_based":14,"cell_human":15,"files":["theta_documentos.csv.gz"]}</a:t>
            </a:r>
          </a:p>
          <a:p xmlns:a="http://schemas.openxmlformats.org/drawingml/2006/main">
            <a:r>
              <a:t>Denominador: W normalizada por suma fila; media de θ por año</a:t>
            </a:r>
          </a:p>
          <a:p xmlns:a="http://schemas.openxmlformats.org/drawingml/2006/main">
            <a:r>
              <a:t>Límite: CSV θ redondeado5decimales; prevalencia mide peso documental, no audiencia ni importancia.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NMF sobre TF-IDF ajustado en muestra por año, aplicado a todo corpus. NPMI06 tiene probabilidades documentales consistentes y no es NPMI05. K40 coherencia0,3007, estabilidad0,8248. T21 términos reales de topicos.csv. Nombre Congreso y legislación es interpretación editorial. Lee y Seung (1999), https://www.nature.com/articles/44565. Modelo rápido CPU, componentes aditivos; K40 es una elección práctica, no óptimo universal.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transiciones: El Tiempo21/21 transiciones significativas de magnitud media0,00293; pooled21/29; Semana4/29.</a:t>
            </a:r>
          </a:p>
          <a:p xmlns:a="http://schemas.openxmlformats.org/drawingml/2006/main">
            <a:r>
              <a:t>Fuente: {"notebook":"C:\\Users\\MSI\\Downloads\\30 SEPTIEMBRE\\06_agenda_topicos_cambio_ver2.ipynb","cell_index_zero_based":19,"cell_human":20,"files":["transiciones_anuales.csv"]}</a:t>
            </a:r>
          </a:p>
          <a:p xmlns:a="http://schemas.openxmlformats.org/drawingml/2006/main">
            <a:r>
              <a:t>Denominador: pares anuales consecutivos ambos N≥40;1000permutaciones estratificadas; BH5% por serie</a:t>
            </a:r>
          </a:p>
          <a:p xmlns:a="http://schemas.openxmlformats.org/drawingml/2006/main">
            <a:r>
              <a:t>Límite: No confundir significación anual con tres puntos de cambio ni decir casi todas ET: son todas. No presentar pooled como serie 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escala_fuentes: JS anual ET≈5,90% del JS entre fuentes; η² año0,407%, fuente0,582%.</a:t>
            </a:r>
          </a:p>
          <a:p xmlns:a="http://schemas.openxmlformats.org/drawingml/2006/main">
            <a:r>
              <a:t>Fuente: {"notebook":"C:\\Users\\MSI\\Downloads\\30 SEPTIEMBRE\\06_agenda_topicos_cambio_ver2.ipynb","cell_index_zero_based":21,"cell_human":22,"files":[],"eta2_cell_index_zero_based":17,"eta2_cell_human":18}</a:t>
            </a:r>
          </a:p>
          <a:p xmlns:a="http://schemas.openxmlformats.org/drawingml/2006/main">
            <a:r>
              <a:t>Denominador: JS medio ET vs Semana mismo año ambos N≥40; η² ponderado por prevalencia tópico</a:t>
            </a:r>
          </a:p>
          <a:p xmlns:a="http://schemas.openxmlformats.org/drawingml/2006/main">
            <a:r>
              <a:t>Límite: η² descriptivos separados, no efectos causales ajustados; bajos. No demuestra interés público.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regimenes: Serie principal ET1990–2011: cuatro regímenes, cortes1995,2000,2006; frontera intermedia1999–2000 en robustez.</a:t>
            </a:r>
          </a:p>
          <a:p xmlns:a="http://schemas.openxmlformats.org/drawingml/2006/main">
            <a:r>
              <a:t>Fuente: {"notebook":"C:\\Users\\MSI\\Downloads\\30 SEPTIEMBRE\\06_agenda_topicos_cambio_ver2.ipynb","cell_index_zero_based":25,"cell_human":26,"files":[]}</a:t>
            </a:r>
          </a:p>
          <a:p xmlns:a="http://schemas.openxmlformats.org/drawingml/2006/main">
            <a:r>
              <a:t>Denominador: segmentación binaria raíz(θ), N cap3000;200permutaciones por corte, mínimo2años</a:t>
            </a:r>
          </a:p>
          <a:p xmlns:a="http://schemas.openxmlformats.org/drawingml/2006/main">
            <a:r>
              <a:t>Límite: Consenso selecciona1999 al empatar soportes y colapsar ±1; no precisión al año1999. Segmentación voraz puede escalonar deriva; no ajuste múltiple de divisiones.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Curva JS derivada de medias anuales de theta_documentos.csv.gz redondeada a5decimales. Derivación descriptiva, no entrenamiento ni recálculo de p/nulo. Significación21/21 y JSmedia0,00293 provienen de salidas notebook06. Nulo medio≈0,0008. Segmentación principal produce cuatro regímenes: 1990–94,1995–99,2000–05,2006–11. Corte1999 consenso±1 es representante de frontera1999–2000, no fecha exacta.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consenso: 1995, frontera1999–2000 y2006 tienen soporte6/6 con ±1año.</a:t>
            </a:r>
          </a:p>
          <a:p xmlns:a="http://schemas.openxmlformats.org/drawingml/2006/main">
            <a:r>
              <a:t>Fuente: {"notebook":"C:\\Users\\MSI\\Downloads\\30 SEPTIEMBRE\\06_agenda_topicos_cambio_ver2.ipynb","cell_index_zero_based":28,"cell_human":29,"files":["robustez_cambios.csv","soporte_cambios.csv","cambios_otras_series.csv"]}</a:t>
            </a:r>
          </a:p>
          <a:p xmlns:a="http://schemas.openxmlformats.org/drawingml/2006/main">
            <a:r>
              <a:t>Denominador: 6 variantes ET; soporte con ventana±1; criterio≥50%</a:t>
            </a:r>
          </a:p>
          <a:p xmlns:a="http://schemas.openxmlformats.org/drawingml/2006/main">
            <a:r>
              <a:t>Límite: Variantes dependientes, mismo corpus/modelo; mayoría ajustada en muestra, principal todos docs. Otros medios son contrastes, no parte de6.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regimenes: Serie principal ET1990–2011: cuatro regímenes, cortes1995,2000,2006; frontera intermedia1999–2000 en robustez.</a:t>
            </a:r>
          </a:p>
          <a:p xmlns:a="http://schemas.openxmlformats.org/drawingml/2006/main">
            <a:r>
              <a:t>Fuente: {"notebook":"C:\\Users\\MSI\\Downloads\\30 SEPTIEMBRE\\06_agenda_topicos_cambio_ver2.ipynb","cell_index_zero_based":25,"cell_human":26,"files":[]}</a:t>
            </a:r>
          </a:p>
          <a:p xmlns:a="http://schemas.openxmlformats.org/drawingml/2006/main">
            <a:r>
              <a:t>Denominador: segmentación binaria raíz(θ), N cap3000;200permutaciones por corte, mínimo2años</a:t>
            </a:r>
          </a:p>
          <a:p xmlns:a="http://schemas.openxmlformats.org/drawingml/2006/main">
            <a:r>
              <a:t>Límite: Consenso selecciona1999 al empatar soportes y colapsar ±1; no precisión al año1999. Segmentación voraz puede escalonar deriva; no ajuste múltiple de divisiones.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contraste_historico: 3/3cambios coinciden, azar2,53/3 y p0,581: coincidencia no supera esta referencia aleatoria.</a:t>
            </a:r>
          </a:p>
          <a:p xmlns:a="http://schemas.openxmlformats.org/drawingml/2006/main">
            <a:r>
              <a:t>Fuente: {"notebook":"C:\\Users\\MSI\\Downloads\\30 SEPTIEMBRE\\06_agenda_topicos_cambio_ver2.ipynb","cell_index_zero_based":30,"cell_human":31,"files":[]}</a:t>
            </a:r>
          </a:p>
          <a:p xmlns:a="http://schemas.openxmlformats.org/drawingml/2006/main">
            <a:r>
              <a:t>Denominador: 3cambios a±1 de lista9eventos;5000muestras sin reemplazo en valid_years[2:-1] ET</a:t>
            </a:r>
          </a:p>
          <a:p xmlns:a="http://schemas.openxmlformats.org/drawingml/2006/main">
            <a:r>
              <a:t>Límite: No causalidad ni prueba de ausencia de efectos históricos. Congelación afirmada por notebook, no verificada por historial.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 muestran cambios relevantes con±1 frente a las fronterasET. Semana además1986/2008; Dinero tiene13años válidos1998–2011: 2002 se excluye por39documentos, por debajo de MIN_N40. La serie estandarizada reutilizaET/Semana: no evidencia independiente. Contraste histórico no establece causalidad ni ausencia de efectos. Lista9eventos,5000 sorteos; congelación declarada por notebook, no verificada por historial.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regimenes: Serie principal ET1990–2011: cuatro regímenes, cortes1995,2000,2006; frontera intermedia1999–2000 en robustez.</a:t>
            </a:r>
          </a:p>
          <a:p xmlns:a="http://schemas.openxmlformats.org/drawingml/2006/main">
            <a:r>
              <a:t>Fuente: {"notebook":"C:\\Users\\MSI\\Downloads\\30 SEPTIEMBRE\\06_agenda_topicos_cambio_ver2.ipynb","cell_index_zero_based":25,"cell_human":26,"files":[]}</a:t>
            </a:r>
          </a:p>
          <a:p xmlns:a="http://schemas.openxmlformats.org/drawingml/2006/main">
            <a:r>
              <a:t>Denominador: segmentación binaria raíz(θ), N cap3000;200permutaciones por corte, mínimo2años</a:t>
            </a:r>
          </a:p>
          <a:p xmlns:a="http://schemas.openxmlformats.org/drawingml/2006/main">
            <a:r>
              <a:t>Límite: Consenso selecciona1999 al empatar soportes y colapsar ±1; no precisión al año1999. Segmentación voraz puede escalonar deriva; no ajuste múltiple de divisiones.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transiciones: El Tiempo21/21 transiciones significativas de magnitud media0,00293; pooled21/29; Semana4/29.</a:t>
            </a:r>
          </a:p>
          <a:p xmlns:a="http://schemas.openxmlformats.org/drawingml/2006/main">
            <a:r>
              <a:t>Fuente: {"notebook":"C:\\Users\\MSI\\Downloads\\30 SEPTIEMBRE\\06_agenda_topicos_cambio_ver2.ipynb","cell_index_zero_based":19,"cell_human":20,"files":["transiciones_anuales.csv"]}</a:t>
            </a:r>
          </a:p>
          <a:p xmlns:a="http://schemas.openxmlformats.org/drawingml/2006/main">
            <a:r>
              <a:t>Denominador: pares anuales consecutivos ambos N≥40;1000permutaciones estratificadas; BH5% por serie</a:t>
            </a:r>
          </a:p>
          <a:p xmlns:a="http://schemas.openxmlformats.org/drawingml/2006/main">
            <a:r>
              <a:t>Límite: No confundir significación anual con tres puntos de cambio ni decir casi todas ET: son todas. No presentar pooled como serie 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LDA,BERTopic,PELT y controles adicionales son propuestas no ejecutadas en estas corridas. Comparar además coste y reproducibilidad, con métricas de misma unidad y protocolos comparables. Blei,Ng,Jordan(2003), https://www.jmlr.org/papers/v3/blei03a.html. Pregunta inferencial principalET1990–2011, años80 descriptivos. Persisten sesgos de cobertura, ausencia de anotaciones, temporalidad irregular y posibles cambios de formato.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b9bb7d745744f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8623a59d0e487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2d777affa54c8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a790ab39ff462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0d437bcfd3454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a7691cdd9346a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CECBDAD-90F7-43E3-BE76-6AD73859B3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AD4D70E-B3D9-43BD-943D-403169D0888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33BF39F-F165-4448-A38E-0409C2E384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A91B21B-BD97-4107-A999-C8532DB9C1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913A649-6426-4F1A-A733-4F5ACE7213A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4D97D89-FAEA-4B0A-8722-3C1D08B4C8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2AE7944-9B5F-4D56-BA47-6C4FCB7531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1F13451-417B-48CC-B583-0B8D3F2EED2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A8EABCC-26E4-4AE5-8E72-7FAA5C8E138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1A78E7D-77EE-4F66-8D6B-BEC29E5E10F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572af450dbb4f40" /><Relationship Type="http://schemas.openxmlformats.org/officeDocument/2006/relationships/slideLayout" Target="/ppt/slideLayouts/slideLayout1.xml" Id="R01bf6bc3668e463d" /><Relationship Type="http://schemas.openxmlformats.org/officeDocument/2006/relationships/slideLayout" Target="/ppt/slideLayouts/slideLayout2.xml" Id="R24cb3ce31ca4476e" /><Relationship Type="http://schemas.openxmlformats.org/officeDocument/2006/relationships/slideLayout" Target="/ppt/slideLayouts/slideLayout3.xml" Id="Rc317948112ba427f" /><Relationship Type="http://schemas.openxmlformats.org/officeDocument/2006/relationships/slideLayout" Target="/ppt/slideLayouts/slideLayout4.xml" Id="Rf05e356e8b284dd3" /><Relationship Type="http://schemas.openxmlformats.org/officeDocument/2006/relationships/slideLayout" Target="/ppt/slideLayouts/slideLayout5.xml" Id="Rc8dc1808a0564f11" /><Relationship Type="http://schemas.openxmlformats.org/officeDocument/2006/relationships/slideLayout" Target="/ppt/slideLayouts/slideLayout6.xml" Id="R78e0e282b02f4af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1bf6bc3668e463d"/>
    <p:sldLayoutId xmlns:r="http://schemas.openxmlformats.org/officeDocument/2006/relationships" id="2147483650" r:id="R24cb3ce31ca4476e"/>
    <p:sldLayoutId xmlns:r="http://schemas.openxmlformats.org/officeDocument/2006/relationships" id="2147483651" r:id="Rc317948112ba427f"/>
    <p:sldLayoutId xmlns:r="http://schemas.openxmlformats.org/officeDocument/2006/relationships" id="2147483652" r:id="Rf05e356e8b284dd3"/>
    <p:sldLayoutId xmlns:r="http://schemas.openxmlformats.org/officeDocument/2006/relationships" id="2147483653" r:id="Rc8dc1808a0564f11"/>
    <p:sldLayoutId xmlns:r="http://schemas.openxmlformats.org/officeDocument/2006/relationships" id="2147483654" r:id="R78e0e282b02f4af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1aae9312b94cda" /><Relationship Type="http://schemas.openxmlformats.org/officeDocument/2006/relationships/image" Target="/ppt/media/image.jpeg" Id="Rf83ef93c5f0e4e14" /><Relationship Type="http://schemas.openxmlformats.org/officeDocument/2006/relationships/notesSlide" Target="/ppt/notesSlides/notesSlide1.xml" Id="Re86b8ebff7f64e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40c4f7ff4a4b9c" /><Relationship Type="http://schemas.openxmlformats.org/officeDocument/2006/relationships/notesSlide" Target="/ppt/notesSlides/notesSlide2.xml" Id="R54656e9b41b540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67c50db45a4544" /><Relationship Type="http://schemas.openxmlformats.org/officeDocument/2006/relationships/notesSlide" Target="/ppt/notesSlides/notesSlide3.xml" Id="R2010e9a24994418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68c17d0fe44cec" /><Relationship Type="http://schemas.openxmlformats.org/officeDocument/2006/relationships/notesSlide" Target="/ppt/notesSlides/notesSlide4.xml" Id="Rfb8ce65d7006406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65bcca85b143b6" /><Relationship Type="http://schemas.openxmlformats.org/officeDocument/2006/relationships/chart" Target="/ppt/slides/charts/chart1.xml" Id="R4e45f85bbb724e22" /><Relationship Type="http://schemas.openxmlformats.org/officeDocument/2006/relationships/notesSlide" Target="/ppt/notesSlides/notesSlide5.xml" Id="Rb1168ab1b73048c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dd3706f66c40f3" /><Relationship Type="http://schemas.openxmlformats.org/officeDocument/2006/relationships/chart" Target="/ppt/slides/charts/chart2.xml" Id="R9ef429176dd34c53" /><Relationship Type="http://schemas.openxmlformats.org/officeDocument/2006/relationships/notesSlide" Target="/ppt/notesSlides/notesSlide6.xml" Id="R15b91ee8232441a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5f7536642841ad" /><Relationship Type="http://schemas.openxmlformats.org/officeDocument/2006/relationships/chart" Target="/ppt/slides/charts/chart3.xml" Id="R2babef7576514e3a" /><Relationship Type="http://schemas.openxmlformats.org/officeDocument/2006/relationships/notesSlide" Target="/ppt/notesSlides/notesSlide7.xml" Id="Ra613d0c400284c3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34eafd1fad4533" /><Relationship Type="http://schemas.openxmlformats.org/officeDocument/2006/relationships/chart" Target="/ppt/slides/charts/chart4.xml" Id="Rdd682a1f5c154b54" /><Relationship Type="http://schemas.openxmlformats.org/officeDocument/2006/relationships/notesSlide" Target="/ppt/notesSlides/notesSlide8.xml" Id="R1638b8023a864d1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eda91ea46542e7" /><Relationship Type="http://schemas.openxmlformats.org/officeDocument/2006/relationships/notesSlide" Target="/ppt/notesSlides/notesSlide9.xml" Id="R78cd5f80f54e404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e7eaba62824db3" /><Relationship Type="http://schemas.openxmlformats.org/officeDocument/2006/relationships/chart" Target="/ppt/slides/charts/chart5.xml" Id="R0866cff1b3044209" /><Relationship Type="http://schemas.openxmlformats.org/officeDocument/2006/relationships/notesSlide" Target="/ppt/notesSlides/notesSlide10.xml" Id="R019f247044bd4e0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a0045ff60349ff" /><Relationship Type="http://schemas.openxmlformats.org/officeDocument/2006/relationships/notesSlide" Target="/ppt/notesSlides/notesSlide11.xml" Id="R62198148f7ac4e9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88ea9184344068" /><Relationship Type="http://schemas.openxmlformats.org/officeDocument/2006/relationships/notesSlide" Target="/ppt/notesSlides/notesSlide12.xml" Id="Rc65ad428218a410d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stacked"/>
        <c:varyColors val="0"/>
        <c:ser>
          <c:idx val="0"/>
          <c:order val="0"/>
          <c:tx>
            <c:v>El Tiempo</c:v>
          </c:tx>
          <c:spPr>
            <a:solidFill xmlns:a="http://schemas.openxmlformats.org/drawingml/2006/main">
              <a:srgbClr val="D67A00"/>
            </a:solidFill>
          </c:spPr>
          <c:cat>
            <c:numRef>
              <c:f>'Chart Data'!$A$2:$A$33</c:f>
              <c:numCache>
                <c:formatCode>General</c:formatCode>
                <c:ptCount val="32"/>
                <c:pt idx="0">
                  <c:v>1980</c:v>
                </c:pt>
                <c:pt idx="1">
                  <c:v>1981</c:v>
                </c:pt>
                <c:pt idx="2">
                  <c:v>1982</c:v>
                </c:pt>
                <c:pt idx="3">
                  <c:v>1983</c:v>
                </c:pt>
                <c:pt idx="4">
                  <c:v>1984</c:v>
                </c:pt>
                <c:pt idx="5">
                  <c:v>1985</c:v>
                </c:pt>
                <c:pt idx="6">
                  <c:v>1986</c:v>
                </c:pt>
                <c:pt idx="7">
                  <c:v>1987</c:v>
                </c:pt>
                <c:pt idx="8">
                  <c:v>1988</c:v>
                </c:pt>
                <c:pt idx="9">
                  <c:v>1989</c:v>
                </c:pt>
                <c:pt idx="10">
                  <c:v>1990</c:v>
                </c:pt>
                <c:pt idx="11">
                  <c:v>1991</c:v>
                </c:pt>
                <c:pt idx="12">
                  <c:v>1992</c:v>
                </c:pt>
                <c:pt idx="13">
                  <c:v>1993</c:v>
                </c:pt>
                <c:pt idx="14">
                  <c:v>1994</c:v>
                </c:pt>
                <c:pt idx="15">
                  <c:v>1995</c:v>
                </c:pt>
                <c:pt idx="16">
                  <c:v>1996</c:v>
                </c:pt>
                <c:pt idx="17">
                  <c:v>1997</c:v>
                </c:pt>
                <c:pt idx="18">
                  <c:v>1998</c:v>
                </c:pt>
                <c:pt idx="19">
                  <c:v>1999</c:v>
                </c:pt>
                <c:pt idx="20">
                  <c:v>2000</c:v>
                </c:pt>
                <c:pt idx="21">
                  <c:v>2001</c:v>
                </c:pt>
                <c:pt idx="22">
                  <c:v>2002</c:v>
                </c:pt>
                <c:pt idx="23">
                  <c:v>2003</c:v>
                </c:pt>
                <c:pt idx="24">
                  <c:v>2004</c:v>
                </c:pt>
                <c:pt idx="25">
                  <c:v>2005</c:v>
                </c:pt>
                <c:pt idx="26">
                  <c:v>2006</c:v>
                </c:pt>
                <c:pt idx="27">
                  <c:v>2007</c:v>
                </c:pt>
                <c:pt idx="28">
                  <c:v>2008</c:v>
                </c:pt>
                <c:pt idx="29">
                  <c:v>2009</c:v>
                </c:pt>
                <c:pt idx="30">
                  <c:v>2010</c:v>
                </c:pt>
                <c:pt idx="31">
                  <c:v>2011</c:v>
                </c:pt>
              </c:numCache>
            </c:numRef>
          </c:cat>
          <c:val>
            <c:numRef>
              <c:f>'Chart Data'!$B$2:$B$33</c:f>
              <c:numCache>
                <c:formatCode>#,##0</c:formatCode>
                <c:ptCount val="3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807</c:v>
                </c:pt>
                <c:pt idx="11">
                  <c:v>2355</c:v>
                </c:pt>
                <c:pt idx="12">
                  <c:v>3093</c:v>
                </c:pt>
                <c:pt idx="13">
                  <c:v>3359</c:v>
                </c:pt>
                <c:pt idx="14">
                  <c:v>3167</c:v>
                </c:pt>
                <c:pt idx="15">
                  <c:v>3802</c:v>
                </c:pt>
                <c:pt idx="16">
                  <c:v>5445</c:v>
                </c:pt>
                <c:pt idx="17">
                  <c:v>4903</c:v>
                </c:pt>
                <c:pt idx="18">
                  <c:v>4951</c:v>
                </c:pt>
                <c:pt idx="19">
                  <c:v>2231</c:v>
                </c:pt>
                <c:pt idx="20">
                  <c:v>4657</c:v>
                </c:pt>
                <c:pt idx="21">
                  <c:v>3966</c:v>
                </c:pt>
                <c:pt idx="22">
                  <c:v>2877</c:v>
                </c:pt>
                <c:pt idx="23">
                  <c:v>4053</c:v>
                </c:pt>
                <c:pt idx="24">
                  <c:v>4425</c:v>
                </c:pt>
                <c:pt idx="25">
                  <c:v>3008</c:v>
                </c:pt>
                <c:pt idx="26">
                  <c:v>2358</c:v>
                </c:pt>
                <c:pt idx="27">
                  <c:v>3803</c:v>
                </c:pt>
                <c:pt idx="28">
                  <c:v>4909</c:v>
                </c:pt>
                <c:pt idx="29">
                  <c:v>5291</c:v>
                </c:pt>
                <c:pt idx="30">
                  <c:v>4609</c:v>
                </c:pt>
                <c:pt idx="31">
                  <c:v>3470</c:v>
                </c:pt>
              </c:numCache>
            </c:numRef>
          </c:val>
        </c:ser>
        <c:ser>
          <c:idx val="1"/>
          <c:order val="1"/>
          <c:tx>
            <c:v>Semana</c:v>
          </c:tx>
          <c:spPr>
            <a:solidFill xmlns:a="http://schemas.openxmlformats.org/drawingml/2006/main">
              <a:srgbClr val="BA503A"/>
            </a:solidFill>
          </c:spPr>
          <c:cat>
            <c:numRef>
              <c:f>'Chart Data'!$C$2:$C$33</c:f>
              <c:numCache>
                <c:formatCode>General</c:formatCode>
                <c:ptCount val="32"/>
                <c:pt idx="0">
                  <c:v>1980</c:v>
                </c:pt>
                <c:pt idx="1">
                  <c:v>1981</c:v>
                </c:pt>
                <c:pt idx="2">
                  <c:v>1982</c:v>
                </c:pt>
                <c:pt idx="3">
                  <c:v>1983</c:v>
                </c:pt>
                <c:pt idx="4">
                  <c:v>1984</c:v>
                </c:pt>
                <c:pt idx="5">
                  <c:v>1985</c:v>
                </c:pt>
                <c:pt idx="6">
                  <c:v>1986</c:v>
                </c:pt>
                <c:pt idx="7">
                  <c:v>1987</c:v>
                </c:pt>
                <c:pt idx="8">
                  <c:v>1988</c:v>
                </c:pt>
                <c:pt idx="9">
                  <c:v>1989</c:v>
                </c:pt>
                <c:pt idx="10">
                  <c:v>1990</c:v>
                </c:pt>
                <c:pt idx="11">
                  <c:v>1991</c:v>
                </c:pt>
                <c:pt idx="12">
                  <c:v>1992</c:v>
                </c:pt>
                <c:pt idx="13">
                  <c:v>1993</c:v>
                </c:pt>
                <c:pt idx="14">
                  <c:v>1994</c:v>
                </c:pt>
                <c:pt idx="15">
                  <c:v>1995</c:v>
                </c:pt>
                <c:pt idx="16">
                  <c:v>1996</c:v>
                </c:pt>
                <c:pt idx="17">
                  <c:v>1997</c:v>
                </c:pt>
                <c:pt idx="18">
                  <c:v>1998</c:v>
                </c:pt>
                <c:pt idx="19">
                  <c:v>1999</c:v>
                </c:pt>
                <c:pt idx="20">
                  <c:v>2000</c:v>
                </c:pt>
                <c:pt idx="21">
                  <c:v>2001</c:v>
                </c:pt>
                <c:pt idx="22">
                  <c:v>2002</c:v>
                </c:pt>
                <c:pt idx="23">
                  <c:v>2003</c:v>
                </c:pt>
                <c:pt idx="24">
                  <c:v>2004</c:v>
                </c:pt>
                <c:pt idx="25">
                  <c:v>2005</c:v>
                </c:pt>
                <c:pt idx="26">
                  <c:v>2006</c:v>
                </c:pt>
                <c:pt idx="27">
                  <c:v>2007</c:v>
                </c:pt>
                <c:pt idx="28">
                  <c:v>2008</c:v>
                </c:pt>
                <c:pt idx="29">
                  <c:v>2009</c:v>
                </c:pt>
                <c:pt idx="30">
                  <c:v>2010</c:v>
                </c:pt>
                <c:pt idx="31">
                  <c:v>2011</c:v>
                </c:pt>
              </c:numCache>
            </c:numRef>
          </c:cat>
          <c:val>
            <c:numRef>
              <c:f>'Chart Data'!$D$2:$D$33</c:f>
              <c:numCache>
                <c:formatCode>#,##0</c:formatCode>
                <c:ptCount val="32"/>
                <c:pt idx="0">
                  <c:v>31</c:v>
                </c:pt>
                <c:pt idx="1">
                  <c:v>0</c:v>
                </c:pt>
                <c:pt idx="2">
                  <c:v>58</c:v>
                </c:pt>
                <c:pt idx="3">
                  <c:v>166</c:v>
                </c:pt>
                <c:pt idx="4">
                  <c:v>71</c:v>
                </c:pt>
                <c:pt idx="5">
                  <c:v>47</c:v>
                </c:pt>
                <c:pt idx="6">
                  <c:v>53</c:v>
                </c:pt>
                <c:pt idx="7">
                  <c:v>57</c:v>
                </c:pt>
                <c:pt idx="8">
                  <c:v>69</c:v>
                </c:pt>
                <c:pt idx="9">
                  <c:v>91</c:v>
                </c:pt>
                <c:pt idx="10">
                  <c:v>84</c:v>
                </c:pt>
                <c:pt idx="11">
                  <c:v>94</c:v>
                </c:pt>
                <c:pt idx="12">
                  <c:v>111</c:v>
                </c:pt>
                <c:pt idx="13">
                  <c:v>128</c:v>
                </c:pt>
                <c:pt idx="14">
                  <c:v>137</c:v>
                </c:pt>
                <c:pt idx="15">
                  <c:v>144</c:v>
                </c:pt>
                <c:pt idx="16">
                  <c:v>201</c:v>
                </c:pt>
                <c:pt idx="17">
                  <c:v>158</c:v>
                </c:pt>
                <c:pt idx="18">
                  <c:v>151</c:v>
                </c:pt>
                <c:pt idx="19">
                  <c:v>155</c:v>
                </c:pt>
                <c:pt idx="20">
                  <c:v>193</c:v>
                </c:pt>
                <c:pt idx="21">
                  <c:v>240</c:v>
                </c:pt>
                <c:pt idx="22">
                  <c:v>215</c:v>
                </c:pt>
                <c:pt idx="23">
                  <c:v>302</c:v>
                </c:pt>
                <c:pt idx="24">
                  <c:v>343</c:v>
                </c:pt>
                <c:pt idx="25">
                  <c:v>225</c:v>
                </c:pt>
                <c:pt idx="26">
                  <c:v>353</c:v>
                </c:pt>
                <c:pt idx="27">
                  <c:v>340</c:v>
                </c:pt>
                <c:pt idx="28">
                  <c:v>421</c:v>
                </c:pt>
                <c:pt idx="29">
                  <c:v>528</c:v>
                </c:pt>
                <c:pt idx="30">
                  <c:v>641</c:v>
                </c:pt>
                <c:pt idx="31">
                  <c:v>813</c:v>
                </c:pt>
              </c:numCache>
            </c:numRef>
          </c:val>
        </c:ser>
        <c:ser>
          <c:idx val="2"/>
          <c:order val="2"/>
          <c:tx>
            <c:v>Dinero</c:v>
          </c:tx>
          <c:spPr>
            <a:solidFill xmlns:a="http://schemas.openxmlformats.org/drawingml/2006/main">
              <a:srgbClr val="A5AAB4"/>
            </a:solidFill>
          </c:spPr>
          <c:cat>
            <c:numRef>
              <c:f>'Chart Data'!$E$2:$E$33</c:f>
              <c:numCache>
                <c:formatCode>General</c:formatCode>
                <c:ptCount val="32"/>
                <c:pt idx="0">
                  <c:v>1980</c:v>
                </c:pt>
                <c:pt idx="1">
                  <c:v>1981</c:v>
                </c:pt>
                <c:pt idx="2">
                  <c:v>1982</c:v>
                </c:pt>
                <c:pt idx="3">
                  <c:v>1983</c:v>
                </c:pt>
                <c:pt idx="4">
                  <c:v>1984</c:v>
                </c:pt>
                <c:pt idx="5">
                  <c:v>1985</c:v>
                </c:pt>
                <c:pt idx="6">
                  <c:v>1986</c:v>
                </c:pt>
                <c:pt idx="7">
                  <c:v>1987</c:v>
                </c:pt>
                <c:pt idx="8">
                  <c:v>1988</c:v>
                </c:pt>
                <c:pt idx="9">
                  <c:v>1989</c:v>
                </c:pt>
                <c:pt idx="10">
                  <c:v>1990</c:v>
                </c:pt>
                <c:pt idx="11">
                  <c:v>1991</c:v>
                </c:pt>
                <c:pt idx="12">
                  <c:v>1992</c:v>
                </c:pt>
                <c:pt idx="13">
                  <c:v>1993</c:v>
                </c:pt>
                <c:pt idx="14">
                  <c:v>1994</c:v>
                </c:pt>
                <c:pt idx="15">
                  <c:v>1995</c:v>
                </c:pt>
                <c:pt idx="16">
                  <c:v>1996</c:v>
                </c:pt>
                <c:pt idx="17">
                  <c:v>1997</c:v>
                </c:pt>
                <c:pt idx="18">
                  <c:v>1998</c:v>
                </c:pt>
                <c:pt idx="19">
                  <c:v>1999</c:v>
                </c:pt>
                <c:pt idx="20">
                  <c:v>2000</c:v>
                </c:pt>
                <c:pt idx="21">
                  <c:v>2001</c:v>
                </c:pt>
                <c:pt idx="22">
                  <c:v>2002</c:v>
                </c:pt>
                <c:pt idx="23">
                  <c:v>2003</c:v>
                </c:pt>
                <c:pt idx="24">
                  <c:v>2004</c:v>
                </c:pt>
                <c:pt idx="25">
                  <c:v>2005</c:v>
                </c:pt>
                <c:pt idx="26">
                  <c:v>2006</c:v>
                </c:pt>
                <c:pt idx="27">
                  <c:v>2007</c:v>
                </c:pt>
                <c:pt idx="28">
                  <c:v>2008</c:v>
                </c:pt>
                <c:pt idx="29">
                  <c:v>2009</c:v>
                </c:pt>
                <c:pt idx="30">
                  <c:v>2010</c:v>
                </c:pt>
                <c:pt idx="31">
                  <c:v>2011</c:v>
                </c:pt>
              </c:numCache>
            </c:numRef>
          </c:cat>
          <c:val>
            <c:numRef>
              <c:f>'Chart Data'!$F$2:$F$33</c:f>
              <c:numCache>
                <c:formatCode>#,##0</c:formatCode>
                <c:ptCount val="3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13</c:v>
                </c:pt>
                <c:pt idx="14">
                  <c:v>20</c:v>
                </c:pt>
                <c:pt idx="15">
                  <c:v>32</c:v>
                </c:pt>
                <c:pt idx="16">
                  <c:v>0</c:v>
                </c:pt>
                <c:pt idx="17">
                  <c:v>9</c:v>
                </c:pt>
                <c:pt idx="18">
                  <c:v>47</c:v>
                </c:pt>
                <c:pt idx="19">
                  <c:v>48</c:v>
                </c:pt>
                <c:pt idx="20">
                  <c:v>66</c:v>
                </c:pt>
                <c:pt idx="21">
                  <c:v>56</c:v>
                </c:pt>
                <c:pt idx="22">
                  <c:v>39</c:v>
                </c:pt>
                <c:pt idx="23">
                  <c:v>75</c:v>
                </c:pt>
                <c:pt idx="24">
                  <c:v>85</c:v>
                </c:pt>
                <c:pt idx="25">
                  <c:v>167</c:v>
                </c:pt>
                <c:pt idx="26">
                  <c:v>269</c:v>
                </c:pt>
                <c:pt idx="27">
                  <c:v>560</c:v>
                </c:pt>
                <c:pt idx="28">
                  <c:v>548</c:v>
                </c:pt>
                <c:pt idx="29">
                  <c:v>532</c:v>
                </c:pt>
                <c:pt idx="30">
                  <c:v>668</c:v>
                </c:pt>
                <c:pt idx="31">
                  <c:v>192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FE3E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5715">
              <a:solidFill>
                <a:srgbClr val="DFE3E8"/>
              </a:solidFill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FE3E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ser>
          <c:idx val="0"/>
          <c:order val="0"/>
          <c:tx>
            <c:v>El Tiempo</c:v>
          </c:tx>
          <c:spPr>
            <a:ln xmlns:a="http://schemas.openxmlformats.org/drawingml/2006/main" w="28575">
              <a:solidFill>
                <a:srgbClr val="D67A00"/>
              </a:solidFill>
            </a:ln>
          </c:spPr>
          <c:marker>
            <c:symbol val="circle"/>
            <c:size val="5"/>
          </c:marker>
          <c:xVal>
            <c:numRef>
              <c:f>'Chart Data'!$A$2:$A$23</c:f>
              <c:numCache>
                <c:formatCode>General</c:formatCode>
                <c:ptCount val="22"/>
                <c:pt idx="0">
                  <c:v>1990</c:v>
                </c:pt>
                <c:pt idx="1">
                  <c:v>1991</c:v>
                </c:pt>
                <c:pt idx="2">
                  <c:v>1992</c:v>
                </c:pt>
                <c:pt idx="3">
                  <c:v>1993</c:v>
                </c:pt>
                <c:pt idx="4">
                  <c:v>1994</c:v>
                </c:pt>
                <c:pt idx="5">
                  <c:v>1995</c:v>
                </c:pt>
                <c:pt idx="6">
                  <c:v>1996</c:v>
                </c:pt>
                <c:pt idx="7">
                  <c:v>1997</c:v>
                </c:pt>
                <c:pt idx="8">
                  <c:v>1998</c:v>
                </c:pt>
                <c:pt idx="9">
                  <c:v>1999</c:v>
                </c:pt>
                <c:pt idx="10">
                  <c:v>2000</c:v>
                </c:pt>
                <c:pt idx="11">
                  <c:v>2001</c:v>
                </c:pt>
                <c:pt idx="12">
                  <c:v>2002</c:v>
                </c:pt>
                <c:pt idx="13">
                  <c:v>2003</c:v>
                </c:pt>
                <c:pt idx="14">
                  <c:v>2004</c:v>
                </c:pt>
                <c:pt idx="15">
                  <c:v>2005</c:v>
                </c:pt>
                <c:pt idx="16">
                  <c:v>2006</c:v>
                </c:pt>
                <c:pt idx="17">
                  <c:v>2007</c:v>
                </c:pt>
                <c:pt idx="18">
                  <c:v>2008</c:v>
                </c:pt>
                <c:pt idx="19">
                  <c:v>2009</c:v>
                </c:pt>
                <c:pt idx="20">
                  <c:v>2010</c:v>
                </c:pt>
                <c:pt idx="21">
                  <c:v>2011</c:v>
                </c:pt>
              </c:numCache>
            </c:numRef>
          </c:xVal>
          <c:yVal>
            <c:numRef>
              <c:f>'Chart Data'!$B$2:$B$23</c:f>
              <c:numCache>
                <c:formatCode>0.00</c:formatCode>
                <c:ptCount val="22"/>
                <c:pt idx="0">
                  <c:v>0.806622487373</c:v>
                </c:pt>
                <c:pt idx="1">
                  <c:v>0.811554523575</c:v>
                </c:pt>
                <c:pt idx="2">
                  <c:v>0.788747025525</c:v>
                </c:pt>
                <c:pt idx="3">
                  <c:v>0.802785600488</c:v>
                </c:pt>
                <c:pt idx="4">
                  <c:v>0.786894342565</c:v>
                </c:pt>
                <c:pt idx="5">
                  <c:v>0.77681156571</c:v>
                </c:pt>
                <c:pt idx="6">
                  <c:v>0.786768719704</c:v>
                </c:pt>
                <c:pt idx="7">
                  <c:v>0.787921358598</c:v>
                </c:pt>
                <c:pt idx="8">
                  <c:v>0.778531710789</c:v>
                </c:pt>
                <c:pt idx="9">
                  <c:v>0.780748652588</c:v>
                </c:pt>
                <c:pt idx="10">
                  <c:v>0.789966780787</c:v>
                </c:pt>
                <c:pt idx="11">
                  <c:v>0.738150028813</c:v>
                </c:pt>
                <c:pt idx="12">
                  <c:v>0.754392190095</c:v>
                </c:pt>
                <c:pt idx="13">
                  <c:v>0.761713433443</c:v>
                </c:pt>
                <c:pt idx="14">
                  <c:v>0.756624250025</c:v>
                </c:pt>
                <c:pt idx="15">
                  <c:v>0.73665184231</c:v>
                </c:pt>
                <c:pt idx="16">
                  <c:v>0.786993051083</c:v>
                </c:pt>
                <c:pt idx="17">
                  <c:v>0.791329649842</c:v>
                </c:pt>
                <c:pt idx="18">
                  <c:v>0.758144062913</c:v>
                </c:pt>
                <c:pt idx="19">
                  <c:v>0.774513677502</c:v>
                </c:pt>
                <c:pt idx="20">
                  <c:v>0.788863224975</c:v>
                </c:pt>
                <c:pt idx="21">
                  <c:v>0.774397410257</c:v>
                </c:pt>
              </c:numCache>
            </c:numRef>
          </c:yVal>
        </c:ser>
        <c:ser>
          <c:idx val="1"/>
          <c:order val="1"/>
          <c:tx>
            <c:v>Semana</c:v>
          </c:tx>
          <c:spPr>
            <a:ln xmlns:a="http://schemas.openxmlformats.org/drawingml/2006/main" w="28575">
              <a:solidFill>
                <a:srgbClr val="BA503A"/>
              </a:solidFill>
            </a:ln>
          </c:spPr>
          <c:marker>
            <c:symbol val="circle"/>
            <c:size val="5"/>
          </c:marker>
          <c:xVal>
            <c:numRef>
              <c:f>'Chart Data'!$C$2:$C$21</c:f>
              <c:numCache>
                <c:formatCode>General</c:formatCode>
                <c:ptCount val="20"/>
                <c:pt idx="0">
                  <c:v>1990</c:v>
                </c:pt>
                <c:pt idx="1">
                  <c:v>1992</c:v>
                </c:pt>
                <c:pt idx="2">
                  <c:v>1993</c:v>
                </c:pt>
                <c:pt idx="3">
                  <c:v>1994</c:v>
                </c:pt>
                <c:pt idx="4">
                  <c:v>1995</c:v>
                </c:pt>
                <c:pt idx="5">
                  <c:v>1996</c:v>
                </c:pt>
                <c:pt idx="6">
                  <c:v>1997</c:v>
                </c:pt>
                <c:pt idx="7">
                  <c:v>1999</c:v>
                </c:pt>
                <c:pt idx="8">
                  <c:v>2000</c:v>
                </c:pt>
                <c:pt idx="9">
                  <c:v>2001</c:v>
                </c:pt>
                <c:pt idx="10">
                  <c:v>2002</c:v>
                </c:pt>
                <c:pt idx="11">
                  <c:v>2003</c:v>
                </c:pt>
                <c:pt idx="12">
                  <c:v>2004</c:v>
                </c:pt>
                <c:pt idx="13">
                  <c:v>2005</c:v>
                </c:pt>
                <c:pt idx="14">
                  <c:v>2006</c:v>
                </c:pt>
                <c:pt idx="15">
                  <c:v>2007</c:v>
                </c:pt>
                <c:pt idx="16">
                  <c:v>2008</c:v>
                </c:pt>
                <c:pt idx="17">
                  <c:v>2009</c:v>
                </c:pt>
                <c:pt idx="18">
                  <c:v>2010</c:v>
                </c:pt>
                <c:pt idx="19">
                  <c:v>2011</c:v>
                </c:pt>
              </c:numCache>
            </c:numRef>
          </c:xVal>
          <c:yVal>
            <c:numRef>
              <c:f>'Chart Data'!$D$2:$D$21</c:f>
              <c:numCache>
                <c:formatCode>0.00</c:formatCode>
                <c:ptCount val="20"/>
                <c:pt idx="0">
                  <c:v>0.782100199993</c:v>
                </c:pt>
                <c:pt idx="1">
                  <c:v>0.767086539439</c:v>
                </c:pt>
                <c:pt idx="2">
                  <c:v>0.782772990746</c:v>
                </c:pt>
                <c:pt idx="3">
                  <c:v>0.80080905732</c:v>
                </c:pt>
                <c:pt idx="4">
                  <c:v>0.797646045897</c:v>
                </c:pt>
                <c:pt idx="5">
                  <c:v>0.778388393614</c:v>
                </c:pt>
                <c:pt idx="6">
                  <c:v>0.778798616996</c:v>
                </c:pt>
                <c:pt idx="7">
                  <c:v>0.794870885733</c:v>
                </c:pt>
                <c:pt idx="8">
                  <c:v>0.760954679502</c:v>
                </c:pt>
                <c:pt idx="9">
                  <c:v>0.755115894376</c:v>
                </c:pt>
                <c:pt idx="10">
                  <c:v>0.769863665638</c:v>
                </c:pt>
                <c:pt idx="11">
                  <c:v>0.774393410393</c:v>
                </c:pt>
                <c:pt idx="12">
                  <c:v>0.746907901427</c:v>
                </c:pt>
                <c:pt idx="13">
                  <c:v>0.764273075489</c:v>
                </c:pt>
                <c:pt idx="14">
                  <c:v>0.787462797871</c:v>
                </c:pt>
                <c:pt idx="15">
                  <c:v>0.790531439612</c:v>
                </c:pt>
                <c:pt idx="16">
                  <c:v>0.772844513745</c:v>
                </c:pt>
                <c:pt idx="17">
                  <c:v>0.774527710925</c:v>
                </c:pt>
                <c:pt idx="18">
                  <c:v>0.763626927901</c:v>
                </c:pt>
                <c:pt idx="19">
                  <c:v>0.757042540931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85"/>
          <c:min val="0.7"/>
        </c:scaling>
        <c:delete val="0"/>
        <c:axPos val="l"/>
        <c:majorGridlines>
          <c:spPr>
            <a:ln xmlns:a="http://schemas.openxmlformats.org/drawingml/2006/main" w="5715">
              <a:solidFill>
                <a:srgbClr val="DFE3E8"/>
              </a:solidFill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FE3E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0.05"/>
      </c:valAx>
      <c:valAx>
        <c:axId val="48650112"/>
        <c:scaling>
          <c:orientation val="minMax"/>
          <c:max val="2011"/>
          <c:min val="199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9525">
            <a:solidFill>
              <a:srgbClr val="DFE3E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75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Ocurrencias</c:v>
          </c:tx>
          <c:spPr>
            <a:solidFill xmlns:a="http://schemas.openxmlformats.org/drawingml/2006/main">
              <a:srgbClr val="D67A00"/>
            </a:solidFill>
          </c:spPr>
          <c:cat>
            <c:strRef>
              <c:f>'Chart Data'!$A$2:$A$4</c:f>
              <c:strCache>
                <c:ptCount val="3"/>
                <c:pt idx="0">
                  <c:v>América Latina</c:v>
                </c:pt>
                <c:pt idx="1">
                  <c:v>Derechos humanos</c:v>
                </c:pt>
                <c:pt idx="2">
                  <c:v>Wall Street</c:v>
                </c:pt>
              </c:strCache>
            </c:strRef>
          </c:cat>
          <c:val>
            <c:numRef>
              <c:f>'Chart Data'!$B$2:$B$4</c:f>
              <c:numCache>
                <c:formatCode>#,##0</c:formatCode>
                <c:ptCount val="3"/>
                <c:pt idx="0">
                  <c:v>3768</c:v>
                </c:pt>
                <c:pt idx="1">
                  <c:v>3574</c:v>
                </c:pt>
                <c:pt idx="2">
                  <c:v>857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>
                  <a:solidFill>
                    <a:srgbClr val="141B2E"/>
                  </a:solidFill>
                  <a:latin typeface="Calibri"/>
                  <a:ea typeface="Calibri"/>
                  <a:cs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5715">
              <a:solidFill>
                <a:srgbClr val="DFE3E8"/>
              </a:solidFill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FE3E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  <c:max val="4400"/>
        </c:scaling>
        <c:delete val="0"/>
        <c:axPos val="b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FE3E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Peso TF-IDF</c:v>
          </c:tx>
          <c:spPr>
            <a:solidFill xmlns:a="http://schemas.openxmlformats.org/drawingml/2006/main">
              <a:srgbClr val="D67A00"/>
            </a:solidFill>
          </c:spPr>
          <c:cat>
            <c:strRef>
              <c:f>'Chart Data'!$A$2:$A$11</c:f>
              <c:strCache>
                <c:ptCount val="10"/>
                <c:pt idx="0">
                  <c:v>empleo</c:v>
                </c:pt>
                <c:pt idx="1">
                  <c:v>laboral</c:v>
                </c:pt>
                <c:pt idx="2">
                  <c:v>ley</c:v>
                </c:pt>
                <c:pt idx="3">
                  <c:v>reforma</c:v>
                </c:pt>
                <c:pt idx="4">
                  <c:v>trabajadores</c:v>
                </c:pt>
                <c:pt idx="5">
                  <c:v>puestos</c:v>
                </c:pt>
                <c:pt idx="6">
                  <c:v>vigente</c:v>
                </c:pt>
                <c:pt idx="7">
                  <c:v>debate</c:v>
                </c:pt>
                <c:pt idx="8">
                  <c:v>trabajo</c:v>
                </c:pt>
                <c:pt idx="9">
                  <c:v>calidad</c:v>
                </c:pt>
              </c:strCache>
            </c:strRef>
          </c:cat>
          <c:val>
            <c:numRef>
              <c:f>'Chart Data'!$B$2:$B$11</c:f>
              <c:numCache>
                <c:formatCode>0.000</c:formatCode>
                <c:ptCount val="10"/>
                <c:pt idx="0">
                  <c:v>0.178</c:v>
                </c:pt>
                <c:pt idx="1">
                  <c:v>0.16</c:v>
                </c:pt>
                <c:pt idx="2">
                  <c:v>0.15</c:v>
                </c:pt>
                <c:pt idx="3">
                  <c:v>0.145</c:v>
                </c:pt>
                <c:pt idx="4">
                  <c:v>0.131</c:v>
                </c:pt>
                <c:pt idx="5">
                  <c:v>0.126</c:v>
                </c:pt>
                <c:pt idx="6">
                  <c:v>0.115</c:v>
                </c:pt>
                <c:pt idx="7">
                  <c:v>0.114</c:v>
                </c:pt>
                <c:pt idx="8">
                  <c:v>0.103</c:v>
                </c:pt>
                <c:pt idx="9">
                  <c:v>0.101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Calibri"/>
                  <a:ea typeface="Calibri"/>
                  <a:cs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.000"/>
        <c:majorTickMark val="none"/>
        <c:minorTickMark val="none"/>
        <c:spPr>
          <a:ln xmlns:a="http://schemas.openxmlformats.org/drawingml/2006/main" w="9525">
            <a:solidFill>
              <a:srgbClr val="DFE3E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  <c:max val="0.22"/>
          <c:min val="0"/>
        </c:scaling>
        <c:delete val="0"/>
        <c:axPos val="b"/>
        <c:majorGridlines>
          <c:spPr>
            <a:ln xmlns:a="http://schemas.openxmlformats.org/drawingml/2006/main" w="5715">
              <a:solidFill>
                <a:srgbClr val="DFE3E8"/>
              </a:solidFill>
            </a:ln>
          </c:spPr>
        </c:majorGridlines>
        <c:numFmt formatCode="0.000"/>
        <c:majorTickMark val="none"/>
        <c:minorTickMark val="none"/>
        <c:spPr>
          <a:ln xmlns:a="http://schemas.openxmlformats.org/drawingml/2006/main" w="9525">
            <a:solidFill>
              <a:srgbClr val="DFE3E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  <c:majorUnit val="0.1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JS respecto al año anterior</c:v>
          </c:tx>
          <c:spPr>
            <a:ln xmlns:a="http://schemas.openxmlformats.org/drawingml/2006/main" w="33338">
              <a:solidFill>
                <a:srgbClr val="D67A00"/>
              </a:solidFill>
            </a:ln>
          </c:spPr>
          <c:marker>
            <c:symbol val="circle"/>
            <c:size val="6"/>
          </c:marker>
          <c:cat>
            <c:numRef>
              <c:f>'Chart Data'!$A$2:$A$22</c:f>
              <c:numCache>
                <c:formatCode>General</c:formatCode>
                <c:ptCount val="21"/>
                <c:pt idx="0">
                  <c:v>1991</c:v>
                </c:pt>
                <c:pt idx="1">
                  <c:v>1992</c:v>
                </c:pt>
                <c:pt idx="2">
                  <c:v>1993</c:v>
                </c:pt>
                <c:pt idx="3">
                  <c:v>1994</c:v>
                </c:pt>
                <c:pt idx="4">
                  <c:v>1995</c:v>
                </c:pt>
                <c:pt idx="5">
                  <c:v>1996</c:v>
                </c:pt>
                <c:pt idx="6">
                  <c:v>1997</c:v>
                </c:pt>
                <c:pt idx="7">
                  <c:v>1998</c:v>
                </c:pt>
                <c:pt idx="8">
                  <c:v>1999</c:v>
                </c:pt>
                <c:pt idx="9">
                  <c:v>2000</c:v>
                </c:pt>
                <c:pt idx="10">
                  <c:v>2001</c:v>
                </c:pt>
                <c:pt idx="11">
                  <c:v>2002</c:v>
                </c:pt>
                <c:pt idx="12">
                  <c:v>2003</c:v>
                </c:pt>
                <c:pt idx="13">
                  <c:v>2004</c:v>
                </c:pt>
                <c:pt idx="14">
                  <c:v>2005</c:v>
                </c:pt>
                <c:pt idx="15">
                  <c:v>2006</c:v>
                </c:pt>
                <c:pt idx="16">
                  <c:v>2007</c:v>
                </c:pt>
                <c:pt idx="17">
                  <c:v>2008</c:v>
                </c:pt>
                <c:pt idx="18">
                  <c:v>2009</c:v>
                </c:pt>
                <c:pt idx="19">
                  <c:v>2010</c:v>
                </c:pt>
                <c:pt idx="20">
                  <c:v>2011</c:v>
                </c:pt>
              </c:numCache>
            </c:numRef>
          </c:cat>
          <c:val>
            <c:numRef>
              <c:f>'Chart Data'!$B$2:$B$22</c:f>
              <c:numCache>
                <c:formatCode>0.0000</c:formatCode>
                <c:ptCount val="21"/>
                <c:pt idx="0">
                  <c:v>0.0057063064194</c:v>
                </c:pt>
                <c:pt idx="1">
                  <c:v>0.00347258645122</c:v>
                </c:pt>
                <c:pt idx="2">
                  <c:v>0.00225670434017</c:v>
                </c:pt>
                <c:pt idx="3">
                  <c:v>0.00193828047761</c:v>
                </c:pt>
                <c:pt idx="4">
                  <c:v>0.00428595628164</c:v>
                </c:pt>
                <c:pt idx="5">
                  <c:v>0.00128284723799</c:v>
                </c:pt>
                <c:pt idx="6">
                  <c:v>0.00192907490797</c:v>
                </c:pt>
                <c:pt idx="7">
                  <c:v>0.00236213980394</c:v>
                </c:pt>
                <c:pt idx="8">
                  <c:v>0.00279941114023</c:v>
                </c:pt>
                <c:pt idx="9">
                  <c:v>0.00294961086612</c:v>
                </c:pt>
                <c:pt idx="10">
                  <c:v>0.00251753859812</c:v>
                </c:pt>
                <c:pt idx="11">
                  <c:v>0.00401914271197</c:v>
                </c:pt>
                <c:pt idx="12">
                  <c:v>0.00188789324102</c:v>
                </c:pt>
                <c:pt idx="13">
                  <c:v>0.00135970777846</c:v>
                </c:pt>
                <c:pt idx="14">
                  <c:v>0.00155120997073</c:v>
                </c:pt>
                <c:pt idx="15">
                  <c:v>0.00781176415407</c:v>
                </c:pt>
                <c:pt idx="16">
                  <c:v>0.00304541892672</c:v>
                </c:pt>
                <c:pt idx="17">
                  <c:v>0.00334348031397</c:v>
                </c:pt>
                <c:pt idx="18">
                  <c:v>0.00418805871049</c:v>
                </c:pt>
                <c:pt idx="19">
                  <c:v>0.000681923355465</c:v>
                </c:pt>
                <c:pt idx="20">
                  <c:v>0.00213503335633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FE3E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  <c:max val="0.01"/>
          <c:min val="0"/>
        </c:scaling>
        <c:delete val="0"/>
        <c:axPos val="l"/>
        <c:majorGridlines>
          <c:spPr>
            <a:ln xmlns:a="http://schemas.openxmlformats.org/drawingml/2006/main" w="5715">
              <a:solidFill>
                <a:srgbClr val="DFE3E8"/>
              </a:solidFill>
            </a:ln>
          </c:spPr>
        </c:majorGridlines>
        <c:numFmt formatCode="0.0000"/>
        <c:majorTickMark val="none"/>
        <c:minorTickMark val="none"/>
        <c:spPr>
          <a:ln xmlns:a="http://schemas.openxmlformats.org/drawingml/2006/main" w="9525">
            <a:solidFill>
              <a:srgbClr val="DFE3E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  <c:majorUnit val="0.0025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E05AC2-B143-4685-93F0-DA2F125E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34150"/>
            <a:ext cx="1219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33BEC4-6FC0-4963-A96B-61DC53F36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72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6CD3E3-E1BC-4B87-AF74-0B3FED8F23F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3ef93c5f0e4e14"/>
          <a:srcRect xmlns:a="http://schemas.openxmlformats.org/drawingml/2006/main" l="0" t="98" r="0" b="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4648200" cy="68580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05A08E-AA8A-47FE-A893-8E299B4BE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485900"/>
            <a:ext cx="6400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750" b="0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750" b="0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750" b="0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rPr>
              <a:t>“Tópicos Colombia”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CB5762-6922-48E2-85B4-1AB7AEF4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419350"/>
            <a:ext cx="63627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75" b="0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2775" b="0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2775" b="0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rPr>
              <a:t>Estabilidad de la agenda</a:t>
            </a:r>
          </a:p>
          <a:p xmlns:a="http://schemas.openxmlformats.org/drawingml/2006/main">
            <a:pPr>
              <a:defRPr sz="2775" b="0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2775" b="0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rPr>
              <a:t>de la prensa colombiana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836D00-B8D9-4FAF-A5C6-8880C697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3762375"/>
            <a:ext cx="6191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625" b="0">
                <a:solidFill>
                  <a:srgbClr val="D67A00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2625" b="0">
                <a:solidFill>
                  <a:srgbClr val="D67A00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2625" b="0">
                <a:solidFill>
                  <a:srgbClr val="D67A00"/>
                </a:solidFill>
                <a:latin typeface="Bookman Old Style"/>
                <a:ea typeface="Bookman Old Style"/>
                <a:cs typeface="Bookman Old Style"/>
              </a:rPr>
              <a:t>1980–2011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9A3257-6486-4EFE-B982-C409899F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429125"/>
            <a:ext cx="600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GRUPO 4 · ENTREGA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3E398F-C20F-4E33-8BB2-98260B4C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895850"/>
            <a:ext cx="60483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José Miguel Bejarano · Massimo Maimone</a:t>
            </a:r>
          </a:p>
          <a:p xmlns:a="http://schemas.openxmlformats.org/drawingml/2006/main">
            <a:pPr>
              <a:defRPr sz="172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Mauricio Morales · Juan Felipe Guzmán</a:t>
            </a:r>
          </a:p>
          <a:p xmlns:a="http://schemas.openxmlformats.org/drawingml/2006/main">
            <a:pPr>
              <a:defRPr sz="172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David Castañeda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48AEC9-CD0F-4E5F-855B-ACBD1613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886450"/>
            <a:ext cx="619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60676F"/>
                </a:solidFill>
                <a:latin typeface="Calibri"/>
                <a:ea typeface="Calibri"/>
                <a:cs typeface="Calibri"/>
              </a:rPr>
              <a:t>Procesamiento de Lenguaje Natural · Javeriana</a:t>
            </a:r>
          </a:p>
          <a:p xmlns:a="http://schemas.openxmlformats.org/drawingml/2006/main">
            <a:pPr>
              <a:defRPr sz="1575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60676F"/>
                </a:solidFill>
                <a:latin typeface="Calibri"/>
                <a:ea typeface="Calibri"/>
                <a:cs typeface="Calibri"/>
              </a:rPr>
              <a:t>Profesor Luis Gabriel Moreno Sandoval</a:t>
            </a:r>
          </a:p>
        </p:txBody>
      </p:sp>
    </p:spTree>
    <p:extLst>
      <p:ext uri="{BB962C8B-B14F-4D97-AF65-F5344CB8AC3E}">
        <p14:creationId xmlns:p14="http://schemas.microsoft.com/office/powerpoint/2010/main" val="11568232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8FDFCB-3412-428E-80B8-7C756BB51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rPr>
              <a:t>Preguntas de investigación y ajustes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09A7ED-0188-4B7A-9F27-32307934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34150"/>
            <a:ext cx="1219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258BD3-3375-48D1-83C7-74E1B6459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72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B91F7E-B3F7-41D1-9B27-D6F77AA87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0">
                <a:solidFill>
                  <a:srgbClr val="D67A00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D67A00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D67A00"/>
                </a:solidFill>
                <a:latin typeface="Calibri"/>
                <a:ea typeface="Calibri"/>
                <a:cs typeface="Calibri"/>
              </a:rPr>
              <a:t>Tópicos latentes · contraste editorial · evolución temporal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51BF3A-2C2C-47E9-B722-89AB417C9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¿Qué temas caracterizan el corpus, cómo difieren por medio y cuándo cambia su composición?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1B13AD-A997-44FB-8AA2-F8D470E3DDF6}"/>
              </a:ext>
            </a:extLst>
          </p:cNvPr>
          <p:cNvGraphicFramePr/>
          <p:nvPr/>
        </p:nvGraphicFramePr>
        <p:xfrm>
          <a:off xmlns:a="http://schemas.openxmlformats.org/drawingml/2006/main" x="609600" y="3000375"/>
          <a:ext xmlns:a="http://schemas.openxmlformats.org/drawingml/2006/main" cx="10972800" cy="2571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57800"/>
                <a:gridCol w="5715000"/>
              </a:tblGrid>
              <a:tr h="642938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Problema del enfoque exploratorio</a:t>
                      </a:r>
                    </a:p>
                  </a:txBody>
                  <a:tcPr marL="114300" marR="114300" marT="28575" marB="28575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Decisión actual</a:t>
                      </a:r>
                    </a:p>
                  </a:txBody>
                  <a:tcPr marL="114300" marR="114300" marT="28575" marB="28575">
                    <a:solidFill>
                      <a:srgbClr val="F1F3F6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Cuartiles y periodos de duración mixta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Años homogéneos y umbral por permutación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Pocos artículos producen distancias altas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Nulo con el mismo tamaño de muestra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Fuente y tiempo se confunden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Análisis por medio y contraste entre fuentes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AA4B67-4CA5-4DDE-AABD-D1AC8EE15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0676F"/>
                </a:solidFill>
                <a:latin typeface="Calibri"/>
                <a:ea typeface="Calibri"/>
                <a:cs typeface="Calibri"/>
              </a:rPr>
              <a:t>Agenda: media anual de pesos θ. Cuaderno 04: TF-IDF y ráfagas como diagnóstico.</a:t>
            </a:r>
          </a:p>
        </p:txBody>
      </p:sp>
    </p:spTree>
    <p:extLst>
      <p:ext uri="{BB962C8B-B14F-4D97-AF65-F5344CB8AC3E}">
        <p14:creationId xmlns:p14="http://schemas.microsoft.com/office/powerpoint/2010/main" val="18855083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77682E-18CD-40EA-97A9-27E6B590D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rPr>
              <a:t>Estado del arte: prensa y agenda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A99E3B-3184-4B70-9859-B435DE5F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34150"/>
            <a:ext cx="1219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A64037-143B-45A8-995D-513408417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72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17DF4E-9D2C-401E-A7CF-9893E04A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666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625" b="1">
                <a:solidFill>
                  <a:srgbClr val="D67A00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2625" b="1">
                <a:solidFill>
                  <a:srgbClr val="D67A00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2625" b="1">
                <a:solidFill>
                  <a:srgbClr val="D67A00"/>
                </a:solidFill>
                <a:latin typeface="Bookman Old Style"/>
                <a:ea typeface="Bookman Old Style"/>
                <a:cs typeface="Bookman Old Style"/>
              </a:rPr>
              <a:t>Hechos y palabras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33FD1A-0823-49F3-8961-42A48EB31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Caicedo, Gaviria y Moreno (2012)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439353-1DEE-414F-8DBF-5821A27D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10925175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Más de 2 millones de artículos y cerca de 600 millones de palabras.</a:t>
            </a:r>
          </a:p>
          <a:p xmlns:a="http://schemas.openxmlformats.org/drawingml/2006/main">
            <a:pPr>
              <a:defRPr sz="217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Las frecuencias de texto permiten construir series sobre prensa colombiana.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54724E-95F7-4610-A715-4070440C08D8}"/>
              </a:ext>
            </a:extLst>
          </p:cNvPr>
          <p:cNvGraphicFramePr/>
          <p:nvPr/>
        </p:nvGraphicFramePr>
        <p:xfrm>
          <a:off xmlns:a="http://schemas.openxmlformats.org/drawingml/2006/main" x="609600" y="3505200"/>
          <a:ext xmlns:a="http://schemas.openxmlformats.org/drawingml/2006/main" cx="10972800" cy="2095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76750"/>
                <a:gridCol w="6496050"/>
              </a:tblGrid>
              <a:tr h="52387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Marco conceptual</a:t>
                      </a:r>
                    </a:p>
                  </a:txBody>
                  <a:tcPr marL="114300" marR="114300" marT="28575" marB="28575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Aplicación al proyecto</a:t>
                      </a:r>
                    </a:p>
                  </a:txBody>
                  <a:tcPr marL="114300" marR="114300" marT="28575" marB="28575">
                    <a:solidFill>
                      <a:srgbClr val="F1F3F6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Frecuencia y culturomics</a:t>
                      </a:r>
                    </a:p>
                    <a:p>
                      <a:r>
                        <a:rPr sz="165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Michel et al. (2011)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Normalizar por volumen de texto y revisar la cobertura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Agenda: McCombs y Shaw (1972)</a:t>
                      </a:r>
                    </a:p>
                    <a:p>
                      <a:r>
                        <a:rPr sz="165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Cambio: Baumgartner y Jones (1993)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Formular estabilidad y cambio de atención temática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Comparative Agendas Project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Orientar categorías del léxico propio como etiquetas débiles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31AE6A-F86C-4586-A771-DD55CE42B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5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A503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A503A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BA503A"/>
                </a:solidFill>
                <a:latin typeface="Calibri"/>
                <a:ea typeface="Calibri"/>
                <a:cs typeface="Calibri"/>
              </a:rPr>
              <a:t>El archivo registra contenido mediático. Los 91.585 documentos no prueban representatividad nacional.</a:t>
            </a:r>
          </a:p>
        </p:txBody>
      </p:sp>
    </p:spTree>
    <p:extLst>
      <p:ext uri="{BB962C8B-B14F-4D97-AF65-F5344CB8AC3E}">
        <p14:creationId xmlns:p14="http://schemas.microsoft.com/office/powerpoint/2010/main" val="10047926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082EB8-5C4C-4468-8C20-81552FDFD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rPr>
              <a:t>Estado del arte: métodos y aporte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E680C8-8E0E-4F95-8C98-E57ED90F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34150"/>
            <a:ext cx="1219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09D9CE-B01E-40A6-833F-23475EEEA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72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10B926-37C1-4A5F-A8F2-54F2FF56A5A0}"/>
              </a:ext>
            </a:extLst>
          </p:cNvPr>
          <p:cNvGraphicFramePr/>
          <p:nvPr/>
        </p:nvGraphicFramePr>
        <p:xfrm>
          <a:off xmlns:a="http://schemas.openxmlformats.org/drawingml/2006/main" x="609600" y="1457325"/>
          <a:ext xmlns:a="http://schemas.openxmlformats.org/drawingml/2006/main" cx="10972800" cy="3219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90925"/>
                <a:gridCol w="3448050"/>
                <a:gridCol w="3933825"/>
              </a:tblGrid>
              <a:tr h="64389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Línea y referencia</a:t>
                      </a:r>
                    </a:p>
                  </a:txBody>
                  <a:tcPr marL="114300" marR="114300" marT="28575" marB="28575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Qué permite estudiar</a:t>
                      </a:r>
                    </a:p>
                  </a:txBody>
                  <a:tcPr marL="114300" marR="114300" marT="28575" marB="28575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Uso en esta entrega</a:t>
                      </a:r>
                    </a:p>
                  </a:txBody>
                  <a:tcPr marL="114300" marR="114300" marT="28575" marB="28575">
                    <a:solidFill>
                      <a:srgbClr val="F1F3F6"/>
                    </a:solidFill>
                  </a:tcPr>
                </a:tc>
              </a:tr>
              <a:tr h="64389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NMF, Lee y Seung (1999)</a:t>
                      </a:r>
                    </a:p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LDA, Blei et al. (2003)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Documentos como mezclas</a:t>
                      </a:r>
                    </a:p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de tópicos interpretables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NMF realizado</a:t>
                      </a:r>
                    </a:p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LDA como comparación futura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  <a:tr h="64389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TF-IDF</a:t>
                      </a:r>
                    </a:p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Sentence-BERT (2019)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Términos ponderados y</a:t>
                      </a:r>
                    </a:p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representaciones densas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Comparación exploratoria</a:t>
                      </a:r>
                    </a:p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TF-IDF, SVD y MiniLM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  <a:tr h="64389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Tópicos dinámicos, STM</a:t>
                      </a:r>
                    </a:p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BERTopic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Evolución, covariables</a:t>
                      </a:r>
                    </a:p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y agrupación semántica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Alternativas futuras</a:t>
                      </a:r>
                    </a:p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sin corridas en 05/06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  <a:tr h="64389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Kleinberg, PELT</a:t>
                      </a:r>
                    </a:p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MATTR, log-odds, NPMI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Ráfagas, cambios de serie</a:t>
                      </a:r>
                    </a:p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y estadística textual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Ráfagas previas y EDA</a:t>
                      </a:r>
                    </a:p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PELT como comparación futura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5C5CE2-B010-4811-A025-AEC2D331C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1085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D67A00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D67A00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2250" b="1">
                <a:solidFill>
                  <a:srgbClr val="D67A00"/>
                </a:solidFill>
                <a:latin typeface="Bookman Old Style"/>
                <a:ea typeface="Bookman Old Style"/>
                <a:cs typeface="Bookman Old Style"/>
              </a:rPr>
              <a:t>Aporte específico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94DFA1-1595-4BE8-A193-3C768A7CB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858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Composiciones de tópicos por documento y año, con distancia frente a un nulo</a:t>
            </a:r>
          </a:p>
          <a:p xmlns:a="http://schemas.openxmlformats.org/drawingml/2006/main">
            <a:pPr>
              <a:defRPr sz="202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de muestreo y contraste por medio. La historia entra después de detectar cambios.</a:t>
            </a:r>
          </a:p>
        </p:txBody>
      </p:sp>
    </p:spTree>
    <p:extLst>
      <p:ext uri="{BB962C8B-B14F-4D97-AF65-F5344CB8AC3E}">
        <p14:creationId xmlns:p14="http://schemas.microsoft.com/office/powerpoint/2010/main" val="13595164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3A5B45-F840-443F-BA7E-A8E75D50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rPr>
              <a:t>EDA: dimensión y cobertura del corpus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6CE6A5-4F0A-43E0-97B6-B615534F9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34150"/>
            <a:ext cx="1219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822493-A841-4179-BFD1-570AE3414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72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71F7F6-86C2-4D0B-858B-6BB0316D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3810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200" b="0">
                <a:solidFill>
                  <a:srgbClr val="D67A00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4200" b="0">
                <a:solidFill>
                  <a:srgbClr val="D67A00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4200" b="0">
                <a:solidFill>
                  <a:srgbClr val="D67A00"/>
                </a:solidFill>
                <a:latin typeface="Bookman Old Style"/>
                <a:ea typeface="Bookman Old Style"/>
                <a:cs typeface="Bookman Old Style"/>
              </a:rPr>
              <a:t>91.585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4C7635-57C0-4A46-B64E-1C9DC7142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85975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documentos medidos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DB36488A-9B09-43FB-BEFF-38B7EF0D2048}"/>
              </a:ext>
            </a:extLst>
          </p:cNvPr>
          <p:cNvGraphicFramePr/>
          <p:nvPr/>
        </p:nvGraphicFramePr>
        <p:xfrm>
          <a:off xmlns:a="http://schemas.openxmlformats.org/drawingml/2006/main" x="476250" y="2905125"/>
          <a:ext xmlns:a="http://schemas.openxmlformats.org/drawingml/2006/main" cx="6762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e45f85bbb724e22"/>
          </a:graphicData>
        </a:graphic>
      </p:graphicFrame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52F6DD-FB29-4C18-96FB-AD1686C74482}"/>
              </a:ext>
            </a:extLst>
          </p:cNvPr>
          <p:cNvGraphicFramePr/>
          <p:nvPr/>
        </p:nvGraphicFramePr>
        <p:xfrm>
          <a:off xmlns:a="http://schemas.openxmlformats.org/drawingml/2006/main" x="7610475" y="1457325"/>
          <a:ext xmlns:a="http://schemas.openxmlformats.org/drawingml/2006/main" cx="3971925" cy="2647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71625"/>
                <a:gridCol w="1476375"/>
                <a:gridCol w="923925"/>
              </a:tblGrid>
              <a:tr h="66198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Medio</a:t>
                      </a:r>
                    </a:p>
                  </a:txBody>
                  <a:tcPr marL="114300" marR="114300" marT="28575" marB="28575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Docs</a:t>
                      </a:r>
                    </a:p>
                  </a:txBody>
                  <a:tcPr marL="114300" marR="114300" marT="28575" marB="28575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%</a:t>
                      </a:r>
                    </a:p>
                  </a:txBody>
                  <a:tcPr marL="114300" marR="114300" marT="28575" marB="28575">
                    <a:solidFill>
                      <a:srgbClr val="F1F3F6"/>
                    </a:solidFill>
                  </a:tcPr>
                </a:tc>
              </a:tr>
              <a:tr h="66198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El Tiempo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81.539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89,03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  <a:tr h="66198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Semana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6.620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7,23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  <a:tr h="66198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Dinero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3.426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3,74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625DC6-69BD-463A-8B39-8C884F0C4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05325"/>
            <a:ext cx="38290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BA503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BA503A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BA503A"/>
                </a:solidFill>
                <a:latin typeface="Calibri"/>
                <a:ea typeface="Calibri"/>
                <a:cs typeface="Calibri"/>
              </a:rPr>
              <a:t>1980–1989: sólo Semana</a:t>
            </a:r>
          </a:p>
          <a:p xmlns:a="http://schemas.openxmlformats.org/drawingml/2006/main">
            <a:pPr>
              <a:defRPr sz="1950" b="0">
                <a:solidFill>
                  <a:srgbClr val="BA503A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BA503A"/>
                </a:solidFill>
                <a:latin typeface="Calibri"/>
                <a:ea typeface="Calibri"/>
                <a:cs typeface="Calibri"/>
              </a:rPr>
              <a:t>31–166 artículos por año</a:t>
            </a:r>
          </a:p>
          <a:p xmlns:a="http://schemas.openxmlformats.org/drawingml/2006/main">
            <a:pPr>
              <a:defRPr sz="1950" b="0">
                <a:solidFill>
                  <a:srgbClr val="BA503A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BA503A"/>
                </a:solidFill>
                <a:latin typeface="Calibri"/>
                <a:ea typeface="Calibri"/>
                <a:cs typeface="Calibri"/>
              </a:rPr>
              <a:t>1981 sin datos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E4D57A-E43A-4A1D-AD04-977B65360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10934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60676F"/>
                </a:solidFill>
                <a:latin typeface="Calibri"/>
                <a:ea typeface="Calibri"/>
                <a:cs typeface="Calibri"/>
              </a:rPr>
              <a:t>31,90 M tokens antes del filtro y 15,53 M de contenido. Serie principal: El Tiempo, 1990–2011.</a:t>
            </a:r>
          </a:p>
        </p:txBody>
      </p:sp>
    </p:spTree>
    <p:extLst>
      <p:ext uri="{BB962C8B-B14F-4D97-AF65-F5344CB8AC3E}">
        <p14:creationId xmlns:p14="http://schemas.microsoft.com/office/powerpoint/2010/main" val="8843166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0A0827-DF99-4989-A8E6-73C70362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rPr>
              <a:t>EDA: diversidad léxica y dataset medido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446BA1-DC69-49F2-9900-A023DB465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34150"/>
            <a:ext cx="1219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598877-28DF-48EB-9811-1A66F2BE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72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625846-5059-4F5B-8474-809004642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76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0">
                <a:solidFill>
                  <a:srgbClr val="D67A00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D67A00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D67A00"/>
                </a:solidFill>
                <a:latin typeface="Calibri"/>
                <a:ea typeface="Calibri"/>
                <a:cs typeface="Calibri"/>
              </a:rPr>
              <a:t>30.000 tokens por año y fuente · MATTR con ventana de 500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4FB76E10-730F-4B23-A605-8E1E80A2B939}"/>
              </a:ext>
            </a:extLst>
          </p:cNvPr>
          <p:cNvGraphicFramePr/>
          <p:nvPr/>
        </p:nvGraphicFramePr>
        <p:xfrm>
          <a:off xmlns:a="http://schemas.openxmlformats.org/drawingml/2006/main" x="457200" y="2133600"/>
          <a:ext xmlns:a="http://schemas.openxmlformats.org/drawingml/2006/main" cx="7000875" cy="32099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ef429176dd34c53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4A9C1B-F8D1-4B4B-B1E9-F8AF7E855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71675"/>
            <a:ext cx="3733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625" b="0">
                <a:solidFill>
                  <a:srgbClr val="D67A00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2625" b="0">
                <a:solidFill>
                  <a:srgbClr val="D67A00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2625" b="0">
                <a:solidFill>
                  <a:srgbClr val="D67A00"/>
                </a:solidFill>
                <a:latin typeface="Bookman Old Style"/>
                <a:ea typeface="Bookman Old Style"/>
                <a:cs typeface="Bookman Old Style"/>
              </a:rPr>
              <a:t>266.562 tipos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C18D4C-6D3D-4DEA-A9A6-F43E34C29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600325"/>
            <a:ext cx="37338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42,34% hapax</a:t>
            </a:r>
          </a:p>
          <a:p xmlns:a="http://schemas.openxmlformats.org/drawingml/2006/main">
            <a:pPr>
              <a:defRPr sz="202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β de Heaps = 0,460</a:t>
            </a:r>
          </a:p>
          <a:p xmlns:a="http://schemas.openxmlformats.org/drawingml/2006/main">
            <a:pPr>
              <a:defRPr sz="202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Mediana: 122 tokens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8CAB6F-C693-4205-871D-44B0A491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143375"/>
            <a:ext cx="37433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2175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rPr>
              <a:t>Dataset: 91.585 × 15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E76482-774D-4963-A7BC-7952026FD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676775"/>
            <a:ext cx="3743325" cy="1323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60676F"/>
                </a:solidFill>
                <a:latin typeface="Calibri"/>
                <a:ea typeface="Calibri"/>
                <a:cs typeface="Calibri"/>
              </a:rPr>
              <a:t>id, fuente, fecha, año</a:t>
            </a:r>
          </a:p>
          <a:p xmlns:a="http://schemas.openxmlformats.org/drawingml/2006/main">
            <a:pPr>
              <a:defRPr sz="1950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60676F"/>
                </a:solidFill>
                <a:latin typeface="Calibri"/>
                <a:ea typeface="Calibri"/>
                <a:cs typeface="Calibri"/>
              </a:rPr>
              <a:t>texto_limpio, tokens</a:t>
            </a:r>
          </a:p>
          <a:p xmlns:a="http://schemas.openxmlformats.org/drawingml/2006/main">
            <a:pPr>
              <a:defRPr sz="1950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60676F"/>
                </a:solidFill>
                <a:latin typeface="Calibri"/>
                <a:ea typeface="Calibri"/>
                <a:cs typeface="Calibri"/>
              </a:rPr>
              <a:t>longitud, diversidad</a:t>
            </a:r>
          </a:p>
          <a:p xmlns:a="http://schemas.openxmlformats.org/drawingml/2006/main">
            <a:pPr>
              <a:defRPr sz="1950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60676F"/>
                </a:solidFill>
                <a:latin typeface="Calibri"/>
                <a:ea typeface="Calibri"/>
                <a:cs typeface="Calibri"/>
              </a:rPr>
              <a:t>entidades y categoría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3EC7CA-EA40-4E38-90F9-3766F67FA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6762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60676F"/>
                </a:solidFill>
                <a:latin typeface="Calibri"/>
                <a:ea typeface="Calibri"/>
                <a:cs typeface="Calibri"/>
              </a:rPr>
              <a:t>MATTR menor: más repetición. Yule K: concentración. Heaps: crecimiento sublineal observado.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14CBA3-ED44-4B2B-9080-11DD9F0E7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A503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A503A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BA503A"/>
                </a:solidFill>
                <a:latin typeface="Calibri"/>
                <a:ea typeface="Calibri"/>
                <a:cs typeface="Calibri"/>
              </a:rPr>
              <a:t>30.000 tokens por grupo y una muestra, sin intervalos. Cambios comunes pueden reflejar el archivo.</a:t>
            </a:r>
          </a:p>
        </p:txBody>
      </p:sp>
    </p:spTree>
    <p:extLst>
      <p:ext uri="{BB962C8B-B14F-4D97-AF65-F5344CB8AC3E}">
        <p14:creationId xmlns:p14="http://schemas.microsoft.com/office/powerpoint/2010/main" val="164971470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70B047-43D6-4A6C-B338-4EF26AFFA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rPr>
              <a:t>EDA: identidad léxica y coocurrencias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8FE2E0-27A0-46BF-A836-C0056A4E7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34150"/>
            <a:ext cx="1219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4DCBB5-1CE3-4B4D-B323-8F45712EF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72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22B559-B1A1-4BFB-AF53-D9B0A1FD7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685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D67A00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D67A00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D67A00"/>
                </a:solidFill>
                <a:latin typeface="Calibri"/>
                <a:ea typeface="Calibri"/>
                <a:cs typeface="Calibri"/>
              </a:rPr>
              <a:t>Ejemplos de pares adyacentes, número de ocurrencias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B3D9C430-D9B6-44E4-8E80-DEF25012B31D}"/>
              </a:ext>
            </a:extLst>
          </p:cNvPr>
          <p:cNvGraphicFramePr/>
          <p:nvPr/>
        </p:nvGraphicFramePr>
        <p:xfrm>
          <a:off xmlns:a="http://schemas.openxmlformats.org/drawingml/2006/main" x="552450" y="1990725"/>
          <a:ext xmlns:a="http://schemas.openxmlformats.org/drawingml/2006/main" cx="6572250" cy="2552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babef7576514e3a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2CCCB8-D537-44B7-B0DC-D2920E314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1609725"/>
            <a:ext cx="3810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0">
                <a:solidFill>
                  <a:srgbClr val="445774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2850" b="0">
                <a:solidFill>
                  <a:srgbClr val="445774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2850" b="0">
                <a:solidFill>
                  <a:srgbClr val="445774"/>
                </a:solidFill>
                <a:latin typeface="Bookman Old Style"/>
                <a:ea typeface="Bookman Old Style"/>
                <a:cs typeface="Bookman Old Style"/>
              </a:rPr>
              <a:t>13 categorías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0FC9D0-3D68-4EA5-AE3C-D3A2FC16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324100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Léxico propio inspirado</a:t>
            </a:r>
          </a:p>
          <a:p xmlns:a="http://schemas.openxmlformats.org/drawingml/2006/main">
            <a:pPr>
              <a:defRPr sz="202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en CAP y EuroVoc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092563-87E5-49EA-9BF6-7E67A203B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3419475"/>
            <a:ext cx="38004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6,76% de tokens cubiertos</a:t>
            </a:r>
          </a:p>
          <a:p xmlns:a="http://schemas.openxmlformats.org/drawingml/2006/main">
            <a:pPr>
              <a:defRPr sz="202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86,83% de documentos</a:t>
            </a:r>
          </a:p>
          <a:p xmlns:a="http://schemas.openxmlformats.org/drawingml/2006/main">
            <a:pPr>
              <a:defRPr sz="202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con categoría inicial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E0B905-C577-41AF-B1DC-260080F98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24425"/>
            <a:ext cx="1095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60676F"/>
                </a:solidFill>
                <a:latin typeface="Calibri"/>
                <a:ea typeface="Calibri"/>
                <a:cs typeface="Calibri"/>
              </a:rPr>
              <a:t>Log-odds por medio: El Tiempo, calle/municipio. Semana, guerra/política.</a:t>
            </a:r>
          </a:p>
          <a:p xmlns:a="http://schemas.openxmlformats.org/drawingml/2006/main">
            <a:pPr>
              <a:defRPr sz="1875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60676F"/>
                </a:solidFill>
                <a:latin typeface="Calibri"/>
                <a:ea typeface="Calibri"/>
                <a:cs typeface="Calibri"/>
              </a:rPr>
              <a:t>Dinero, empresas/mercado. Coocurrencias: salud con eps/ips en los años 90.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27D6A6-A91C-43BA-AB21-88F2511C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BA503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BA503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BA503A"/>
                </a:solidFill>
                <a:latin typeface="Calibri"/>
                <a:ea typeface="Calibri"/>
                <a:cs typeface="Calibri"/>
              </a:rPr>
              <a:t>Léxico sin gold standard. NPMI 05: 383/2.000 &gt; 1, ranking inválido y pendiente de corrección.</a:t>
            </a:r>
          </a:p>
        </p:txBody>
      </p:sp>
    </p:spTree>
    <p:extLst>
      <p:ext uri="{BB962C8B-B14F-4D97-AF65-F5344CB8AC3E}">
        <p14:creationId xmlns:p14="http://schemas.microsoft.com/office/powerpoint/2010/main" val="168082544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355814-8008-4638-A28D-E9AF41299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rPr>
              <a:t>Representación: documento y comparación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D18A5A-68AE-4B71-99B2-FE03A81C5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34150"/>
            <a:ext cx="1219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DBD805-EAFF-46F4-A6D1-4E2524FCD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72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93B5DF-EA8C-4A64-9B49-792394E05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85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D67A00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D67A00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67A00"/>
                </a:solidFill>
                <a:latin typeface="Calibri"/>
                <a:ea typeface="Calibri"/>
                <a:cs typeface="Calibri"/>
              </a:rPr>
              <a:t>Dinero · 1 de abril de 2005 · ID 13312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6DB167-D53C-4360-B7EC-8DFD8A1C5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3911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0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2325" b="0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rPr>
              <a:t>«Empleo: ¿cuestión de ley?»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22BF34-0945-4BC8-B5B9-34412C111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52197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“En estos días se va a iniciar el debate acerca de la conveniencia de mantener vigente la ley laboral 789 de 2002…”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7959A4-0843-4245-9FB5-D69E4D18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52006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60676F"/>
                </a:solidFill>
                <a:latin typeface="Calibri"/>
                <a:ea typeface="Calibri"/>
                <a:cs typeface="Calibri"/>
              </a:rPr>
              <a:t>22.196 dimensiones · 186 no nulas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B9FDF5-4F49-4157-A7FB-DDE854056AE7}"/>
              </a:ext>
            </a:extLst>
          </p:cNvPr>
          <p:cNvGraphicFramePr/>
          <p:nvPr/>
        </p:nvGraphicFramePr>
        <p:xfrm>
          <a:off xmlns:a="http://schemas.openxmlformats.org/drawingml/2006/main" x="609600" y="4562475"/>
          <a:ext xmlns:a="http://schemas.openxmlformats.org/drawingml/2006/main" cx="5248275" cy="1581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09875"/>
                <a:gridCol w="1219200"/>
                <a:gridCol w="1219200"/>
              </a:tblGrid>
              <a:tr h="39528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Protocolo</a:t>
                      </a:r>
                    </a:p>
                  </a:txBody>
                  <a:tcPr marL="114300" marR="114300" marT="28575" marB="28575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Periodo</a:t>
                      </a:r>
                    </a:p>
                  </a:txBody>
                  <a:tcPr marL="114300" marR="114300" marT="28575" marB="28575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Fuente</a:t>
                      </a:r>
                    </a:p>
                  </a:txBody>
                  <a:tcPr marL="114300" marR="114300" marT="28575" marB="28575">
                    <a:solidFill>
                      <a:srgbClr val="F1F3F6"/>
                    </a:solidFill>
                  </a:tcPr>
                </a:tc>
              </a:tr>
              <a:tr h="395288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TF-IDF + SVC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0,558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0,527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  <a:tr h="395288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SVD + LR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0,448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0,495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  <a:tr h="395288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MiniLM + LR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0,390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0,439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">
            <a:extLst xmlns:a="http://schemas.openxmlformats.org/drawingml/2006/main">
              <a:ext uri="{FF2B5EF4-FFF2-40B4-BE49-F238E27FC236}">
                <a16:creationId xmlns:a16="http://schemas.microsoft.com/office/drawing/2014/main" id="{5363D69C-6092-436F-9199-473448A7D8B0}"/>
              </a:ext>
            </a:extLst>
          </p:cNvPr>
          <p:cNvGraphicFramePr/>
          <p:nvPr/>
        </p:nvGraphicFramePr>
        <p:xfrm>
          <a:off xmlns:a="http://schemas.openxmlformats.org/drawingml/2006/main" x="6305550" y="1924050"/>
          <a:ext xmlns:a="http://schemas.openxmlformats.org/drawingml/2006/main" cx="51435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d682a1f5c154b5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3A8D2C-E350-4B6B-B25E-5F6FAB8F4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007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A503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A503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BA503A"/>
                </a:solidFill>
                <a:latin typeface="Calibri"/>
                <a:ea typeface="Calibri"/>
                <a:cs typeface="Calibri"/>
              </a:rPr>
              <a:t>Macro-F1 exploratorio, CV no temporal y ajustes fuera de folds. Cambia clasificador. 10 pesos redondeados.</a:t>
            </a:r>
          </a:p>
        </p:txBody>
      </p:sp>
    </p:spTree>
    <p:extLst>
      <p:ext uri="{BB962C8B-B14F-4D97-AF65-F5344CB8AC3E}">
        <p14:creationId xmlns:p14="http://schemas.microsoft.com/office/powerpoint/2010/main" val="11737148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71E3F1-03B8-4087-BC96-62555B33A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rPr>
              <a:t>NMF convierte los documentos en 40 tópicos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C1DEFE-A877-4D3D-90A5-066B3A2F7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34150"/>
            <a:ext cx="1219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69D1EA-F22D-4347-92C7-6BEB1868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72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10B0B0-8CA9-498D-9026-E3F12D9F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600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0">
                <a:solidFill>
                  <a:srgbClr val="D67A00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0">
                <a:solidFill>
                  <a:srgbClr val="D67A00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0">
                <a:solidFill>
                  <a:srgbClr val="D67A00"/>
                </a:solidFill>
                <a:latin typeface="Bookman Old Style"/>
                <a:ea typeface="Bookman Old Style"/>
                <a:cs typeface="Bookman Old Style"/>
              </a:rPr>
              <a:t>V ≈ W · 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0AD9AF-0FDD-4BC1-8C9F-B72C6B009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047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Cada documento tiene una mezcla θ que suma 1.</a:t>
            </a:r>
          </a:p>
          <a:p xmlns:a="http://schemas.openxmlformats.org/drawingml/2006/main">
            <a:pPr>
              <a:defRPr sz="2250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La agenda anual promedia esos pesos.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63527C-2B1D-4060-9AB7-ED3CDB1DF405}"/>
              </a:ext>
            </a:extLst>
          </p:cNvPr>
          <p:cNvGraphicFramePr/>
          <p:nvPr/>
        </p:nvGraphicFramePr>
        <p:xfrm>
          <a:off xmlns:a="http://schemas.openxmlformats.org/drawingml/2006/main" x="609600" y="3438525"/>
          <a:ext xmlns:a="http://schemas.openxmlformats.org/drawingml/2006/main" cx="6572250" cy="2381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952500"/>
                <a:gridCol w="2571750"/>
                <a:gridCol w="3048000"/>
              </a:tblGrid>
              <a:tr h="4762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K</a:t>
                      </a:r>
                    </a:p>
                  </a:txBody>
                  <a:tcPr marL="114300" marR="114300" marT="28575" marB="28575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Coherencia NPMI</a:t>
                      </a:r>
                    </a:p>
                  </a:txBody>
                  <a:tcPr marL="114300" marR="114300" marT="28575" marB="28575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Estabilidad entre semillas</a:t>
                      </a:r>
                    </a:p>
                  </a:txBody>
                  <a:tcPr marL="114300" marR="114300" marT="28575" marB="28575">
                    <a:solidFill>
                      <a:srgbClr val="F1F3F6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15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0,2840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0,7865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20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0,2908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0,8115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30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0,2967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0,8281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40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0,3007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0,8248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87AEFA-2629-4772-8DC6-E4E714049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495675"/>
            <a:ext cx="38004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0">
                <a:solidFill>
                  <a:srgbClr val="445774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445774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2400" b="0">
                <a:solidFill>
                  <a:srgbClr val="445774"/>
                </a:solidFill>
                <a:latin typeface="Bookman Old Style"/>
                <a:ea typeface="Bookman Old Style"/>
                <a:cs typeface="Bookman Old Style"/>
              </a:rPr>
              <a:t>T21 · Congreso y legislación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198AE4-82D8-4DD5-9D26-012851328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91025"/>
            <a:ext cx="3800475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congreso, proyecto, ley, senado,</a:t>
            </a:r>
          </a:p>
          <a:p xmlns:a="http://schemas.openxmlformats.org/drawingml/2006/main">
            <a:pPr>
              <a:defRPr sz="1950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cámara, reforma, comisión,</a:t>
            </a:r>
          </a:p>
          <a:p xmlns:a="http://schemas.openxmlformats.org/drawingml/2006/main">
            <a:pPr>
              <a:defRPr sz="1950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debate, iniciativa, congresistas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06AF03-A7AC-4E0E-AC75-D2A50C2E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BA503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BA503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BA503A"/>
                </a:solidFill>
                <a:latin typeface="Calibri"/>
                <a:ea typeface="Calibri"/>
                <a:cs typeface="Calibri"/>
              </a:rPr>
              <a:t>K=40: mayor coherencia entre opciones con estabilidad ≥ mediana. Está en el borde de la grilla.</a:t>
            </a:r>
          </a:p>
        </p:txBody>
      </p:sp>
    </p:spTree>
    <p:extLst>
      <p:ext uri="{BB962C8B-B14F-4D97-AF65-F5344CB8AC3E}">
        <p14:creationId xmlns:p14="http://schemas.microsoft.com/office/powerpoint/2010/main" val="8276429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4429EB-B7E2-485D-81F5-050B7016F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rPr>
              <a:t>Cambios anuales pequeños y cuatro regímenes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87CE12-6986-414C-864C-5B052DE81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34150"/>
            <a:ext cx="1219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6010A0-BAB1-44F7-B048-22CF4DECB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72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26C56B-0059-4BCB-BD54-40636903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952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0">
                <a:solidFill>
                  <a:srgbClr val="D67A00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D67A00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D67A00"/>
                </a:solidFill>
                <a:latin typeface="Calibri"/>
                <a:ea typeface="Calibri"/>
                <a:cs typeface="Calibri"/>
              </a:rPr>
              <a:t>El Tiempo, 1990–2011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1AFBBB34-92F2-420B-896D-8E2EA69F278B}"/>
              </a:ext>
            </a:extLst>
          </p:cNvPr>
          <p:cNvGraphicFramePr/>
          <p:nvPr/>
        </p:nvGraphicFramePr>
        <p:xfrm>
          <a:off xmlns:a="http://schemas.openxmlformats.org/drawingml/2006/main" x="552450" y="2209800"/>
          <a:ext xmlns:a="http://schemas.openxmlformats.org/drawingml/2006/main" cx="7953375" cy="33909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66cff1b3044209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4618DD-6ED0-4844-9782-FE227347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09800"/>
            <a:ext cx="2552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675" b="0">
                <a:solidFill>
                  <a:srgbClr val="445774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675" b="0">
                <a:solidFill>
                  <a:srgbClr val="445774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675" b="0">
                <a:solidFill>
                  <a:srgbClr val="445774"/>
                </a:solidFill>
                <a:latin typeface="Bookman Old Style"/>
                <a:ea typeface="Bookman Old Style"/>
                <a:cs typeface="Bookman Old Style"/>
              </a:rPr>
              <a:t>21/21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3954A0-1859-43BE-B7E6-372FFA9A8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943225"/>
            <a:ext cx="2571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transiciones significativas</a:t>
            </a:r>
          </a:p>
          <a:p xmlns:a="http://schemas.openxmlformats.org/drawingml/2006/main">
            <a:pPr>
              <a:defRPr sz="1950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frente al nulo (BH &lt; 5%)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963FD4-6519-49CC-9905-532C4BF20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181475"/>
            <a:ext cx="2667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60676F"/>
                </a:solidFill>
                <a:latin typeface="Calibri"/>
                <a:ea typeface="Calibri"/>
                <a:cs typeface="Calibri"/>
              </a:rPr>
              <a:t>JS media: 0,00293</a:t>
            </a:r>
          </a:p>
          <a:p xmlns:a="http://schemas.openxmlformats.org/drawingml/2006/main">
            <a:pPr>
              <a:defRPr sz="2025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60676F"/>
                </a:solidFill>
                <a:latin typeface="Calibri"/>
                <a:ea typeface="Calibri"/>
                <a:cs typeface="Calibri"/>
              </a:rPr>
              <a:t>5,90% de la distancia</a:t>
            </a:r>
          </a:p>
          <a:p xmlns:a="http://schemas.openxmlformats.org/drawingml/2006/main">
            <a:pPr>
              <a:defRPr sz="2025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60676F"/>
                </a:solidFill>
                <a:latin typeface="Calibri"/>
                <a:ea typeface="Calibri"/>
                <a:cs typeface="Calibri"/>
              </a:rPr>
              <a:t>El Tiempo–Semana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4B5325-08BB-4FDC-BE9A-49197FCF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2250" b="0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rPr>
              <a:t>Cortes principales: 1995 · 2000 · 2006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EB7B54-65FD-46E3-962D-3D1482A3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34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A503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BA503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BA503A"/>
                </a:solidFill>
                <a:latin typeface="Calibri"/>
                <a:ea typeface="Calibri"/>
                <a:cs typeface="Calibri"/>
              </a:rPr>
              <a:t>La frontera intermedia varía entre 1999 y 2000. Significación anual y cortes son criterios distintos.</a:t>
            </a:r>
          </a:p>
        </p:txBody>
      </p:sp>
    </p:spTree>
    <p:extLst>
      <p:ext uri="{BB962C8B-B14F-4D97-AF65-F5344CB8AC3E}">
        <p14:creationId xmlns:p14="http://schemas.microsoft.com/office/powerpoint/2010/main" val="167674577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36827E-5D08-491C-B1DA-FBCBF656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rPr>
              <a:t>Robustez interna y contraste por medio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B30487-5306-413C-AD4E-97DDE411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34150"/>
            <a:ext cx="1219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B5E0EA-D64F-46DC-97FA-EBD00022E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72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FF1478-D3A1-4A51-9ACB-2E03AB4C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0">
                <a:solidFill>
                  <a:srgbClr val="445774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445774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2550" b="0">
                <a:solidFill>
                  <a:srgbClr val="445774"/>
                </a:solidFill>
                <a:latin typeface="Bookman Old Style"/>
                <a:ea typeface="Bookman Old Style"/>
                <a:cs typeface="Bookman Old Style"/>
              </a:rPr>
              <a:t>1995 · frontera 1999–2000 · 2006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FF2BA9-F9B4-4BBE-8ECA-C26290BA8DF7}"/>
              </a:ext>
            </a:extLst>
          </p:cNvPr>
          <p:cNvGraphicFramePr/>
          <p:nvPr/>
        </p:nvGraphicFramePr>
        <p:xfrm>
          <a:off xmlns:a="http://schemas.openxmlformats.org/drawingml/2006/main" x="609600" y="2305050"/>
          <a:ext xmlns:a="http://schemas.openxmlformats.org/drawingml/2006/main" cx="6791325" cy="3181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43375"/>
                <a:gridCol w="2647950"/>
              </a:tblGrid>
              <a:tr h="454479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Variante de El Tiempo</a:t>
                      </a:r>
                    </a:p>
                  </a:txBody>
                  <a:tcPr marL="114300" marR="114300" marT="28575" marB="28575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Inicio de régimen</a:t>
                      </a:r>
                    </a:p>
                  </a:txBody>
                  <a:tcPr marL="114300" marR="114300" marT="28575" marB="28575">
                    <a:solidFill>
                      <a:srgbClr val="F1F3F6"/>
                    </a:solidFill>
                  </a:tcPr>
                </a:tc>
              </a:tr>
              <a:tr h="454479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Principal, todos los documentos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1995, 2000, 2006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  <a:tr h="454479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K=15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1992, 1995, 2000, 2006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  <a:tr h="454479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K=20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1995, 2000, 2006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  <a:tr h="454479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K=30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1995, 1999, 2006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  <a:tr h="454479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semilla 1 (K=40)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1995, 2000, 2006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  <a:tr h="454479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sin entidades (nombres propios)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1995, 1999, 2002, 2006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98ED40-6DF3-441C-ABED-CC5230C39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57425"/>
            <a:ext cx="371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D67A00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D67A00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2700" b="0">
                <a:solidFill>
                  <a:srgbClr val="D67A00"/>
                </a:solidFill>
                <a:latin typeface="Bookman Old Style"/>
                <a:ea typeface="Bookman Old Style"/>
                <a:cs typeface="Bookman Old Style"/>
              </a:rPr>
              <a:t>6/6 variantes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693FAE-E907-4D5C-A1D8-12701598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952750"/>
            <a:ext cx="3714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Apoyan las tres fronteras</a:t>
            </a:r>
          </a:p>
          <a:p xmlns:a="http://schemas.openxmlformats.org/drawingml/2006/main">
            <a:pPr>
              <a:defRPr sz="1950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con tolerancia de ±1 año.</a:t>
            </a:r>
          </a:p>
          <a:p xmlns:a="http://schemas.openxmlformats.org/drawingml/2006/main">
            <a:pPr>
              <a:defRPr sz="1950" b="0">
                <a:solidFill>
                  <a:srgbClr val="141B2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41B2E"/>
                </a:solidFill>
                <a:latin typeface="Calibri"/>
                <a:ea typeface="Calibri"/>
                <a:cs typeface="Calibri"/>
              </a:rPr>
              <a:t>Comparten corpus y modelo.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533FC-43C9-46BC-9A27-E8F30AE82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419600"/>
            <a:ext cx="371475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60676F"/>
                </a:solidFill>
                <a:latin typeface="Calibri"/>
                <a:ea typeface="Calibri"/>
                <a:cs typeface="Calibri"/>
              </a:rPr>
              <a:t>Cortes próximos (lista parcial)</a:t>
            </a:r>
          </a:p>
          <a:p xmlns:a="http://schemas.openxmlformats.org/drawingml/2006/main">
            <a:pPr>
              <a:defRPr sz="1875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60676F"/>
                </a:solidFill>
                <a:latin typeface="Calibri"/>
                <a:ea typeface="Calibri"/>
                <a:cs typeface="Calibri"/>
              </a:rPr>
              <a:t>Semana: 1994, 1998 y 2006</a:t>
            </a:r>
          </a:p>
          <a:p xmlns:a="http://schemas.openxmlformats.org/drawingml/2006/main">
            <a:pPr>
              <a:defRPr sz="1875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60676F"/>
                </a:solidFill>
                <a:latin typeface="Calibri"/>
                <a:ea typeface="Calibri"/>
                <a:cs typeface="Calibri"/>
              </a:rPr>
              <a:t>Dinero: 2007 cerca de 2006</a:t>
            </a:r>
          </a:p>
          <a:p xmlns:a="http://schemas.openxmlformats.org/drawingml/2006/main">
            <a:pPr>
              <a:defRPr sz="1875" b="0">
                <a:solidFill>
                  <a:srgbClr val="60676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60676F"/>
                </a:solidFill>
                <a:latin typeface="Calibri"/>
                <a:ea typeface="Calibri"/>
                <a:cs typeface="Calibri"/>
              </a:rPr>
              <a:t>NMF entrenado en conjunto.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F56245-3B0A-46BF-9057-E79BD1979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5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BA503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BA503A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BA503A"/>
                </a:solidFill>
                <a:latin typeface="Calibri"/>
                <a:ea typeface="Calibri"/>
                <a:cs typeface="Calibri"/>
              </a:rPr>
              <a:t>Historia: 3/3 coincidencias, azar 2,53/3 y p=0,581. No supera esa referencia aleatoria.</a:t>
            </a:r>
          </a:p>
        </p:txBody>
      </p:sp>
    </p:spTree>
    <p:extLst>
      <p:ext uri="{BB962C8B-B14F-4D97-AF65-F5344CB8AC3E}">
        <p14:creationId xmlns:p14="http://schemas.microsoft.com/office/powerpoint/2010/main" val="190340947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E2DB4B-69FE-468F-B654-D77F4667D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41B2E"/>
                </a:solidFill>
                <a:latin typeface="Bookman Old Style"/>
                <a:ea typeface="Bookman Old Style"/>
                <a:cs typeface="Bookman Old Style"/>
              </a:rPr>
              <a:t>Propuesta para la fase final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9ECDEE-6A35-4272-9578-A882EF6FC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34150"/>
            <a:ext cx="1219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E0AF90-B143-4A70-9EFD-1B45355C1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72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02718F-4212-4263-89D3-B6A40289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810875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75" b="0">
                <a:solidFill>
                  <a:srgbClr val="D67A00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2775" b="0">
                <a:solidFill>
                  <a:srgbClr val="D67A00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2775" b="0">
                <a:solidFill>
                  <a:srgbClr val="D67A00"/>
                </a:solidFill>
                <a:latin typeface="Bookman Old Style"/>
                <a:ea typeface="Bookman Old Style"/>
                <a:cs typeface="Bookman Old Style"/>
              </a:rPr>
              <a:t>La agenda de El Tiempo cambia poco cada año,</a:t>
            </a:r>
          </a:p>
          <a:p xmlns:a="http://schemas.openxmlformats.org/drawingml/2006/main">
            <a:pPr>
              <a:defRPr sz="2775" b="0">
                <a:solidFill>
                  <a:srgbClr val="D67A00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2775" b="0">
                <a:solidFill>
                  <a:srgbClr val="D67A00"/>
                </a:solidFill>
                <a:latin typeface="Bookman Old Style"/>
                <a:ea typeface="Bookman Old Style"/>
                <a:cs typeface="Bookman Old Style"/>
              </a:rPr>
              <a:t>pero acumula cambios y presenta cuatro regímenes.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BFF7B3-F540-4EF5-AD6E-3F49C32D86EA}"/>
              </a:ext>
            </a:extLst>
          </p:cNvPr>
          <p:cNvGraphicFramePr/>
          <p:nvPr/>
        </p:nvGraphicFramePr>
        <p:xfrm>
          <a:off xmlns:a="http://schemas.openxmlformats.org/drawingml/2006/main" x="609600" y="3095625"/>
          <a:ext xmlns:a="http://schemas.openxmlformats.org/drawingml/2006/main" cx="10972800" cy="2590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48200"/>
                <a:gridCol w="6324600"/>
              </a:tblGrid>
              <a:tr h="5181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Modelo o control propuesto</a:t>
                      </a:r>
                    </a:p>
                  </a:txBody>
                  <a:tcPr marL="114300" marR="114300" marT="28575" marB="28575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Pregunta y criterio de comparación</a:t>
                      </a:r>
                    </a:p>
                  </a:txBody>
                  <a:tcPr marL="114300" marR="114300" marT="28575" marB="28575">
                    <a:solidFill>
                      <a:srgbClr val="F1F3F6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NMF frente a LDA y BERTopic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Coherencia, diversidad, lectura humana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K y semillas adicionales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Estabilidad de tópicos y cortes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PELT y segmentación binaria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Deriva gradual y número de cortes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Evaluación temporal y léxico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1B2E"/>
                          </a:solidFill>
                          <a:latin typeface="Calibri"/>
                          <a:ea typeface="Calibri"/>
                          <a:cs typeface="Calibri"/>
                        </a:rPr>
                        <a:t>Folds limpios, clasificador común, cobertura</a:t>
                      </a:r>
                    </a:p>
                  </a:txBody>
                  <a:tcPr marL="114300" marR="114300" marT="28575" marB="285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32E3FA-FBFE-4C73-A769-4F60F3245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858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BA503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BA503A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BA503A"/>
                </a:solidFill>
                <a:latin typeface="Calibri"/>
                <a:ea typeface="Calibri"/>
                <a:cs typeface="Calibri"/>
              </a:rPr>
              <a:t>Trabajo futuro. El alcance actual describe un archivo de prensa, no la agenda pública nacional.</a:t>
            </a:r>
          </a:p>
        </p:txBody>
      </p:sp>
    </p:spTree>
    <p:extLst>
      <p:ext uri="{BB962C8B-B14F-4D97-AF65-F5344CB8AC3E}">
        <p14:creationId xmlns:p14="http://schemas.microsoft.com/office/powerpoint/2010/main" val="19965162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2026-10-05T11:19:57.0260000Z</dcterms:created>
  <dcterms:modified xsi:type="dcterms:W3CDTF">2026-10-05T11:19:57.0260000Z</dcterms:modified>
</coreProperties>
</file>